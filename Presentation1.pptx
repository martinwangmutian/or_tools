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3" r:id="rId11"/>
    <p:sldId id="272" r:id="rId12"/>
    <p:sldId id="265" r:id="rId13"/>
    <p:sldId id="270" r:id="rId14"/>
    <p:sldId id="266" r:id="rId15"/>
    <p:sldId id="267" r:id="rId16"/>
    <p:sldId id="268" r:id="rId17"/>
    <p:sldId id="271"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5"/>
    <p:restoredTop sz="94659"/>
  </p:normalViewPr>
  <p:slideViewPr>
    <p:cSldViewPr snapToGrid="0">
      <p:cViewPr varScale="1">
        <p:scale>
          <a:sx n="146" d="100"/>
          <a:sy n="146" d="100"/>
        </p:scale>
        <p:origin x="10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FC1F3-4C52-4BDA-854B-4DF66006CEE7}"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5EB8E6E0-5810-4748-8BA2-2EB4FD644865}">
      <dgm:prSet/>
      <dgm:spPr/>
      <dgm:t>
        <a:bodyPr/>
        <a:lstStyle/>
        <a:p>
          <a:r>
            <a:rPr lang="zh-CN" dirty="0"/>
            <a:t>即时零售要求高时效、低缺货和较丰富的 </a:t>
          </a:r>
          <a:r>
            <a:rPr lang="en-US" dirty="0"/>
            <a:t>SKU </a:t>
          </a:r>
          <a:r>
            <a:rPr lang="zh-CN" dirty="0"/>
            <a:t>覆盖</a:t>
          </a:r>
          <a:endParaRPr lang="en-US" dirty="0"/>
        </a:p>
      </dgm:t>
    </dgm:pt>
    <dgm:pt modelId="{2159A378-88E3-4F93-9A0D-7426053917DD}" type="parTrans" cxnId="{EF54BCEF-AA2E-41FE-8A77-3AB67D1877BE}">
      <dgm:prSet/>
      <dgm:spPr/>
      <dgm:t>
        <a:bodyPr/>
        <a:lstStyle/>
        <a:p>
          <a:endParaRPr lang="en-US"/>
        </a:p>
      </dgm:t>
    </dgm:pt>
    <dgm:pt modelId="{0C22DBC5-D759-4ECE-B829-AE3FED5077C7}" type="sibTrans" cxnId="{EF54BCEF-AA2E-41FE-8A77-3AB67D1877BE}">
      <dgm:prSet/>
      <dgm:spPr/>
      <dgm:t>
        <a:bodyPr/>
        <a:lstStyle/>
        <a:p>
          <a:endParaRPr lang="en-US"/>
        </a:p>
      </dgm:t>
    </dgm:pt>
    <dgm:pt modelId="{C4D48AB0-CBA8-474F-AFF6-A41F6064B356}">
      <dgm:prSet/>
      <dgm:spPr/>
      <dgm:t>
        <a:bodyPr/>
        <a:lstStyle/>
        <a:p>
          <a:r>
            <a:rPr lang="zh-CN"/>
            <a:t>前置仓面积有限，无法实现“全品全量”</a:t>
          </a:r>
          <a:endParaRPr lang="en-US"/>
        </a:p>
      </dgm:t>
    </dgm:pt>
    <dgm:pt modelId="{FB8AA6A5-F229-4377-A663-4C360DB16627}" type="parTrans" cxnId="{A8D21AB9-BDCC-4662-8C47-122CB30FBD51}">
      <dgm:prSet/>
      <dgm:spPr/>
      <dgm:t>
        <a:bodyPr/>
        <a:lstStyle/>
        <a:p>
          <a:endParaRPr lang="en-US"/>
        </a:p>
      </dgm:t>
    </dgm:pt>
    <dgm:pt modelId="{668ECA56-A144-4A77-A2ED-E82FCB04281A}" type="sibTrans" cxnId="{A8D21AB9-BDCC-4662-8C47-122CB30FBD51}">
      <dgm:prSet/>
      <dgm:spPr/>
      <dgm:t>
        <a:bodyPr/>
        <a:lstStyle/>
        <a:p>
          <a:endParaRPr lang="en-US"/>
        </a:p>
      </dgm:t>
    </dgm:pt>
    <dgm:pt modelId="{8C6BE8BF-9AB0-42C9-993E-2E93C080E074}">
      <dgm:prSet/>
      <dgm:spPr/>
      <dgm:t>
        <a:bodyPr/>
        <a:lstStyle/>
        <a:p>
          <a:r>
            <a:rPr lang="en-US"/>
            <a:t>SKU </a:t>
          </a:r>
          <a:r>
            <a:rPr lang="zh-CN"/>
            <a:t>太多会占用仓容并提高管理复杂度</a:t>
          </a:r>
          <a:endParaRPr lang="en-US"/>
        </a:p>
      </dgm:t>
    </dgm:pt>
    <dgm:pt modelId="{874B165E-BC92-42D1-843A-3EF53F957015}" type="parTrans" cxnId="{8EA52E62-9369-41EB-BADD-C4AA81DC4290}">
      <dgm:prSet/>
      <dgm:spPr/>
      <dgm:t>
        <a:bodyPr/>
        <a:lstStyle/>
        <a:p>
          <a:endParaRPr lang="en-US"/>
        </a:p>
      </dgm:t>
    </dgm:pt>
    <dgm:pt modelId="{D77850C4-0346-4CB6-9CC4-F4CA8DDD86F4}" type="sibTrans" cxnId="{8EA52E62-9369-41EB-BADD-C4AA81DC4290}">
      <dgm:prSet/>
      <dgm:spPr/>
      <dgm:t>
        <a:bodyPr/>
        <a:lstStyle/>
        <a:p>
          <a:endParaRPr lang="en-US"/>
        </a:p>
      </dgm:t>
    </dgm:pt>
    <dgm:pt modelId="{3FCCF953-B245-4FBD-84DF-1D46B1375751}">
      <dgm:prSet/>
      <dgm:spPr/>
      <dgm:t>
        <a:bodyPr/>
        <a:lstStyle/>
        <a:p>
          <a:r>
            <a:rPr lang="en-US"/>
            <a:t>SKU </a:t>
          </a:r>
          <a:r>
            <a:rPr lang="zh-CN"/>
            <a:t>太少会降低需求覆盖率并损害顾客体验</a:t>
          </a:r>
          <a:endParaRPr lang="en-US"/>
        </a:p>
      </dgm:t>
    </dgm:pt>
    <dgm:pt modelId="{15E72BB8-E10F-4C44-8C12-9E71CB247D5C}" type="parTrans" cxnId="{9E10137F-DAEA-4CC6-A53B-8CD04243D30C}">
      <dgm:prSet/>
      <dgm:spPr/>
      <dgm:t>
        <a:bodyPr/>
        <a:lstStyle/>
        <a:p>
          <a:endParaRPr lang="en-US"/>
        </a:p>
      </dgm:t>
    </dgm:pt>
    <dgm:pt modelId="{9C033997-D136-4B51-B4D4-620CA9108FAA}" type="sibTrans" cxnId="{9E10137F-DAEA-4CC6-A53B-8CD04243D30C}">
      <dgm:prSet/>
      <dgm:spPr/>
      <dgm:t>
        <a:bodyPr/>
        <a:lstStyle/>
        <a:p>
          <a:endParaRPr lang="en-US"/>
        </a:p>
      </dgm:t>
    </dgm:pt>
    <dgm:pt modelId="{0FCF6E38-D57F-4044-8176-007F08AE3FBE}">
      <dgm:prSet/>
      <dgm:spPr/>
      <dgm:t>
        <a:bodyPr/>
        <a:lstStyle/>
        <a:p>
          <a:r>
            <a:rPr lang="zh-CN"/>
            <a:t>因此，前置仓必须在</a:t>
          </a:r>
          <a:r>
            <a:rPr lang="zh-CN" b="1"/>
            <a:t>选品广度</a:t>
          </a:r>
          <a:r>
            <a:rPr lang="zh-CN"/>
            <a:t>与</a:t>
          </a:r>
          <a:r>
            <a:rPr lang="zh-CN" b="1"/>
            <a:t>备货深度</a:t>
          </a:r>
          <a:r>
            <a:rPr lang="zh-CN"/>
            <a:t>之间做联合决策</a:t>
          </a:r>
          <a:endParaRPr lang="en-US"/>
        </a:p>
      </dgm:t>
    </dgm:pt>
    <dgm:pt modelId="{3B442B0B-A8CA-43EF-9EDA-738A5342C933}" type="parTrans" cxnId="{CE6456AB-EBF2-4A17-A8BE-FE0DD95D24ED}">
      <dgm:prSet/>
      <dgm:spPr/>
      <dgm:t>
        <a:bodyPr/>
        <a:lstStyle/>
        <a:p>
          <a:endParaRPr lang="en-US"/>
        </a:p>
      </dgm:t>
    </dgm:pt>
    <dgm:pt modelId="{CEF26EEA-0865-40C3-87C2-649CC9078997}" type="sibTrans" cxnId="{CE6456AB-EBF2-4A17-A8BE-FE0DD95D24ED}">
      <dgm:prSet/>
      <dgm:spPr/>
      <dgm:t>
        <a:bodyPr/>
        <a:lstStyle/>
        <a:p>
          <a:endParaRPr lang="en-US"/>
        </a:p>
      </dgm:t>
    </dgm:pt>
    <dgm:pt modelId="{3A25EE76-65AF-1F4A-95F4-42370B2CDEB8}" type="pres">
      <dgm:prSet presAssocID="{C4AFC1F3-4C52-4BDA-854B-4DF66006CEE7}" presName="linear" presStyleCnt="0">
        <dgm:presLayoutVars>
          <dgm:dir/>
          <dgm:animLvl val="lvl"/>
          <dgm:resizeHandles val="exact"/>
        </dgm:presLayoutVars>
      </dgm:prSet>
      <dgm:spPr/>
    </dgm:pt>
    <dgm:pt modelId="{8C6942CA-D9B2-414D-95EB-66A65732FB26}" type="pres">
      <dgm:prSet presAssocID="{5EB8E6E0-5810-4748-8BA2-2EB4FD644865}" presName="parentLin" presStyleCnt="0"/>
      <dgm:spPr/>
    </dgm:pt>
    <dgm:pt modelId="{CCDD5B22-4B44-8D40-AF28-CC1FEC885CBA}" type="pres">
      <dgm:prSet presAssocID="{5EB8E6E0-5810-4748-8BA2-2EB4FD644865}" presName="parentLeftMargin" presStyleLbl="node1" presStyleIdx="0" presStyleCnt="5"/>
      <dgm:spPr/>
    </dgm:pt>
    <dgm:pt modelId="{688B2379-05DF-0141-A41F-D6DEAE0FD8E4}" type="pres">
      <dgm:prSet presAssocID="{5EB8E6E0-5810-4748-8BA2-2EB4FD644865}" presName="parentText" presStyleLbl="node1" presStyleIdx="0" presStyleCnt="5">
        <dgm:presLayoutVars>
          <dgm:chMax val="0"/>
          <dgm:bulletEnabled val="1"/>
        </dgm:presLayoutVars>
      </dgm:prSet>
      <dgm:spPr/>
    </dgm:pt>
    <dgm:pt modelId="{834F4FD2-59D2-1141-8B9F-21D7934AA764}" type="pres">
      <dgm:prSet presAssocID="{5EB8E6E0-5810-4748-8BA2-2EB4FD644865}" presName="negativeSpace" presStyleCnt="0"/>
      <dgm:spPr/>
    </dgm:pt>
    <dgm:pt modelId="{EB651149-1B2B-464C-8B25-FECBC9A36809}" type="pres">
      <dgm:prSet presAssocID="{5EB8E6E0-5810-4748-8BA2-2EB4FD644865}" presName="childText" presStyleLbl="conFgAcc1" presStyleIdx="0" presStyleCnt="5">
        <dgm:presLayoutVars>
          <dgm:bulletEnabled val="1"/>
        </dgm:presLayoutVars>
      </dgm:prSet>
      <dgm:spPr/>
    </dgm:pt>
    <dgm:pt modelId="{3729CD16-45B7-D34A-899B-CE93946ADF02}" type="pres">
      <dgm:prSet presAssocID="{0C22DBC5-D759-4ECE-B829-AE3FED5077C7}" presName="spaceBetweenRectangles" presStyleCnt="0"/>
      <dgm:spPr/>
    </dgm:pt>
    <dgm:pt modelId="{DE557C1A-253C-5240-9306-D1D8D7A329A0}" type="pres">
      <dgm:prSet presAssocID="{C4D48AB0-CBA8-474F-AFF6-A41F6064B356}" presName="parentLin" presStyleCnt="0"/>
      <dgm:spPr/>
    </dgm:pt>
    <dgm:pt modelId="{3ED8DA44-8A48-6A43-AC6A-D8C58A034CDF}" type="pres">
      <dgm:prSet presAssocID="{C4D48AB0-CBA8-474F-AFF6-A41F6064B356}" presName="parentLeftMargin" presStyleLbl="node1" presStyleIdx="0" presStyleCnt="5"/>
      <dgm:spPr/>
    </dgm:pt>
    <dgm:pt modelId="{0E7FF76A-9914-FE44-8F09-214FB82370C2}" type="pres">
      <dgm:prSet presAssocID="{C4D48AB0-CBA8-474F-AFF6-A41F6064B356}" presName="parentText" presStyleLbl="node1" presStyleIdx="1" presStyleCnt="5">
        <dgm:presLayoutVars>
          <dgm:chMax val="0"/>
          <dgm:bulletEnabled val="1"/>
        </dgm:presLayoutVars>
      </dgm:prSet>
      <dgm:spPr/>
    </dgm:pt>
    <dgm:pt modelId="{0963ABFA-B334-AD43-8EE6-91D9E5E5F248}" type="pres">
      <dgm:prSet presAssocID="{C4D48AB0-CBA8-474F-AFF6-A41F6064B356}" presName="negativeSpace" presStyleCnt="0"/>
      <dgm:spPr/>
    </dgm:pt>
    <dgm:pt modelId="{DE57E5E0-A7FE-244B-B224-79D4B37CBA22}" type="pres">
      <dgm:prSet presAssocID="{C4D48AB0-CBA8-474F-AFF6-A41F6064B356}" presName="childText" presStyleLbl="conFgAcc1" presStyleIdx="1" presStyleCnt="5">
        <dgm:presLayoutVars>
          <dgm:bulletEnabled val="1"/>
        </dgm:presLayoutVars>
      </dgm:prSet>
      <dgm:spPr/>
    </dgm:pt>
    <dgm:pt modelId="{FCDE014C-72EB-BA47-8B28-3FACD74E7399}" type="pres">
      <dgm:prSet presAssocID="{668ECA56-A144-4A77-A2ED-E82FCB04281A}" presName="spaceBetweenRectangles" presStyleCnt="0"/>
      <dgm:spPr/>
    </dgm:pt>
    <dgm:pt modelId="{09C9886A-42D5-6442-8289-86DD41CEAAB3}" type="pres">
      <dgm:prSet presAssocID="{8C6BE8BF-9AB0-42C9-993E-2E93C080E074}" presName="parentLin" presStyleCnt="0"/>
      <dgm:spPr/>
    </dgm:pt>
    <dgm:pt modelId="{7164D37B-928B-954E-96E7-210D8F4F3B67}" type="pres">
      <dgm:prSet presAssocID="{8C6BE8BF-9AB0-42C9-993E-2E93C080E074}" presName="parentLeftMargin" presStyleLbl="node1" presStyleIdx="1" presStyleCnt="5"/>
      <dgm:spPr/>
    </dgm:pt>
    <dgm:pt modelId="{B3230C71-9B97-ED48-821F-9AF978F1CE4F}" type="pres">
      <dgm:prSet presAssocID="{8C6BE8BF-9AB0-42C9-993E-2E93C080E074}" presName="parentText" presStyleLbl="node1" presStyleIdx="2" presStyleCnt="5">
        <dgm:presLayoutVars>
          <dgm:chMax val="0"/>
          <dgm:bulletEnabled val="1"/>
        </dgm:presLayoutVars>
      </dgm:prSet>
      <dgm:spPr/>
    </dgm:pt>
    <dgm:pt modelId="{E499273E-D63A-E246-8E5D-96DEA03139B5}" type="pres">
      <dgm:prSet presAssocID="{8C6BE8BF-9AB0-42C9-993E-2E93C080E074}" presName="negativeSpace" presStyleCnt="0"/>
      <dgm:spPr/>
    </dgm:pt>
    <dgm:pt modelId="{4A30405A-6D93-054D-A4E0-8916711B3065}" type="pres">
      <dgm:prSet presAssocID="{8C6BE8BF-9AB0-42C9-993E-2E93C080E074}" presName="childText" presStyleLbl="conFgAcc1" presStyleIdx="2" presStyleCnt="5">
        <dgm:presLayoutVars>
          <dgm:bulletEnabled val="1"/>
        </dgm:presLayoutVars>
      </dgm:prSet>
      <dgm:spPr/>
    </dgm:pt>
    <dgm:pt modelId="{CB35C11D-39D1-EF49-A800-21969011D10B}" type="pres">
      <dgm:prSet presAssocID="{D77850C4-0346-4CB6-9CC4-F4CA8DDD86F4}" presName="spaceBetweenRectangles" presStyleCnt="0"/>
      <dgm:spPr/>
    </dgm:pt>
    <dgm:pt modelId="{034BD47C-D809-6746-9A4E-6BAB848556A9}" type="pres">
      <dgm:prSet presAssocID="{3FCCF953-B245-4FBD-84DF-1D46B1375751}" presName="parentLin" presStyleCnt="0"/>
      <dgm:spPr/>
    </dgm:pt>
    <dgm:pt modelId="{08E7D8BE-AC43-D345-A63E-54159CCA1B88}" type="pres">
      <dgm:prSet presAssocID="{3FCCF953-B245-4FBD-84DF-1D46B1375751}" presName="parentLeftMargin" presStyleLbl="node1" presStyleIdx="2" presStyleCnt="5"/>
      <dgm:spPr/>
    </dgm:pt>
    <dgm:pt modelId="{A1DE2527-C15E-EF4F-A8D1-EFA2237781FB}" type="pres">
      <dgm:prSet presAssocID="{3FCCF953-B245-4FBD-84DF-1D46B1375751}" presName="parentText" presStyleLbl="node1" presStyleIdx="3" presStyleCnt="5">
        <dgm:presLayoutVars>
          <dgm:chMax val="0"/>
          <dgm:bulletEnabled val="1"/>
        </dgm:presLayoutVars>
      </dgm:prSet>
      <dgm:spPr/>
    </dgm:pt>
    <dgm:pt modelId="{2C18A296-9747-8E42-95F4-06A237FB0434}" type="pres">
      <dgm:prSet presAssocID="{3FCCF953-B245-4FBD-84DF-1D46B1375751}" presName="negativeSpace" presStyleCnt="0"/>
      <dgm:spPr/>
    </dgm:pt>
    <dgm:pt modelId="{C43188E8-ECA0-CE45-8727-623264E24E6C}" type="pres">
      <dgm:prSet presAssocID="{3FCCF953-B245-4FBD-84DF-1D46B1375751}" presName="childText" presStyleLbl="conFgAcc1" presStyleIdx="3" presStyleCnt="5">
        <dgm:presLayoutVars>
          <dgm:bulletEnabled val="1"/>
        </dgm:presLayoutVars>
      </dgm:prSet>
      <dgm:spPr/>
    </dgm:pt>
    <dgm:pt modelId="{A37D4E0B-E731-EA4C-A008-F770578FEE24}" type="pres">
      <dgm:prSet presAssocID="{9C033997-D136-4B51-B4D4-620CA9108FAA}" presName="spaceBetweenRectangles" presStyleCnt="0"/>
      <dgm:spPr/>
    </dgm:pt>
    <dgm:pt modelId="{801BF9CE-2E15-2349-A6F4-92831B0F07C7}" type="pres">
      <dgm:prSet presAssocID="{0FCF6E38-D57F-4044-8176-007F08AE3FBE}" presName="parentLin" presStyleCnt="0"/>
      <dgm:spPr/>
    </dgm:pt>
    <dgm:pt modelId="{08F4B46B-37A8-8044-9400-5DE23B2EF996}" type="pres">
      <dgm:prSet presAssocID="{0FCF6E38-D57F-4044-8176-007F08AE3FBE}" presName="parentLeftMargin" presStyleLbl="node1" presStyleIdx="3" presStyleCnt="5"/>
      <dgm:spPr/>
    </dgm:pt>
    <dgm:pt modelId="{69F9ADC8-71FB-5D47-B7C4-B7A200C56053}" type="pres">
      <dgm:prSet presAssocID="{0FCF6E38-D57F-4044-8176-007F08AE3FBE}" presName="parentText" presStyleLbl="node1" presStyleIdx="4" presStyleCnt="5">
        <dgm:presLayoutVars>
          <dgm:chMax val="0"/>
          <dgm:bulletEnabled val="1"/>
        </dgm:presLayoutVars>
      </dgm:prSet>
      <dgm:spPr/>
    </dgm:pt>
    <dgm:pt modelId="{F10A1751-24B4-954F-B3B0-4D21ABC28756}" type="pres">
      <dgm:prSet presAssocID="{0FCF6E38-D57F-4044-8176-007F08AE3FBE}" presName="negativeSpace" presStyleCnt="0"/>
      <dgm:spPr/>
    </dgm:pt>
    <dgm:pt modelId="{6D661B3C-8539-574C-9AD6-E8786DD5FD87}" type="pres">
      <dgm:prSet presAssocID="{0FCF6E38-D57F-4044-8176-007F08AE3FBE}" presName="childText" presStyleLbl="conFgAcc1" presStyleIdx="4" presStyleCnt="5">
        <dgm:presLayoutVars>
          <dgm:bulletEnabled val="1"/>
        </dgm:presLayoutVars>
      </dgm:prSet>
      <dgm:spPr/>
    </dgm:pt>
  </dgm:ptLst>
  <dgm:cxnLst>
    <dgm:cxn modelId="{91223610-B103-8445-AC37-EBBBC08482EB}" type="presOf" srcId="{3FCCF953-B245-4FBD-84DF-1D46B1375751}" destId="{A1DE2527-C15E-EF4F-A8D1-EFA2237781FB}" srcOrd="1" destOrd="0" presId="urn:microsoft.com/office/officeart/2005/8/layout/list1"/>
    <dgm:cxn modelId="{5D393D1F-22CE-9141-A620-122954161473}" type="presOf" srcId="{5EB8E6E0-5810-4748-8BA2-2EB4FD644865}" destId="{688B2379-05DF-0141-A41F-D6DEAE0FD8E4}" srcOrd="1" destOrd="0" presId="urn:microsoft.com/office/officeart/2005/8/layout/list1"/>
    <dgm:cxn modelId="{B102BC36-C9E9-5D49-ACFC-1766D939A824}" type="presOf" srcId="{C4D48AB0-CBA8-474F-AFF6-A41F6064B356}" destId="{3ED8DA44-8A48-6A43-AC6A-D8C58A034CDF}" srcOrd="0" destOrd="0" presId="urn:microsoft.com/office/officeart/2005/8/layout/list1"/>
    <dgm:cxn modelId="{8BC4BC44-941F-F347-B065-56509C0D1072}" type="presOf" srcId="{8C6BE8BF-9AB0-42C9-993E-2E93C080E074}" destId="{7164D37B-928B-954E-96E7-210D8F4F3B67}" srcOrd="0" destOrd="0" presId="urn:microsoft.com/office/officeart/2005/8/layout/list1"/>
    <dgm:cxn modelId="{405A6B51-2919-4547-9A82-CC49F5C0C5A8}" type="presOf" srcId="{8C6BE8BF-9AB0-42C9-993E-2E93C080E074}" destId="{B3230C71-9B97-ED48-821F-9AF978F1CE4F}" srcOrd="1" destOrd="0" presId="urn:microsoft.com/office/officeart/2005/8/layout/list1"/>
    <dgm:cxn modelId="{8EA52E62-9369-41EB-BADD-C4AA81DC4290}" srcId="{C4AFC1F3-4C52-4BDA-854B-4DF66006CEE7}" destId="{8C6BE8BF-9AB0-42C9-993E-2E93C080E074}" srcOrd="2" destOrd="0" parTransId="{874B165E-BC92-42D1-843A-3EF53F957015}" sibTransId="{D77850C4-0346-4CB6-9CC4-F4CA8DDD86F4}"/>
    <dgm:cxn modelId="{6AC83068-AEDB-6F4E-933A-DD4EED092ECE}" type="presOf" srcId="{5EB8E6E0-5810-4748-8BA2-2EB4FD644865}" destId="{CCDD5B22-4B44-8D40-AF28-CC1FEC885CBA}" srcOrd="0" destOrd="0" presId="urn:microsoft.com/office/officeart/2005/8/layout/list1"/>
    <dgm:cxn modelId="{377D546B-E303-0142-9B25-A9D83B72A257}" type="presOf" srcId="{0FCF6E38-D57F-4044-8176-007F08AE3FBE}" destId="{69F9ADC8-71FB-5D47-B7C4-B7A200C56053}" srcOrd="1" destOrd="0" presId="urn:microsoft.com/office/officeart/2005/8/layout/list1"/>
    <dgm:cxn modelId="{9E10137F-DAEA-4CC6-A53B-8CD04243D30C}" srcId="{C4AFC1F3-4C52-4BDA-854B-4DF66006CEE7}" destId="{3FCCF953-B245-4FBD-84DF-1D46B1375751}" srcOrd="3" destOrd="0" parTransId="{15E72BB8-E10F-4C44-8C12-9E71CB247D5C}" sibTransId="{9C033997-D136-4B51-B4D4-620CA9108FAA}"/>
    <dgm:cxn modelId="{608DE285-279A-D04E-9CBB-D4EBC617B68B}" type="presOf" srcId="{C4D48AB0-CBA8-474F-AFF6-A41F6064B356}" destId="{0E7FF76A-9914-FE44-8F09-214FB82370C2}" srcOrd="1" destOrd="0" presId="urn:microsoft.com/office/officeart/2005/8/layout/list1"/>
    <dgm:cxn modelId="{0F87F7A7-AB71-5145-8FD9-DA16B35C142D}" type="presOf" srcId="{C4AFC1F3-4C52-4BDA-854B-4DF66006CEE7}" destId="{3A25EE76-65AF-1F4A-95F4-42370B2CDEB8}" srcOrd="0" destOrd="0" presId="urn:microsoft.com/office/officeart/2005/8/layout/list1"/>
    <dgm:cxn modelId="{CE6456AB-EBF2-4A17-A8BE-FE0DD95D24ED}" srcId="{C4AFC1F3-4C52-4BDA-854B-4DF66006CEE7}" destId="{0FCF6E38-D57F-4044-8176-007F08AE3FBE}" srcOrd="4" destOrd="0" parTransId="{3B442B0B-A8CA-43EF-9EDA-738A5342C933}" sibTransId="{CEF26EEA-0865-40C3-87C2-649CC9078997}"/>
    <dgm:cxn modelId="{1B78C0B0-8ADD-BC4B-9483-A0BB66532573}" type="presOf" srcId="{0FCF6E38-D57F-4044-8176-007F08AE3FBE}" destId="{08F4B46B-37A8-8044-9400-5DE23B2EF996}" srcOrd="0" destOrd="0" presId="urn:microsoft.com/office/officeart/2005/8/layout/list1"/>
    <dgm:cxn modelId="{A8D21AB9-BDCC-4662-8C47-122CB30FBD51}" srcId="{C4AFC1F3-4C52-4BDA-854B-4DF66006CEE7}" destId="{C4D48AB0-CBA8-474F-AFF6-A41F6064B356}" srcOrd="1" destOrd="0" parTransId="{FB8AA6A5-F229-4377-A663-4C360DB16627}" sibTransId="{668ECA56-A144-4A77-A2ED-E82FCB04281A}"/>
    <dgm:cxn modelId="{EF54BCEF-AA2E-41FE-8A77-3AB67D1877BE}" srcId="{C4AFC1F3-4C52-4BDA-854B-4DF66006CEE7}" destId="{5EB8E6E0-5810-4748-8BA2-2EB4FD644865}" srcOrd="0" destOrd="0" parTransId="{2159A378-88E3-4F93-9A0D-7426053917DD}" sibTransId="{0C22DBC5-D759-4ECE-B829-AE3FED5077C7}"/>
    <dgm:cxn modelId="{C9A7B6F2-9528-984E-B836-952FC60E39F2}" type="presOf" srcId="{3FCCF953-B245-4FBD-84DF-1D46B1375751}" destId="{08E7D8BE-AC43-D345-A63E-54159CCA1B88}" srcOrd="0" destOrd="0" presId="urn:microsoft.com/office/officeart/2005/8/layout/list1"/>
    <dgm:cxn modelId="{E1B8E81A-790A-6647-8820-A38DCE009C8E}" type="presParOf" srcId="{3A25EE76-65AF-1F4A-95F4-42370B2CDEB8}" destId="{8C6942CA-D9B2-414D-95EB-66A65732FB26}" srcOrd="0" destOrd="0" presId="urn:microsoft.com/office/officeart/2005/8/layout/list1"/>
    <dgm:cxn modelId="{AA64B490-7CC7-C94C-A4AE-984B2203D60B}" type="presParOf" srcId="{8C6942CA-D9B2-414D-95EB-66A65732FB26}" destId="{CCDD5B22-4B44-8D40-AF28-CC1FEC885CBA}" srcOrd="0" destOrd="0" presId="urn:microsoft.com/office/officeart/2005/8/layout/list1"/>
    <dgm:cxn modelId="{4CABB419-A027-354C-828C-5C3B2FB3CEE1}" type="presParOf" srcId="{8C6942CA-D9B2-414D-95EB-66A65732FB26}" destId="{688B2379-05DF-0141-A41F-D6DEAE0FD8E4}" srcOrd="1" destOrd="0" presId="urn:microsoft.com/office/officeart/2005/8/layout/list1"/>
    <dgm:cxn modelId="{EB4F1BAC-C09B-E140-8BC5-4A876AF0FE01}" type="presParOf" srcId="{3A25EE76-65AF-1F4A-95F4-42370B2CDEB8}" destId="{834F4FD2-59D2-1141-8B9F-21D7934AA764}" srcOrd="1" destOrd="0" presId="urn:microsoft.com/office/officeart/2005/8/layout/list1"/>
    <dgm:cxn modelId="{89509C85-7D2F-D84B-B361-4A7FF12AEC98}" type="presParOf" srcId="{3A25EE76-65AF-1F4A-95F4-42370B2CDEB8}" destId="{EB651149-1B2B-464C-8B25-FECBC9A36809}" srcOrd="2" destOrd="0" presId="urn:microsoft.com/office/officeart/2005/8/layout/list1"/>
    <dgm:cxn modelId="{7CE0274D-F9C1-8646-95A2-6E2D6CC414BB}" type="presParOf" srcId="{3A25EE76-65AF-1F4A-95F4-42370B2CDEB8}" destId="{3729CD16-45B7-D34A-899B-CE93946ADF02}" srcOrd="3" destOrd="0" presId="urn:microsoft.com/office/officeart/2005/8/layout/list1"/>
    <dgm:cxn modelId="{EAB2474E-03CB-4449-881D-C5A725C01318}" type="presParOf" srcId="{3A25EE76-65AF-1F4A-95F4-42370B2CDEB8}" destId="{DE557C1A-253C-5240-9306-D1D8D7A329A0}" srcOrd="4" destOrd="0" presId="urn:microsoft.com/office/officeart/2005/8/layout/list1"/>
    <dgm:cxn modelId="{BC73B024-E8A4-0D4D-95BD-6A057C7D1381}" type="presParOf" srcId="{DE557C1A-253C-5240-9306-D1D8D7A329A0}" destId="{3ED8DA44-8A48-6A43-AC6A-D8C58A034CDF}" srcOrd="0" destOrd="0" presId="urn:microsoft.com/office/officeart/2005/8/layout/list1"/>
    <dgm:cxn modelId="{2E69B0F1-044F-B542-87E6-94C00D7A4854}" type="presParOf" srcId="{DE557C1A-253C-5240-9306-D1D8D7A329A0}" destId="{0E7FF76A-9914-FE44-8F09-214FB82370C2}" srcOrd="1" destOrd="0" presId="urn:microsoft.com/office/officeart/2005/8/layout/list1"/>
    <dgm:cxn modelId="{739DA05B-82F4-F444-A41E-26C7C4AA3AE1}" type="presParOf" srcId="{3A25EE76-65AF-1F4A-95F4-42370B2CDEB8}" destId="{0963ABFA-B334-AD43-8EE6-91D9E5E5F248}" srcOrd="5" destOrd="0" presId="urn:microsoft.com/office/officeart/2005/8/layout/list1"/>
    <dgm:cxn modelId="{18B84669-E78C-3F4B-9A24-267E94E17D5C}" type="presParOf" srcId="{3A25EE76-65AF-1F4A-95F4-42370B2CDEB8}" destId="{DE57E5E0-A7FE-244B-B224-79D4B37CBA22}" srcOrd="6" destOrd="0" presId="urn:microsoft.com/office/officeart/2005/8/layout/list1"/>
    <dgm:cxn modelId="{34BF7441-A4CE-7348-BD69-7146E8D8721B}" type="presParOf" srcId="{3A25EE76-65AF-1F4A-95F4-42370B2CDEB8}" destId="{FCDE014C-72EB-BA47-8B28-3FACD74E7399}" srcOrd="7" destOrd="0" presId="urn:microsoft.com/office/officeart/2005/8/layout/list1"/>
    <dgm:cxn modelId="{6976971E-0255-6447-9106-3FCA21F076BF}" type="presParOf" srcId="{3A25EE76-65AF-1F4A-95F4-42370B2CDEB8}" destId="{09C9886A-42D5-6442-8289-86DD41CEAAB3}" srcOrd="8" destOrd="0" presId="urn:microsoft.com/office/officeart/2005/8/layout/list1"/>
    <dgm:cxn modelId="{4F162CFD-AE15-D048-8D19-E191E5C83584}" type="presParOf" srcId="{09C9886A-42D5-6442-8289-86DD41CEAAB3}" destId="{7164D37B-928B-954E-96E7-210D8F4F3B67}" srcOrd="0" destOrd="0" presId="urn:microsoft.com/office/officeart/2005/8/layout/list1"/>
    <dgm:cxn modelId="{3ABAA5CE-7263-3A4D-B4BE-BD67B5BBDF0C}" type="presParOf" srcId="{09C9886A-42D5-6442-8289-86DD41CEAAB3}" destId="{B3230C71-9B97-ED48-821F-9AF978F1CE4F}" srcOrd="1" destOrd="0" presId="urn:microsoft.com/office/officeart/2005/8/layout/list1"/>
    <dgm:cxn modelId="{77B67660-223D-B84A-92D0-62C84658655A}" type="presParOf" srcId="{3A25EE76-65AF-1F4A-95F4-42370B2CDEB8}" destId="{E499273E-D63A-E246-8E5D-96DEA03139B5}" srcOrd="9" destOrd="0" presId="urn:microsoft.com/office/officeart/2005/8/layout/list1"/>
    <dgm:cxn modelId="{CB3909D9-EE99-194F-8670-61D6CD5DC23E}" type="presParOf" srcId="{3A25EE76-65AF-1F4A-95F4-42370B2CDEB8}" destId="{4A30405A-6D93-054D-A4E0-8916711B3065}" srcOrd="10" destOrd="0" presId="urn:microsoft.com/office/officeart/2005/8/layout/list1"/>
    <dgm:cxn modelId="{B49FD0E9-4302-5541-90C3-D2CC5E2DAF80}" type="presParOf" srcId="{3A25EE76-65AF-1F4A-95F4-42370B2CDEB8}" destId="{CB35C11D-39D1-EF49-A800-21969011D10B}" srcOrd="11" destOrd="0" presId="urn:microsoft.com/office/officeart/2005/8/layout/list1"/>
    <dgm:cxn modelId="{B1BE7EF3-ACD6-DA43-A539-788741A7D1CA}" type="presParOf" srcId="{3A25EE76-65AF-1F4A-95F4-42370B2CDEB8}" destId="{034BD47C-D809-6746-9A4E-6BAB848556A9}" srcOrd="12" destOrd="0" presId="urn:microsoft.com/office/officeart/2005/8/layout/list1"/>
    <dgm:cxn modelId="{053E188E-9974-2441-BDCE-8308E7116AB5}" type="presParOf" srcId="{034BD47C-D809-6746-9A4E-6BAB848556A9}" destId="{08E7D8BE-AC43-D345-A63E-54159CCA1B88}" srcOrd="0" destOrd="0" presId="urn:microsoft.com/office/officeart/2005/8/layout/list1"/>
    <dgm:cxn modelId="{E17F28D3-7029-B243-A6CA-752FCE7D6F19}" type="presParOf" srcId="{034BD47C-D809-6746-9A4E-6BAB848556A9}" destId="{A1DE2527-C15E-EF4F-A8D1-EFA2237781FB}" srcOrd="1" destOrd="0" presId="urn:microsoft.com/office/officeart/2005/8/layout/list1"/>
    <dgm:cxn modelId="{EBFB2FCD-70F1-3249-BC67-6687CD719201}" type="presParOf" srcId="{3A25EE76-65AF-1F4A-95F4-42370B2CDEB8}" destId="{2C18A296-9747-8E42-95F4-06A237FB0434}" srcOrd="13" destOrd="0" presId="urn:microsoft.com/office/officeart/2005/8/layout/list1"/>
    <dgm:cxn modelId="{B6045D55-7007-A542-9A9B-A9B0A3F129EB}" type="presParOf" srcId="{3A25EE76-65AF-1F4A-95F4-42370B2CDEB8}" destId="{C43188E8-ECA0-CE45-8727-623264E24E6C}" srcOrd="14" destOrd="0" presId="urn:microsoft.com/office/officeart/2005/8/layout/list1"/>
    <dgm:cxn modelId="{F51FFC5C-5E27-D64F-B73C-846ACF9AF38E}" type="presParOf" srcId="{3A25EE76-65AF-1F4A-95F4-42370B2CDEB8}" destId="{A37D4E0B-E731-EA4C-A008-F770578FEE24}" srcOrd="15" destOrd="0" presId="urn:microsoft.com/office/officeart/2005/8/layout/list1"/>
    <dgm:cxn modelId="{E984A628-EA4B-8244-954E-2B6B64C501AD}" type="presParOf" srcId="{3A25EE76-65AF-1F4A-95F4-42370B2CDEB8}" destId="{801BF9CE-2E15-2349-A6F4-92831B0F07C7}" srcOrd="16" destOrd="0" presId="urn:microsoft.com/office/officeart/2005/8/layout/list1"/>
    <dgm:cxn modelId="{AD73B137-554E-A744-AE70-F6317906928E}" type="presParOf" srcId="{801BF9CE-2E15-2349-A6F4-92831B0F07C7}" destId="{08F4B46B-37A8-8044-9400-5DE23B2EF996}" srcOrd="0" destOrd="0" presId="urn:microsoft.com/office/officeart/2005/8/layout/list1"/>
    <dgm:cxn modelId="{A5A49B40-5BBF-2A45-8E75-9313B728E41F}" type="presParOf" srcId="{801BF9CE-2E15-2349-A6F4-92831B0F07C7}" destId="{69F9ADC8-71FB-5D47-B7C4-B7A200C56053}" srcOrd="1" destOrd="0" presId="urn:microsoft.com/office/officeart/2005/8/layout/list1"/>
    <dgm:cxn modelId="{11A29C9C-FD5C-FA47-B1C0-C68A939E2B99}" type="presParOf" srcId="{3A25EE76-65AF-1F4A-95F4-42370B2CDEB8}" destId="{F10A1751-24B4-954F-B3B0-4D21ABC28756}" srcOrd="17" destOrd="0" presId="urn:microsoft.com/office/officeart/2005/8/layout/list1"/>
    <dgm:cxn modelId="{CDFDA8D8-506B-AC41-AE9B-6CF3FC0F1EC4}" type="presParOf" srcId="{3A25EE76-65AF-1F4A-95F4-42370B2CDEB8}" destId="{6D661B3C-8539-574C-9AD6-E8786DD5FD87}"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A5E5A3-49D3-4D32-A3C8-E4963027E8C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F98EAADA-7C72-4404-B64A-62BA8FFCBC8B}">
      <dgm:prSet/>
      <dgm:spPr/>
      <dgm:t>
        <a:bodyPr/>
        <a:lstStyle/>
        <a:p>
          <a:r>
            <a:rPr lang="en-US" b="1"/>
            <a:t>三个问题</a:t>
          </a:r>
          <a:r>
            <a:rPr lang="zh-CN" b="1"/>
            <a:t>：</a:t>
          </a:r>
          <a:endParaRPr lang="en-US"/>
        </a:p>
      </dgm:t>
    </dgm:pt>
    <dgm:pt modelId="{14A894EC-AC25-4519-8545-629BF726EB56}" type="parTrans" cxnId="{9E84592D-3B2D-4DEE-905E-064D3AF1E4C9}">
      <dgm:prSet/>
      <dgm:spPr/>
      <dgm:t>
        <a:bodyPr/>
        <a:lstStyle/>
        <a:p>
          <a:endParaRPr lang="en-US"/>
        </a:p>
      </dgm:t>
    </dgm:pt>
    <dgm:pt modelId="{5DA57961-684B-49EB-9124-3314CE46098F}" type="sibTrans" cxnId="{9E84592D-3B2D-4DEE-905E-064D3AF1E4C9}">
      <dgm:prSet/>
      <dgm:spPr/>
      <dgm:t>
        <a:bodyPr/>
        <a:lstStyle/>
        <a:p>
          <a:endParaRPr lang="en-US"/>
        </a:p>
      </dgm:t>
    </dgm:pt>
    <dgm:pt modelId="{04EBD0CF-91AC-4B1D-8398-05CF5E28482E}">
      <dgm:prSet/>
      <dgm:spPr/>
      <dgm:t>
        <a:bodyPr/>
        <a:lstStyle/>
        <a:p>
          <a:r>
            <a:rPr lang="en-US"/>
            <a:t>1.</a:t>
          </a:r>
          <a:r>
            <a:rPr lang="zh-CN"/>
            <a:t> 在双资源约束下，联合优化是否优于简单局部启发式方法？</a:t>
          </a:r>
          <a:endParaRPr lang="en-US"/>
        </a:p>
      </dgm:t>
    </dgm:pt>
    <dgm:pt modelId="{A8C4B4F6-0C5A-48C3-ADF0-74DB001C12CA}" type="parTrans" cxnId="{5BCAD6D1-611F-4EEA-AAFB-2A655774A319}">
      <dgm:prSet/>
      <dgm:spPr/>
      <dgm:t>
        <a:bodyPr/>
        <a:lstStyle/>
        <a:p>
          <a:endParaRPr lang="en-US"/>
        </a:p>
      </dgm:t>
    </dgm:pt>
    <dgm:pt modelId="{E2AB78CD-5FE3-4174-B7CB-1101A8DB45FE}" type="sibTrans" cxnId="{5BCAD6D1-611F-4EEA-AAFB-2A655774A319}">
      <dgm:prSet/>
      <dgm:spPr/>
      <dgm:t>
        <a:bodyPr/>
        <a:lstStyle/>
        <a:p>
          <a:endParaRPr lang="en-US"/>
        </a:p>
      </dgm:t>
    </dgm:pt>
    <dgm:pt modelId="{629DCD71-FFB8-498F-A16D-B964E6766314}">
      <dgm:prSet/>
      <dgm:spPr/>
      <dgm:t>
        <a:bodyPr/>
        <a:lstStyle/>
        <a:p>
          <a:r>
            <a:rPr lang="en-US"/>
            <a:t>2. </a:t>
          </a:r>
          <a:r>
            <a:rPr lang="zh-CN"/>
            <a:t>将文献启发式 </a:t>
          </a:r>
          <a:r>
            <a:rPr lang="en-US"/>
            <a:t>baseline </a:t>
          </a:r>
          <a:r>
            <a:rPr lang="zh-CN"/>
            <a:t>纳入统一 </a:t>
          </a:r>
          <a:r>
            <a:rPr lang="en-US"/>
            <a:t>benchmark </a:t>
          </a:r>
          <a:r>
            <a:rPr lang="zh-CN"/>
            <a:t>后，主方法与基线方法的排序是否一致？</a:t>
          </a:r>
          <a:endParaRPr lang="en-US"/>
        </a:p>
      </dgm:t>
    </dgm:pt>
    <dgm:pt modelId="{51874718-8DF3-4D98-B89E-5892F547C6BE}" type="parTrans" cxnId="{E6338470-50C5-4435-90D0-DAE8474E97B0}">
      <dgm:prSet/>
      <dgm:spPr/>
      <dgm:t>
        <a:bodyPr/>
        <a:lstStyle/>
        <a:p>
          <a:endParaRPr lang="en-US"/>
        </a:p>
      </dgm:t>
    </dgm:pt>
    <dgm:pt modelId="{12BE2DF5-4B11-4B9D-A6EC-770F2FFEFF71}" type="sibTrans" cxnId="{E6338470-50C5-4435-90D0-DAE8474E97B0}">
      <dgm:prSet/>
      <dgm:spPr/>
      <dgm:t>
        <a:bodyPr/>
        <a:lstStyle/>
        <a:p>
          <a:endParaRPr lang="en-US"/>
        </a:p>
      </dgm:t>
    </dgm:pt>
    <dgm:pt modelId="{EBB66ABA-FCF9-4FF2-AC21-98D8054A7B64}">
      <dgm:prSet/>
      <dgm:spPr/>
      <dgm:t>
        <a:bodyPr/>
        <a:lstStyle/>
        <a:p>
          <a:r>
            <a:rPr lang="en-US"/>
            <a:t>3. </a:t>
          </a:r>
          <a:r>
            <a:rPr lang="zh-CN"/>
            <a:t>当评价口径从 </a:t>
          </a:r>
          <a:r>
            <a:rPr lang="en-US"/>
            <a:t>SKU </a:t>
          </a:r>
          <a:r>
            <a:rPr lang="zh-CN"/>
            <a:t>级 </a:t>
          </a:r>
          <a:r>
            <a:rPr lang="en-US"/>
            <a:t>fill rate </a:t>
          </a:r>
          <a:r>
            <a:rPr lang="zh-CN"/>
            <a:t>转向整单</a:t>
          </a:r>
          <a:r>
            <a:rPr lang="en-US"/>
            <a:t>/</a:t>
          </a:r>
          <a:r>
            <a:rPr lang="zh-CN"/>
            <a:t>部分履约时，结论是否会发生变化？</a:t>
          </a:r>
          <a:endParaRPr lang="en-US"/>
        </a:p>
      </dgm:t>
    </dgm:pt>
    <dgm:pt modelId="{1F6554B0-D65F-4596-BB8E-653CCFA73F48}" type="parTrans" cxnId="{139A6B6F-F8BF-43BB-8973-DD3267A8E74A}">
      <dgm:prSet/>
      <dgm:spPr/>
      <dgm:t>
        <a:bodyPr/>
        <a:lstStyle/>
        <a:p>
          <a:endParaRPr lang="en-US"/>
        </a:p>
      </dgm:t>
    </dgm:pt>
    <dgm:pt modelId="{0D32ED78-29F0-490C-90DD-5F24E48C801A}" type="sibTrans" cxnId="{139A6B6F-F8BF-43BB-8973-DD3267A8E74A}">
      <dgm:prSet/>
      <dgm:spPr/>
      <dgm:t>
        <a:bodyPr/>
        <a:lstStyle/>
        <a:p>
          <a:endParaRPr lang="en-US"/>
        </a:p>
      </dgm:t>
    </dgm:pt>
    <dgm:pt modelId="{8ECA0E48-FB69-42CA-8D90-044C2799FA08}">
      <dgm:prSet/>
      <dgm:spPr/>
      <dgm:t>
        <a:bodyPr/>
        <a:lstStyle/>
        <a:p>
          <a:r>
            <a:rPr lang="zh-CN" b="1"/>
            <a:t>核心目标</a:t>
          </a:r>
          <a:r>
            <a:rPr lang="zh-CN"/>
            <a:t>：在有限仓容下提升服务水平，并用更贴近业务 </a:t>
          </a:r>
          <a:r>
            <a:rPr lang="en-US"/>
            <a:t>KPI </a:t>
          </a:r>
          <a:r>
            <a:rPr lang="zh-CN"/>
            <a:t>的方式评价算法优劣。</a:t>
          </a:r>
          <a:endParaRPr lang="en-US"/>
        </a:p>
      </dgm:t>
    </dgm:pt>
    <dgm:pt modelId="{B6546412-60F0-4689-AF43-44C34EBB7336}" type="parTrans" cxnId="{3BA89602-0120-4763-8EC8-7BF5E9D853A8}">
      <dgm:prSet/>
      <dgm:spPr/>
      <dgm:t>
        <a:bodyPr/>
        <a:lstStyle/>
        <a:p>
          <a:endParaRPr lang="en-US"/>
        </a:p>
      </dgm:t>
    </dgm:pt>
    <dgm:pt modelId="{B1296BEB-5539-4FA5-A1AF-E348F37FBFFE}" type="sibTrans" cxnId="{3BA89602-0120-4763-8EC8-7BF5E9D853A8}">
      <dgm:prSet/>
      <dgm:spPr/>
      <dgm:t>
        <a:bodyPr/>
        <a:lstStyle/>
        <a:p>
          <a:endParaRPr lang="en-US"/>
        </a:p>
      </dgm:t>
    </dgm:pt>
    <dgm:pt modelId="{39175F4C-E6C8-2042-9053-FAEBCC1786B0}" type="pres">
      <dgm:prSet presAssocID="{CAA5E5A3-49D3-4D32-A3C8-E4963027E8CD}" presName="outerComposite" presStyleCnt="0">
        <dgm:presLayoutVars>
          <dgm:chMax val="5"/>
          <dgm:dir/>
          <dgm:resizeHandles val="exact"/>
        </dgm:presLayoutVars>
      </dgm:prSet>
      <dgm:spPr/>
    </dgm:pt>
    <dgm:pt modelId="{5F2F9C53-74EA-5349-A10E-D761C40810FE}" type="pres">
      <dgm:prSet presAssocID="{CAA5E5A3-49D3-4D32-A3C8-E4963027E8CD}" presName="dummyMaxCanvas" presStyleCnt="0">
        <dgm:presLayoutVars/>
      </dgm:prSet>
      <dgm:spPr/>
    </dgm:pt>
    <dgm:pt modelId="{D9862FB2-176B-D448-893C-90B87D66587E}" type="pres">
      <dgm:prSet presAssocID="{CAA5E5A3-49D3-4D32-A3C8-E4963027E8CD}" presName="FiveNodes_1" presStyleLbl="node1" presStyleIdx="0" presStyleCnt="5">
        <dgm:presLayoutVars>
          <dgm:bulletEnabled val="1"/>
        </dgm:presLayoutVars>
      </dgm:prSet>
      <dgm:spPr/>
    </dgm:pt>
    <dgm:pt modelId="{3E946A6D-C140-1247-8645-F6D262ED712D}" type="pres">
      <dgm:prSet presAssocID="{CAA5E5A3-49D3-4D32-A3C8-E4963027E8CD}" presName="FiveNodes_2" presStyleLbl="node1" presStyleIdx="1" presStyleCnt="5">
        <dgm:presLayoutVars>
          <dgm:bulletEnabled val="1"/>
        </dgm:presLayoutVars>
      </dgm:prSet>
      <dgm:spPr/>
    </dgm:pt>
    <dgm:pt modelId="{D4DCD024-A8EB-A24E-BA8F-305743C29E53}" type="pres">
      <dgm:prSet presAssocID="{CAA5E5A3-49D3-4D32-A3C8-E4963027E8CD}" presName="FiveNodes_3" presStyleLbl="node1" presStyleIdx="2" presStyleCnt="5">
        <dgm:presLayoutVars>
          <dgm:bulletEnabled val="1"/>
        </dgm:presLayoutVars>
      </dgm:prSet>
      <dgm:spPr/>
    </dgm:pt>
    <dgm:pt modelId="{E073F01B-6EAF-8843-B8F2-9501038D48FF}" type="pres">
      <dgm:prSet presAssocID="{CAA5E5A3-49D3-4D32-A3C8-E4963027E8CD}" presName="FiveNodes_4" presStyleLbl="node1" presStyleIdx="3" presStyleCnt="5">
        <dgm:presLayoutVars>
          <dgm:bulletEnabled val="1"/>
        </dgm:presLayoutVars>
      </dgm:prSet>
      <dgm:spPr/>
    </dgm:pt>
    <dgm:pt modelId="{8757B0BE-AC44-1547-B9BC-8BBE66F0858A}" type="pres">
      <dgm:prSet presAssocID="{CAA5E5A3-49D3-4D32-A3C8-E4963027E8CD}" presName="FiveNodes_5" presStyleLbl="node1" presStyleIdx="4" presStyleCnt="5">
        <dgm:presLayoutVars>
          <dgm:bulletEnabled val="1"/>
        </dgm:presLayoutVars>
      </dgm:prSet>
      <dgm:spPr/>
    </dgm:pt>
    <dgm:pt modelId="{6F1C9952-EEBF-9343-BC3E-37E2F736045A}" type="pres">
      <dgm:prSet presAssocID="{CAA5E5A3-49D3-4D32-A3C8-E4963027E8CD}" presName="FiveConn_1-2" presStyleLbl="fgAccFollowNode1" presStyleIdx="0" presStyleCnt="4">
        <dgm:presLayoutVars>
          <dgm:bulletEnabled val="1"/>
        </dgm:presLayoutVars>
      </dgm:prSet>
      <dgm:spPr/>
    </dgm:pt>
    <dgm:pt modelId="{685B6762-F724-9047-A136-FB562C8E2E1A}" type="pres">
      <dgm:prSet presAssocID="{CAA5E5A3-49D3-4D32-A3C8-E4963027E8CD}" presName="FiveConn_2-3" presStyleLbl="fgAccFollowNode1" presStyleIdx="1" presStyleCnt="4">
        <dgm:presLayoutVars>
          <dgm:bulletEnabled val="1"/>
        </dgm:presLayoutVars>
      </dgm:prSet>
      <dgm:spPr/>
    </dgm:pt>
    <dgm:pt modelId="{DCC70538-962D-DD4A-8639-AAD51EC4F821}" type="pres">
      <dgm:prSet presAssocID="{CAA5E5A3-49D3-4D32-A3C8-E4963027E8CD}" presName="FiveConn_3-4" presStyleLbl="fgAccFollowNode1" presStyleIdx="2" presStyleCnt="4">
        <dgm:presLayoutVars>
          <dgm:bulletEnabled val="1"/>
        </dgm:presLayoutVars>
      </dgm:prSet>
      <dgm:spPr/>
    </dgm:pt>
    <dgm:pt modelId="{C6E5DA80-83A3-ED41-80ED-E478C583276C}" type="pres">
      <dgm:prSet presAssocID="{CAA5E5A3-49D3-4D32-A3C8-E4963027E8CD}" presName="FiveConn_4-5" presStyleLbl="fgAccFollowNode1" presStyleIdx="3" presStyleCnt="4">
        <dgm:presLayoutVars>
          <dgm:bulletEnabled val="1"/>
        </dgm:presLayoutVars>
      </dgm:prSet>
      <dgm:spPr/>
    </dgm:pt>
    <dgm:pt modelId="{B1B5A39C-88CA-0A42-93AD-0B36295DA466}" type="pres">
      <dgm:prSet presAssocID="{CAA5E5A3-49D3-4D32-A3C8-E4963027E8CD}" presName="FiveNodes_1_text" presStyleLbl="node1" presStyleIdx="4" presStyleCnt="5">
        <dgm:presLayoutVars>
          <dgm:bulletEnabled val="1"/>
        </dgm:presLayoutVars>
      </dgm:prSet>
      <dgm:spPr/>
    </dgm:pt>
    <dgm:pt modelId="{9CA58710-6645-D640-9FA4-3CE772D4321B}" type="pres">
      <dgm:prSet presAssocID="{CAA5E5A3-49D3-4D32-A3C8-E4963027E8CD}" presName="FiveNodes_2_text" presStyleLbl="node1" presStyleIdx="4" presStyleCnt="5">
        <dgm:presLayoutVars>
          <dgm:bulletEnabled val="1"/>
        </dgm:presLayoutVars>
      </dgm:prSet>
      <dgm:spPr/>
    </dgm:pt>
    <dgm:pt modelId="{E09E4CDA-E3C0-0243-B1F9-FCC1F6C820B3}" type="pres">
      <dgm:prSet presAssocID="{CAA5E5A3-49D3-4D32-A3C8-E4963027E8CD}" presName="FiveNodes_3_text" presStyleLbl="node1" presStyleIdx="4" presStyleCnt="5">
        <dgm:presLayoutVars>
          <dgm:bulletEnabled val="1"/>
        </dgm:presLayoutVars>
      </dgm:prSet>
      <dgm:spPr/>
    </dgm:pt>
    <dgm:pt modelId="{C6973F7D-F32C-4B41-A69D-CAFF2E09294B}" type="pres">
      <dgm:prSet presAssocID="{CAA5E5A3-49D3-4D32-A3C8-E4963027E8CD}" presName="FiveNodes_4_text" presStyleLbl="node1" presStyleIdx="4" presStyleCnt="5">
        <dgm:presLayoutVars>
          <dgm:bulletEnabled val="1"/>
        </dgm:presLayoutVars>
      </dgm:prSet>
      <dgm:spPr/>
    </dgm:pt>
    <dgm:pt modelId="{BBB38204-EF00-B34A-88D2-61DD1DED0E95}" type="pres">
      <dgm:prSet presAssocID="{CAA5E5A3-49D3-4D32-A3C8-E4963027E8CD}" presName="FiveNodes_5_text" presStyleLbl="node1" presStyleIdx="4" presStyleCnt="5">
        <dgm:presLayoutVars>
          <dgm:bulletEnabled val="1"/>
        </dgm:presLayoutVars>
      </dgm:prSet>
      <dgm:spPr/>
    </dgm:pt>
  </dgm:ptLst>
  <dgm:cxnLst>
    <dgm:cxn modelId="{3BA89602-0120-4763-8EC8-7BF5E9D853A8}" srcId="{CAA5E5A3-49D3-4D32-A3C8-E4963027E8CD}" destId="{8ECA0E48-FB69-42CA-8D90-044C2799FA08}" srcOrd="4" destOrd="0" parTransId="{B6546412-60F0-4689-AF43-44C34EBB7336}" sibTransId="{B1296BEB-5539-4FA5-A1AF-E348F37FBFFE}"/>
    <dgm:cxn modelId="{AFD2F802-34E0-3E41-A3DC-53919B700862}" type="presOf" srcId="{04EBD0CF-91AC-4B1D-8398-05CF5E28482E}" destId="{9CA58710-6645-D640-9FA4-3CE772D4321B}" srcOrd="1" destOrd="0" presId="urn:microsoft.com/office/officeart/2005/8/layout/vProcess5"/>
    <dgm:cxn modelId="{B2276C0F-F977-4644-9E30-76304375F478}" type="presOf" srcId="{629DCD71-FFB8-498F-A16D-B964E6766314}" destId="{E09E4CDA-E3C0-0243-B1F9-FCC1F6C820B3}" srcOrd="1" destOrd="0" presId="urn:microsoft.com/office/officeart/2005/8/layout/vProcess5"/>
    <dgm:cxn modelId="{9E84592D-3B2D-4DEE-905E-064D3AF1E4C9}" srcId="{CAA5E5A3-49D3-4D32-A3C8-E4963027E8CD}" destId="{F98EAADA-7C72-4404-B64A-62BA8FFCBC8B}" srcOrd="0" destOrd="0" parTransId="{14A894EC-AC25-4519-8545-629BF726EB56}" sibTransId="{5DA57961-684B-49EB-9124-3314CE46098F}"/>
    <dgm:cxn modelId="{DCFFED3C-2BFD-3D41-8B2E-C6D95C128006}" type="presOf" srcId="{04EBD0CF-91AC-4B1D-8398-05CF5E28482E}" destId="{3E946A6D-C140-1247-8645-F6D262ED712D}" srcOrd="0" destOrd="0" presId="urn:microsoft.com/office/officeart/2005/8/layout/vProcess5"/>
    <dgm:cxn modelId="{D6D1A85E-2A7E-6E4C-B3BC-64DE4F040B49}" type="presOf" srcId="{E2AB78CD-5FE3-4174-B7CB-1101A8DB45FE}" destId="{685B6762-F724-9047-A136-FB562C8E2E1A}" srcOrd="0" destOrd="0" presId="urn:microsoft.com/office/officeart/2005/8/layout/vProcess5"/>
    <dgm:cxn modelId="{B21B0968-3D3A-A144-82D6-A7BA9F89EF6E}" type="presOf" srcId="{8ECA0E48-FB69-42CA-8D90-044C2799FA08}" destId="{BBB38204-EF00-B34A-88D2-61DD1DED0E95}" srcOrd="1" destOrd="0" presId="urn:microsoft.com/office/officeart/2005/8/layout/vProcess5"/>
    <dgm:cxn modelId="{139A6B6F-F8BF-43BB-8973-DD3267A8E74A}" srcId="{CAA5E5A3-49D3-4D32-A3C8-E4963027E8CD}" destId="{EBB66ABA-FCF9-4FF2-AC21-98D8054A7B64}" srcOrd="3" destOrd="0" parTransId="{1F6554B0-D65F-4596-BB8E-653CCFA73F48}" sibTransId="{0D32ED78-29F0-490C-90DD-5F24E48C801A}"/>
    <dgm:cxn modelId="{E6338470-50C5-4435-90D0-DAE8474E97B0}" srcId="{CAA5E5A3-49D3-4D32-A3C8-E4963027E8CD}" destId="{629DCD71-FFB8-498F-A16D-B964E6766314}" srcOrd="2" destOrd="0" parTransId="{51874718-8DF3-4D98-B89E-5892F547C6BE}" sibTransId="{12BE2DF5-4B11-4B9D-A6EC-770F2FFEFF71}"/>
    <dgm:cxn modelId="{D2025073-8FD8-DF4A-8B2F-610B2A3E6FE1}" type="presOf" srcId="{EBB66ABA-FCF9-4FF2-AC21-98D8054A7B64}" destId="{C6973F7D-F32C-4B41-A69D-CAFF2E09294B}" srcOrd="1" destOrd="0" presId="urn:microsoft.com/office/officeart/2005/8/layout/vProcess5"/>
    <dgm:cxn modelId="{1A36477B-C41D-0543-A6BB-4C669172785C}" type="presOf" srcId="{8ECA0E48-FB69-42CA-8D90-044C2799FA08}" destId="{8757B0BE-AC44-1547-B9BC-8BBE66F0858A}" srcOrd="0" destOrd="0" presId="urn:microsoft.com/office/officeart/2005/8/layout/vProcess5"/>
    <dgm:cxn modelId="{120BA4A2-8A3A-4D45-A5FD-C5FA7958F8FD}" type="presOf" srcId="{F98EAADA-7C72-4404-B64A-62BA8FFCBC8B}" destId="{B1B5A39C-88CA-0A42-93AD-0B36295DA466}" srcOrd="1" destOrd="0" presId="urn:microsoft.com/office/officeart/2005/8/layout/vProcess5"/>
    <dgm:cxn modelId="{652AD5A9-CB28-2D4C-B72E-ED1A3237BD2E}" type="presOf" srcId="{629DCD71-FFB8-498F-A16D-B964E6766314}" destId="{D4DCD024-A8EB-A24E-BA8F-305743C29E53}" srcOrd="0" destOrd="0" presId="urn:microsoft.com/office/officeart/2005/8/layout/vProcess5"/>
    <dgm:cxn modelId="{783D48B9-DA26-7C4E-8E30-DAD2E3433FCA}" type="presOf" srcId="{F98EAADA-7C72-4404-B64A-62BA8FFCBC8B}" destId="{D9862FB2-176B-D448-893C-90B87D66587E}" srcOrd="0" destOrd="0" presId="urn:microsoft.com/office/officeart/2005/8/layout/vProcess5"/>
    <dgm:cxn modelId="{60A672C9-E6B2-0942-A704-8F39AB82AC88}" type="presOf" srcId="{5DA57961-684B-49EB-9124-3314CE46098F}" destId="{6F1C9952-EEBF-9343-BC3E-37E2F736045A}" srcOrd="0" destOrd="0" presId="urn:microsoft.com/office/officeart/2005/8/layout/vProcess5"/>
    <dgm:cxn modelId="{5BCAD6D1-611F-4EEA-AAFB-2A655774A319}" srcId="{CAA5E5A3-49D3-4D32-A3C8-E4963027E8CD}" destId="{04EBD0CF-91AC-4B1D-8398-05CF5E28482E}" srcOrd="1" destOrd="0" parTransId="{A8C4B4F6-0C5A-48C3-ADF0-74DB001C12CA}" sibTransId="{E2AB78CD-5FE3-4174-B7CB-1101A8DB45FE}"/>
    <dgm:cxn modelId="{691964DF-4EEF-9444-AEB7-4CB9643FBD57}" type="presOf" srcId="{CAA5E5A3-49D3-4D32-A3C8-E4963027E8CD}" destId="{39175F4C-E6C8-2042-9053-FAEBCC1786B0}" srcOrd="0" destOrd="0" presId="urn:microsoft.com/office/officeart/2005/8/layout/vProcess5"/>
    <dgm:cxn modelId="{BCF64FE0-D3B8-7843-9473-945B941178F7}" type="presOf" srcId="{12BE2DF5-4B11-4B9D-A6EC-770F2FFEFF71}" destId="{DCC70538-962D-DD4A-8639-AAD51EC4F821}" srcOrd="0" destOrd="0" presId="urn:microsoft.com/office/officeart/2005/8/layout/vProcess5"/>
    <dgm:cxn modelId="{D36ADFEB-C70D-A04E-9C67-EF453B6A5E9A}" type="presOf" srcId="{0D32ED78-29F0-490C-90DD-5F24E48C801A}" destId="{C6E5DA80-83A3-ED41-80ED-E478C583276C}" srcOrd="0" destOrd="0" presId="urn:microsoft.com/office/officeart/2005/8/layout/vProcess5"/>
    <dgm:cxn modelId="{BBA98BF8-8A33-A04F-A957-9D9C383CFA2C}" type="presOf" srcId="{EBB66ABA-FCF9-4FF2-AC21-98D8054A7B64}" destId="{E073F01B-6EAF-8843-B8F2-9501038D48FF}" srcOrd="0" destOrd="0" presId="urn:microsoft.com/office/officeart/2005/8/layout/vProcess5"/>
    <dgm:cxn modelId="{30E46CA4-DDB1-9C43-B1A9-83C0D1DDB444}" type="presParOf" srcId="{39175F4C-E6C8-2042-9053-FAEBCC1786B0}" destId="{5F2F9C53-74EA-5349-A10E-D761C40810FE}" srcOrd="0" destOrd="0" presId="urn:microsoft.com/office/officeart/2005/8/layout/vProcess5"/>
    <dgm:cxn modelId="{2F170D8D-5E76-C040-8FF8-697FB15985B8}" type="presParOf" srcId="{39175F4C-E6C8-2042-9053-FAEBCC1786B0}" destId="{D9862FB2-176B-D448-893C-90B87D66587E}" srcOrd="1" destOrd="0" presId="urn:microsoft.com/office/officeart/2005/8/layout/vProcess5"/>
    <dgm:cxn modelId="{A61AEDA2-74B9-344D-A38A-049C0D00B990}" type="presParOf" srcId="{39175F4C-E6C8-2042-9053-FAEBCC1786B0}" destId="{3E946A6D-C140-1247-8645-F6D262ED712D}" srcOrd="2" destOrd="0" presId="urn:microsoft.com/office/officeart/2005/8/layout/vProcess5"/>
    <dgm:cxn modelId="{5F9EFC6F-CB91-0E45-B846-70ABD3417A33}" type="presParOf" srcId="{39175F4C-E6C8-2042-9053-FAEBCC1786B0}" destId="{D4DCD024-A8EB-A24E-BA8F-305743C29E53}" srcOrd="3" destOrd="0" presId="urn:microsoft.com/office/officeart/2005/8/layout/vProcess5"/>
    <dgm:cxn modelId="{8B4531F9-1AEE-8349-ADAD-5A16923307AC}" type="presParOf" srcId="{39175F4C-E6C8-2042-9053-FAEBCC1786B0}" destId="{E073F01B-6EAF-8843-B8F2-9501038D48FF}" srcOrd="4" destOrd="0" presId="urn:microsoft.com/office/officeart/2005/8/layout/vProcess5"/>
    <dgm:cxn modelId="{9C345314-0015-4841-BAF3-0E4E70FA2D5D}" type="presParOf" srcId="{39175F4C-E6C8-2042-9053-FAEBCC1786B0}" destId="{8757B0BE-AC44-1547-B9BC-8BBE66F0858A}" srcOrd="5" destOrd="0" presId="urn:microsoft.com/office/officeart/2005/8/layout/vProcess5"/>
    <dgm:cxn modelId="{F2871291-203B-8A40-B3F6-8041AB8C0305}" type="presParOf" srcId="{39175F4C-E6C8-2042-9053-FAEBCC1786B0}" destId="{6F1C9952-EEBF-9343-BC3E-37E2F736045A}" srcOrd="6" destOrd="0" presId="urn:microsoft.com/office/officeart/2005/8/layout/vProcess5"/>
    <dgm:cxn modelId="{97554783-F411-E64D-A991-6041C3BC8D84}" type="presParOf" srcId="{39175F4C-E6C8-2042-9053-FAEBCC1786B0}" destId="{685B6762-F724-9047-A136-FB562C8E2E1A}" srcOrd="7" destOrd="0" presId="urn:microsoft.com/office/officeart/2005/8/layout/vProcess5"/>
    <dgm:cxn modelId="{E3372FB5-ACB8-9A43-BF9A-680608E05D2D}" type="presParOf" srcId="{39175F4C-E6C8-2042-9053-FAEBCC1786B0}" destId="{DCC70538-962D-DD4A-8639-AAD51EC4F821}" srcOrd="8" destOrd="0" presId="urn:microsoft.com/office/officeart/2005/8/layout/vProcess5"/>
    <dgm:cxn modelId="{2A14E019-ECF3-BC4E-846D-05B82F20059E}" type="presParOf" srcId="{39175F4C-E6C8-2042-9053-FAEBCC1786B0}" destId="{C6E5DA80-83A3-ED41-80ED-E478C583276C}" srcOrd="9" destOrd="0" presId="urn:microsoft.com/office/officeart/2005/8/layout/vProcess5"/>
    <dgm:cxn modelId="{80185510-9293-9D42-A587-734AB8B11170}" type="presParOf" srcId="{39175F4C-E6C8-2042-9053-FAEBCC1786B0}" destId="{B1B5A39C-88CA-0A42-93AD-0B36295DA466}" srcOrd="10" destOrd="0" presId="urn:microsoft.com/office/officeart/2005/8/layout/vProcess5"/>
    <dgm:cxn modelId="{1647C943-A557-D34F-83C1-32A8DA34FDF2}" type="presParOf" srcId="{39175F4C-E6C8-2042-9053-FAEBCC1786B0}" destId="{9CA58710-6645-D640-9FA4-3CE772D4321B}" srcOrd="11" destOrd="0" presId="urn:microsoft.com/office/officeart/2005/8/layout/vProcess5"/>
    <dgm:cxn modelId="{604E6A7B-9E1E-FD4F-A28F-0E77780CB37A}" type="presParOf" srcId="{39175F4C-E6C8-2042-9053-FAEBCC1786B0}" destId="{E09E4CDA-E3C0-0243-B1F9-FCC1F6C820B3}" srcOrd="12" destOrd="0" presId="urn:microsoft.com/office/officeart/2005/8/layout/vProcess5"/>
    <dgm:cxn modelId="{DFC4FB9E-9DD8-B34B-9EAD-F7C4F48041E4}" type="presParOf" srcId="{39175F4C-E6C8-2042-9053-FAEBCC1786B0}" destId="{C6973F7D-F32C-4B41-A69D-CAFF2E09294B}" srcOrd="13" destOrd="0" presId="urn:microsoft.com/office/officeart/2005/8/layout/vProcess5"/>
    <dgm:cxn modelId="{3622A290-FFC0-354B-85A0-D8C608D3D6EE}" type="presParOf" srcId="{39175F4C-E6C8-2042-9053-FAEBCC1786B0}" destId="{BBB38204-EF00-B34A-88D2-61DD1DED0E95}"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1EAFCF-C1A7-4C8D-94B0-EBBF674099D9}" type="doc">
      <dgm:prSet loTypeId="urn:microsoft.com/office/officeart/2018/layout/CircleProcess" loCatId="simpleprocesssa" qsTypeId="urn:microsoft.com/office/officeart/2005/8/quickstyle/simple1" qsCatId="simple" csTypeId="urn:microsoft.com/office/officeart/2005/8/colors/accent1_2" csCatId="accent1" phldr="1"/>
      <dgm:spPr/>
      <dgm:t>
        <a:bodyPr/>
        <a:lstStyle/>
        <a:p>
          <a:endParaRPr lang="en-US"/>
        </a:p>
      </dgm:t>
    </dgm:pt>
    <dgm:pt modelId="{D0F8724D-6226-4C75-9239-11E2AEFAB802}">
      <dgm:prSet/>
      <dgm:spPr/>
      <dgm:t>
        <a:bodyPr/>
        <a:lstStyle/>
        <a:p>
          <a:r>
            <a:rPr lang="zh-CN" b="1"/>
            <a:t>对研究问题的回答</a:t>
          </a:r>
          <a:endParaRPr lang="en-US"/>
        </a:p>
      </dgm:t>
    </dgm:pt>
    <dgm:pt modelId="{80119605-EE82-456C-8C72-C73B57995719}" type="parTrans" cxnId="{AC5E88EA-0807-4622-8FEE-E1285EB95B09}">
      <dgm:prSet/>
      <dgm:spPr/>
      <dgm:t>
        <a:bodyPr/>
        <a:lstStyle/>
        <a:p>
          <a:endParaRPr lang="en-US"/>
        </a:p>
      </dgm:t>
    </dgm:pt>
    <dgm:pt modelId="{AB1FAD00-C43D-4D8E-8D5F-9B7833EC5D5C}" type="sibTrans" cxnId="{AC5E88EA-0807-4622-8FEE-E1285EB95B09}">
      <dgm:prSet/>
      <dgm:spPr/>
      <dgm:t>
        <a:bodyPr/>
        <a:lstStyle/>
        <a:p>
          <a:endParaRPr lang="en-US"/>
        </a:p>
      </dgm:t>
    </dgm:pt>
    <dgm:pt modelId="{21195A5E-2D43-4271-9628-B3C082958ED9}">
      <dgm:prSet/>
      <dgm:spPr/>
      <dgm:t>
        <a:bodyPr/>
        <a:lstStyle/>
        <a:p>
          <a:r>
            <a:rPr lang="en-US"/>
            <a:t>RQ1：</a:t>
          </a:r>
          <a:r>
            <a:rPr lang="zh-CN"/>
            <a:t>联合优化总体优于简单局部启发式</a:t>
          </a:r>
          <a:endParaRPr lang="en-US"/>
        </a:p>
      </dgm:t>
    </dgm:pt>
    <dgm:pt modelId="{8AE7528D-03A7-452E-BE13-0860129C3BBB}" type="parTrans" cxnId="{2E5E4E9D-6ED8-47F8-A09B-6B23018E57C2}">
      <dgm:prSet/>
      <dgm:spPr/>
      <dgm:t>
        <a:bodyPr/>
        <a:lstStyle/>
        <a:p>
          <a:endParaRPr lang="en-US"/>
        </a:p>
      </dgm:t>
    </dgm:pt>
    <dgm:pt modelId="{0A49AF74-5A6D-45D0-8203-5C94904F59F2}" type="sibTrans" cxnId="{2E5E4E9D-6ED8-47F8-A09B-6B23018E57C2}">
      <dgm:prSet/>
      <dgm:spPr/>
      <dgm:t>
        <a:bodyPr/>
        <a:lstStyle/>
        <a:p>
          <a:endParaRPr lang="en-US"/>
        </a:p>
      </dgm:t>
    </dgm:pt>
    <dgm:pt modelId="{466B336D-1BFD-40D9-B82B-1BF2CF498068}">
      <dgm:prSet/>
      <dgm:spPr/>
      <dgm:t>
        <a:bodyPr/>
        <a:lstStyle/>
        <a:p>
          <a:r>
            <a:rPr lang="en-US"/>
            <a:t>RQ2：</a:t>
          </a:r>
          <a:r>
            <a:rPr lang="zh-CN"/>
            <a:t>文献启发式 </a:t>
          </a:r>
          <a:r>
            <a:rPr lang="en-US"/>
            <a:t>baseline </a:t>
          </a:r>
          <a:r>
            <a:rPr lang="zh-CN"/>
            <a:t>是一个强 </a:t>
          </a:r>
          <a:r>
            <a:rPr lang="en-US"/>
            <a:t>benchmark，</a:t>
          </a:r>
          <a:r>
            <a:rPr lang="zh-CN"/>
            <a:t>但其优势依赖于评价口径</a:t>
          </a:r>
          <a:endParaRPr lang="en-US"/>
        </a:p>
      </dgm:t>
    </dgm:pt>
    <dgm:pt modelId="{5B47ADDA-F51E-4ABF-9518-33E1633053D4}" type="parTrans" cxnId="{C565F7B6-924E-4B24-A9FA-9104FBC9747A}">
      <dgm:prSet/>
      <dgm:spPr/>
      <dgm:t>
        <a:bodyPr/>
        <a:lstStyle/>
        <a:p>
          <a:endParaRPr lang="en-US"/>
        </a:p>
      </dgm:t>
    </dgm:pt>
    <dgm:pt modelId="{3D563E80-C399-49D6-B23C-A77CAF597504}" type="sibTrans" cxnId="{C565F7B6-924E-4B24-A9FA-9104FBC9747A}">
      <dgm:prSet/>
      <dgm:spPr/>
      <dgm:t>
        <a:bodyPr/>
        <a:lstStyle/>
        <a:p>
          <a:endParaRPr lang="en-US"/>
        </a:p>
      </dgm:t>
    </dgm:pt>
    <dgm:pt modelId="{E1F5FDD6-68D1-4F94-948E-57CA3159BE4B}">
      <dgm:prSet/>
      <dgm:spPr/>
      <dgm:t>
        <a:bodyPr/>
        <a:lstStyle/>
        <a:p>
          <a:r>
            <a:rPr lang="en-US" dirty="0"/>
            <a:t>RQ3：</a:t>
          </a:r>
          <a:r>
            <a:rPr lang="zh-CN" dirty="0"/>
            <a:t>聚合 </a:t>
          </a:r>
          <a:r>
            <a:rPr lang="en-US" dirty="0"/>
            <a:t>proxy </a:t>
          </a:r>
          <a:r>
            <a:rPr lang="zh-CN" dirty="0"/>
            <a:t>指标与订单级指标之间存在系统性差异</a:t>
          </a:r>
          <a:endParaRPr lang="en-US" dirty="0"/>
        </a:p>
      </dgm:t>
    </dgm:pt>
    <dgm:pt modelId="{86A0CFC2-C54E-42CE-A5BE-1521559DAC11}" type="parTrans" cxnId="{2560E9CE-AEA3-4936-BD73-744DD7ED2298}">
      <dgm:prSet/>
      <dgm:spPr/>
      <dgm:t>
        <a:bodyPr/>
        <a:lstStyle/>
        <a:p>
          <a:endParaRPr lang="en-US"/>
        </a:p>
      </dgm:t>
    </dgm:pt>
    <dgm:pt modelId="{3941C9A3-7D5C-4101-9295-0855D0441208}" type="sibTrans" cxnId="{2560E9CE-AEA3-4936-BD73-744DD7ED2298}">
      <dgm:prSet/>
      <dgm:spPr/>
      <dgm:t>
        <a:bodyPr/>
        <a:lstStyle/>
        <a:p>
          <a:endParaRPr lang="en-US"/>
        </a:p>
      </dgm:t>
    </dgm:pt>
    <dgm:pt modelId="{42B2D011-2867-CB4F-8529-2599B24E7673}" type="pres">
      <dgm:prSet presAssocID="{AD1EAFCF-C1A7-4C8D-94B0-EBBF674099D9}" presName="Name0" presStyleCnt="0">
        <dgm:presLayoutVars>
          <dgm:chMax val="11"/>
          <dgm:chPref val="11"/>
          <dgm:dir/>
          <dgm:resizeHandles/>
        </dgm:presLayoutVars>
      </dgm:prSet>
      <dgm:spPr/>
    </dgm:pt>
    <dgm:pt modelId="{E0E6045F-5DFB-8542-8871-522A7523AC7D}" type="pres">
      <dgm:prSet presAssocID="{E1F5FDD6-68D1-4F94-948E-57CA3159BE4B}" presName="Accent4" presStyleCnt="0"/>
      <dgm:spPr/>
    </dgm:pt>
    <dgm:pt modelId="{6B25579E-536A-6F47-B5F7-BBD5CBCAD21C}" type="pres">
      <dgm:prSet presAssocID="{E1F5FDD6-68D1-4F94-948E-57CA3159BE4B}" presName="Accent" presStyleLbl="node1" presStyleIdx="0" presStyleCnt="8"/>
      <dgm:spPr/>
    </dgm:pt>
    <dgm:pt modelId="{1662E20B-9164-6946-BA07-C7E48DD46FB0}" type="pres">
      <dgm:prSet presAssocID="{E1F5FDD6-68D1-4F94-948E-57CA3159BE4B}" presName="ParentBackground4" presStyleCnt="0"/>
      <dgm:spPr/>
    </dgm:pt>
    <dgm:pt modelId="{D621AE29-D0D0-D34B-B6C0-5F889E1EE981}" type="pres">
      <dgm:prSet presAssocID="{E1F5FDD6-68D1-4F94-948E-57CA3159BE4B}" presName="ParentBackground" presStyleLbl="node1" presStyleIdx="1" presStyleCnt="8"/>
      <dgm:spPr/>
    </dgm:pt>
    <dgm:pt modelId="{20C32BAB-32D6-764A-9DB1-781D9BD96C0C}" type="pres">
      <dgm:prSet presAssocID="{E1F5FDD6-68D1-4F94-948E-57CA3159BE4B}" presName="Parent4" presStyleLbl="fgAcc0" presStyleIdx="0" presStyleCnt="0">
        <dgm:presLayoutVars>
          <dgm:chMax val="1"/>
          <dgm:chPref val="1"/>
          <dgm:bulletEnabled val="1"/>
        </dgm:presLayoutVars>
      </dgm:prSet>
      <dgm:spPr/>
    </dgm:pt>
    <dgm:pt modelId="{C63B59C4-7CF7-604E-92FB-1C3475B1EB49}" type="pres">
      <dgm:prSet presAssocID="{466B336D-1BFD-40D9-B82B-1BF2CF498068}" presName="Accent3" presStyleCnt="0"/>
      <dgm:spPr/>
    </dgm:pt>
    <dgm:pt modelId="{495AB936-1D44-D240-AF24-9CBAFD686384}" type="pres">
      <dgm:prSet presAssocID="{466B336D-1BFD-40D9-B82B-1BF2CF498068}" presName="Accent" presStyleLbl="node1" presStyleIdx="2" presStyleCnt="8"/>
      <dgm:spPr/>
    </dgm:pt>
    <dgm:pt modelId="{74116165-C1F6-5D4E-8D6B-554B53D5A376}" type="pres">
      <dgm:prSet presAssocID="{466B336D-1BFD-40D9-B82B-1BF2CF498068}" presName="ParentBackground3" presStyleCnt="0"/>
      <dgm:spPr/>
    </dgm:pt>
    <dgm:pt modelId="{A9047363-620F-2F4D-8604-7AA17949E0CE}" type="pres">
      <dgm:prSet presAssocID="{466B336D-1BFD-40D9-B82B-1BF2CF498068}" presName="ParentBackground" presStyleLbl="node1" presStyleIdx="3" presStyleCnt="8" custLinFactNeighborX="-604" custLinFactNeighborY="449"/>
      <dgm:spPr/>
    </dgm:pt>
    <dgm:pt modelId="{D877030F-66F7-1341-A269-BFFB50FA8995}" type="pres">
      <dgm:prSet presAssocID="{466B336D-1BFD-40D9-B82B-1BF2CF498068}" presName="Parent3" presStyleLbl="fgAcc0" presStyleIdx="0" presStyleCnt="0">
        <dgm:presLayoutVars>
          <dgm:chMax val="1"/>
          <dgm:chPref val="1"/>
          <dgm:bulletEnabled val="1"/>
        </dgm:presLayoutVars>
      </dgm:prSet>
      <dgm:spPr/>
    </dgm:pt>
    <dgm:pt modelId="{0A81FB97-6267-A243-8422-AA7AC63E9AEA}" type="pres">
      <dgm:prSet presAssocID="{21195A5E-2D43-4271-9628-B3C082958ED9}" presName="Accent2" presStyleCnt="0"/>
      <dgm:spPr/>
    </dgm:pt>
    <dgm:pt modelId="{C9510006-7CE5-2B4F-8217-5D800F1CDD8C}" type="pres">
      <dgm:prSet presAssocID="{21195A5E-2D43-4271-9628-B3C082958ED9}" presName="Accent" presStyleLbl="node1" presStyleIdx="4" presStyleCnt="8"/>
      <dgm:spPr/>
    </dgm:pt>
    <dgm:pt modelId="{043EBC55-17E6-BE4E-91CE-AAE513D50126}" type="pres">
      <dgm:prSet presAssocID="{21195A5E-2D43-4271-9628-B3C082958ED9}" presName="ParentBackground2" presStyleCnt="0"/>
      <dgm:spPr/>
    </dgm:pt>
    <dgm:pt modelId="{21B68B5F-A8D0-8E47-81C7-07A3746B13C7}" type="pres">
      <dgm:prSet presAssocID="{21195A5E-2D43-4271-9628-B3C082958ED9}" presName="ParentBackground" presStyleLbl="node1" presStyleIdx="5" presStyleCnt="8"/>
      <dgm:spPr/>
    </dgm:pt>
    <dgm:pt modelId="{2C108ABC-639D-104C-A04B-B9642BAE2A79}" type="pres">
      <dgm:prSet presAssocID="{21195A5E-2D43-4271-9628-B3C082958ED9}" presName="Parent2" presStyleLbl="fgAcc0" presStyleIdx="0" presStyleCnt="0">
        <dgm:presLayoutVars>
          <dgm:chMax val="1"/>
          <dgm:chPref val="1"/>
          <dgm:bulletEnabled val="1"/>
        </dgm:presLayoutVars>
      </dgm:prSet>
      <dgm:spPr/>
    </dgm:pt>
    <dgm:pt modelId="{F49C1AE3-CE71-4B4A-AA1D-0A381D560B59}" type="pres">
      <dgm:prSet presAssocID="{D0F8724D-6226-4C75-9239-11E2AEFAB802}" presName="Accent1" presStyleCnt="0"/>
      <dgm:spPr/>
    </dgm:pt>
    <dgm:pt modelId="{B19B6A78-DD58-FB42-964C-399AE3AF40B2}" type="pres">
      <dgm:prSet presAssocID="{D0F8724D-6226-4C75-9239-11E2AEFAB802}" presName="Accent" presStyleLbl="node1" presStyleIdx="6" presStyleCnt="8"/>
      <dgm:spPr/>
    </dgm:pt>
    <dgm:pt modelId="{D7691A9C-B7AC-8E41-8034-3AC0BA019C08}" type="pres">
      <dgm:prSet presAssocID="{D0F8724D-6226-4C75-9239-11E2AEFAB802}" presName="ParentBackground1" presStyleCnt="0"/>
      <dgm:spPr/>
    </dgm:pt>
    <dgm:pt modelId="{F7709294-4F7C-5D45-86A2-44183EAE077B}" type="pres">
      <dgm:prSet presAssocID="{D0F8724D-6226-4C75-9239-11E2AEFAB802}" presName="ParentBackground" presStyleLbl="node1" presStyleIdx="7" presStyleCnt="8"/>
      <dgm:spPr/>
    </dgm:pt>
    <dgm:pt modelId="{BD882358-5F8F-2247-A691-38533FA1B464}" type="pres">
      <dgm:prSet presAssocID="{D0F8724D-6226-4C75-9239-11E2AEFAB802}" presName="Parent1" presStyleLbl="fgAcc0" presStyleIdx="0" presStyleCnt="0">
        <dgm:presLayoutVars>
          <dgm:chMax val="1"/>
          <dgm:chPref val="1"/>
          <dgm:bulletEnabled val="1"/>
        </dgm:presLayoutVars>
      </dgm:prSet>
      <dgm:spPr/>
    </dgm:pt>
  </dgm:ptLst>
  <dgm:cxnLst>
    <dgm:cxn modelId="{3D3F3F08-BCDB-0848-9154-C44F30EDED12}" type="presOf" srcId="{21195A5E-2D43-4271-9628-B3C082958ED9}" destId="{2C108ABC-639D-104C-A04B-B9642BAE2A79}" srcOrd="1" destOrd="0" presId="urn:microsoft.com/office/officeart/2018/layout/CircleProcess"/>
    <dgm:cxn modelId="{796EED0E-B97E-E04B-8C25-73E2D9FA289B}" type="presOf" srcId="{AD1EAFCF-C1A7-4C8D-94B0-EBBF674099D9}" destId="{42B2D011-2867-CB4F-8529-2599B24E7673}" srcOrd="0" destOrd="0" presId="urn:microsoft.com/office/officeart/2018/layout/CircleProcess"/>
    <dgm:cxn modelId="{8E7E9828-D816-534B-A300-DEC48F63F59F}" type="presOf" srcId="{D0F8724D-6226-4C75-9239-11E2AEFAB802}" destId="{F7709294-4F7C-5D45-86A2-44183EAE077B}" srcOrd="0" destOrd="0" presId="urn:microsoft.com/office/officeart/2018/layout/CircleProcess"/>
    <dgm:cxn modelId="{A0E08257-C08C-D947-A22B-F31216016F82}" type="presOf" srcId="{E1F5FDD6-68D1-4F94-948E-57CA3159BE4B}" destId="{D621AE29-D0D0-D34B-B6C0-5F889E1EE981}" srcOrd="0" destOrd="0" presId="urn:microsoft.com/office/officeart/2018/layout/CircleProcess"/>
    <dgm:cxn modelId="{38199D63-F1BA-824A-B4C4-91072F77C85C}" type="presOf" srcId="{466B336D-1BFD-40D9-B82B-1BF2CF498068}" destId="{A9047363-620F-2F4D-8604-7AA17949E0CE}" srcOrd="0" destOrd="0" presId="urn:microsoft.com/office/officeart/2018/layout/CircleProcess"/>
    <dgm:cxn modelId="{B2422B70-CBF8-134D-B040-B1C94D9A7C81}" type="presOf" srcId="{21195A5E-2D43-4271-9628-B3C082958ED9}" destId="{21B68B5F-A8D0-8E47-81C7-07A3746B13C7}" srcOrd="0" destOrd="0" presId="urn:microsoft.com/office/officeart/2018/layout/CircleProcess"/>
    <dgm:cxn modelId="{86EB359B-8A6C-F942-9CC5-C241B8F8A204}" type="presOf" srcId="{E1F5FDD6-68D1-4F94-948E-57CA3159BE4B}" destId="{20C32BAB-32D6-764A-9DB1-781D9BD96C0C}" srcOrd="1" destOrd="0" presId="urn:microsoft.com/office/officeart/2018/layout/CircleProcess"/>
    <dgm:cxn modelId="{2E5E4E9D-6ED8-47F8-A09B-6B23018E57C2}" srcId="{AD1EAFCF-C1A7-4C8D-94B0-EBBF674099D9}" destId="{21195A5E-2D43-4271-9628-B3C082958ED9}" srcOrd="1" destOrd="0" parTransId="{8AE7528D-03A7-452E-BE13-0860129C3BBB}" sibTransId="{0A49AF74-5A6D-45D0-8203-5C94904F59F2}"/>
    <dgm:cxn modelId="{C565F7B6-924E-4B24-A9FA-9104FBC9747A}" srcId="{AD1EAFCF-C1A7-4C8D-94B0-EBBF674099D9}" destId="{466B336D-1BFD-40D9-B82B-1BF2CF498068}" srcOrd="2" destOrd="0" parTransId="{5B47ADDA-F51E-4ABF-9518-33E1633053D4}" sibTransId="{3D563E80-C399-49D6-B23C-A77CAF597504}"/>
    <dgm:cxn modelId="{0888F6B8-FF96-0448-B884-C05FE66BAF4B}" type="presOf" srcId="{D0F8724D-6226-4C75-9239-11E2AEFAB802}" destId="{BD882358-5F8F-2247-A691-38533FA1B464}" srcOrd="1" destOrd="0" presId="urn:microsoft.com/office/officeart/2018/layout/CircleProcess"/>
    <dgm:cxn modelId="{2560E9CE-AEA3-4936-BD73-744DD7ED2298}" srcId="{AD1EAFCF-C1A7-4C8D-94B0-EBBF674099D9}" destId="{E1F5FDD6-68D1-4F94-948E-57CA3159BE4B}" srcOrd="3" destOrd="0" parTransId="{86A0CFC2-C54E-42CE-A5BE-1521559DAC11}" sibTransId="{3941C9A3-7D5C-4101-9295-0855D0441208}"/>
    <dgm:cxn modelId="{AC5E88EA-0807-4622-8FEE-E1285EB95B09}" srcId="{AD1EAFCF-C1A7-4C8D-94B0-EBBF674099D9}" destId="{D0F8724D-6226-4C75-9239-11E2AEFAB802}" srcOrd="0" destOrd="0" parTransId="{80119605-EE82-456C-8C72-C73B57995719}" sibTransId="{AB1FAD00-C43D-4D8E-8D5F-9B7833EC5D5C}"/>
    <dgm:cxn modelId="{C240F7FC-577D-4542-B3A2-61EA8BB28A60}" type="presOf" srcId="{466B336D-1BFD-40D9-B82B-1BF2CF498068}" destId="{D877030F-66F7-1341-A269-BFFB50FA8995}" srcOrd="1" destOrd="0" presId="urn:microsoft.com/office/officeart/2018/layout/CircleProcess"/>
    <dgm:cxn modelId="{B14E5501-95BF-2D47-8960-718ECF363A6D}" type="presParOf" srcId="{42B2D011-2867-CB4F-8529-2599B24E7673}" destId="{E0E6045F-5DFB-8542-8871-522A7523AC7D}" srcOrd="0" destOrd="0" presId="urn:microsoft.com/office/officeart/2018/layout/CircleProcess"/>
    <dgm:cxn modelId="{6E507498-6C4C-D543-94BB-A06DFF910258}" type="presParOf" srcId="{E0E6045F-5DFB-8542-8871-522A7523AC7D}" destId="{6B25579E-536A-6F47-B5F7-BBD5CBCAD21C}" srcOrd="0" destOrd="0" presId="urn:microsoft.com/office/officeart/2018/layout/CircleProcess"/>
    <dgm:cxn modelId="{967FF131-E978-E74D-8CE6-731252DEA1CF}" type="presParOf" srcId="{42B2D011-2867-CB4F-8529-2599B24E7673}" destId="{1662E20B-9164-6946-BA07-C7E48DD46FB0}" srcOrd="1" destOrd="0" presId="urn:microsoft.com/office/officeart/2018/layout/CircleProcess"/>
    <dgm:cxn modelId="{A18C4BB3-D7AF-974C-97CC-99A997DE494B}" type="presParOf" srcId="{1662E20B-9164-6946-BA07-C7E48DD46FB0}" destId="{D621AE29-D0D0-D34B-B6C0-5F889E1EE981}" srcOrd="0" destOrd="0" presId="urn:microsoft.com/office/officeart/2018/layout/CircleProcess"/>
    <dgm:cxn modelId="{D259BBA8-9483-1E4D-AAE3-582CE9103645}" type="presParOf" srcId="{42B2D011-2867-CB4F-8529-2599B24E7673}" destId="{20C32BAB-32D6-764A-9DB1-781D9BD96C0C}" srcOrd="2" destOrd="0" presId="urn:microsoft.com/office/officeart/2018/layout/CircleProcess"/>
    <dgm:cxn modelId="{CAEE1F06-8FFF-6E4C-8352-0841BE470731}" type="presParOf" srcId="{42B2D011-2867-CB4F-8529-2599B24E7673}" destId="{C63B59C4-7CF7-604E-92FB-1C3475B1EB49}" srcOrd="3" destOrd="0" presId="urn:microsoft.com/office/officeart/2018/layout/CircleProcess"/>
    <dgm:cxn modelId="{EB3171A1-A6E6-DF46-B6C8-988D12CB9AE0}" type="presParOf" srcId="{C63B59C4-7CF7-604E-92FB-1C3475B1EB49}" destId="{495AB936-1D44-D240-AF24-9CBAFD686384}" srcOrd="0" destOrd="0" presId="urn:microsoft.com/office/officeart/2018/layout/CircleProcess"/>
    <dgm:cxn modelId="{E9F42F15-AC56-3448-B35C-002A32C75736}" type="presParOf" srcId="{42B2D011-2867-CB4F-8529-2599B24E7673}" destId="{74116165-C1F6-5D4E-8D6B-554B53D5A376}" srcOrd="4" destOrd="0" presId="urn:microsoft.com/office/officeart/2018/layout/CircleProcess"/>
    <dgm:cxn modelId="{1E1C4096-3AF6-0246-BC5D-FA312220CDFC}" type="presParOf" srcId="{74116165-C1F6-5D4E-8D6B-554B53D5A376}" destId="{A9047363-620F-2F4D-8604-7AA17949E0CE}" srcOrd="0" destOrd="0" presId="urn:microsoft.com/office/officeart/2018/layout/CircleProcess"/>
    <dgm:cxn modelId="{B0F9D2A1-FEC3-424F-950E-F845BD226054}" type="presParOf" srcId="{42B2D011-2867-CB4F-8529-2599B24E7673}" destId="{D877030F-66F7-1341-A269-BFFB50FA8995}" srcOrd="5" destOrd="0" presId="urn:microsoft.com/office/officeart/2018/layout/CircleProcess"/>
    <dgm:cxn modelId="{B486F722-8445-F24E-BAF7-27FA77034B3D}" type="presParOf" srcId="{42B2D011-2867-CB4F-8529-2599B24E7673}" destId="{0A81FB97-6267-A243-8422-AA7AC63E9AEA}" srcOrd="6" destOrd="0" presId="urn:microsoft.com/office/officeart/2018/layout/CircleProcess"/>
    <dgm:cxn modelId="{F162919A-B1CD-D940-A71E-5E0F6FEB5FE8}" type="presParOf" srcId="{0A81FB97-6267-A243-8422-AA7AC63E9AEA}" destId="{C9510006-7CE5-2B4F-8217-5D800F1CDD8C}" srcOrd="0" destOrd="0" presId="urn:microsoft.com/office/officeart/2018/layout/CircleProcess"/>
    <dgm:cxn modelId="{6E1F0937-5DEB-8341-8592-0AA30023BD50}" type="presParOf" srcId="{42B2D011-2867-CB4F-8529-2599B24E7673}" destId="{043EBC55-17E6-BE4E-91CE-AAE513D50126}" srcOrd="7" destOrd="0" presId="urn:microsoft.com/office/officeart/2018/layout/CircleProcess"/>
    <dgm:cxn modelId="{9C2C226E-96F1-2942-BBB3-08F4194360A2}" type="presParOf" srcId="{043EBC55-17E6-BE4E-91CE-AAE513D50126}" destId="{21B68B5F-A8D0-8E47-81C7-07A3746B13C7}" srcOrd="0" destOrd="0" presId="urn:microsoft.com/office/officeart/2018/layout/CircleProcess"/>
    <dgm:cxn modelId="{7F4C4BEA-FE52-4B41-8A77-AA7853DAE7D1}" type="presParOf" srcId="{42B2D011-2867-CB4F-8529-2599B24E7673}" destId="{2C108ABC-639D-104C-A04B-B9642BAE2A79}" srcOrd="8" destOrd="0" presId="urn:microsoft.com/office/officeart/2018/layout/CircleProcess"/>
    <dgm:cxn modelId="{1CAC014E-0B94-E340-B1E7-783A5D555A62}" type="presParOf" srcId="{42B2D011-2867-CB4F-8529-2599B24E7673}" destId="{F49C1AE3-CE71-4B4A-AA1D-0A381D560B59}" srcOrd="9" destOrd="0" presId="urn:microsoft.com/office/officeart/2018/layout/CircleProcess"/>
    <dgm:cxn modelId="{4D993C39-3630-3943-9464-0DC93E5EDAC3}" type="presParOf" srcId="{F49C1AE3-CE71-4B4A-AA1D-0A381D560B59}" destId="{B19B6A78-DD58-FB42-964C-399AE3AF40B2}" srcOrd="0" destOrd="0" presId="urn:microsoft.com/office/officeart/2018/layout/CircleProcess"/>
    <dgm:cxn modelId="{1A2B2ABE-6B24-4146-85B5-ACADFB012E13}" type="presParOf" srcId="{42B2D011-2867-CB4F-8529-2599B24E7673}" destId="{D7691A9C-B7AC-8E41-8034-3AC0BA019C08}" srcOrd="10" destOrd="0" presId="urn:microsoft.com/office/officeart/2018/layout/CircleProcess"/>
    <dgm:cxn modelId="{E362E5C5-9072-9E4E-A5EB-A99AE78161FE}" type="presParOf" srcId="{D7691A9C-B7AC-8E41-8034-3AC0BA019C08}" destId="{F7709294-4F7C-5D45-86A2-44183EAE077B}" srcOrd="0" destOrd="0" presId="urn:microsoft.com/office/officeart/2018/layout/CircleProcess"/>
    <dgm:cxn modelId="{55133541-1E03-784C-8D5A-AD8D8F6BD27D}" type="presParOf" srcId="{42B2D011-2867-CB4F-8529-2599B24E7673}" destId="{BD882358-5F8F-2247-A691-38533FA1B464}" srcOrd="11"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51149-1B2B-464C-8B25-FECBC9A36809}">
      <dsp:nvSpPr>
        <dsp:cNvPr id="0" name=""/>
        <dsp:cNvSpPr/>
      </dsp:nvSpPr>
      <dsp:spPr>
        <a:xfrm>
          <a:off x="0" y="220077"/>
          <a:ext cx="1105146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8B2379-05DF-0141-A41F-D6DEAE0FD8E4}">
      <dsp:nvSpPr>
        <dsp:cNvPr id="0" name=""/>
        <dsp:cNvSpPr/>
      </dsp:nvSpPr>
      <dsp:spPr>
        <a:xfrm>
          <a:off x="552573" y="28197"/>
          <a:ext cx="7736024"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403" tIns="0" rIns="292403" bIns="0" numCol="1" spcCol="1270" anchor="ctr" anchorCtr="0">
          <a:noAutofit/>
        </a:bodyPr>
        <a:lstStyle/>
        <a:p>
          <a:pPr marL="0" lvl="0" indent="0" algn="l" defTabSz="577850">
            <a:lnSpc>
              <a:spcPct val="90000"/>
            </a:lnSpc>
            <a:spcBef>
              <a:spcPct val="0"/>
            </a:spcBef>
            <a:spcAft>
              <a:spcPct val="35000"/>
            </a:spcAft>
            <a:buNone/>
          </a:pPr>
          <a:r>
            <a:rPr lang="zh-CN" sz="1300" kern="1200" dirty="0"/>
            <a:t>即时零售要求高时效、低缺货和较丰富的 </a:t>
          </a:r>
          <a:r>
            <a:rPr lang="en-US" sz="1300" kern="1200" dirty="0"/>
            <a:t>SKU </a:t>
          </a:r>
          <a:r>
            <a:rPr lang="zh-CN" sz="1300" kern="1200" dirty="0"/>
            <a:t>覆盖</a:t>
          </a:r>
          <a:endParaRPr lang="en-US" sz="1300" kern="1200" dirty="0"/>
        </a:p>
      </dsp:txBody>
      <dsp:txXfrm>
        <a:off x="571307" y="46931"/>
        <a:ext cx="7698556" cy="346292"/>
      </dsp:txXfrm>
    </dsp:sp>
    <dsp:sp modelId="{DE57E5E0-A7FE-244B-B224-79D4B37CBA22}">
      <dsp:nvSpPr>
        <dsp:cNvPr id="0" name=""/>
        <dsp:cNvSpPr/>
      </dsp:nvSpPr>
      <dsp:spPr>
        <a:xfrm>
          <a:off x="0" y="809757"/>
          <a:ext cx="1105146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7FF76A-9914-FE44-8F09-214FB82370C2}">
      <dsp:nvSpPr>
        <dsp:cNvPr id="0" name=""/>
        <dsp:cNvSpPr/>
      </dsp:nvSpPr>
      <dsp:spPr>
        <a:xfrm>
          <a:off x="552573" y="617877"/>
          <a:ext cx="7736024"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403" tIns="0" rIns="292403" bIns="0" numCol="1" spcCol="1270" anchor="ctr" anchorCtr="0">
          <a:noAutofit/>
        </a:bodyPr>
        <a:lstStyle/>
        <a:p>
          <a:pPr marL="0" lvl="0" indent="0" algn="l" defTabSz="577850">
            <a:lnSpc>
              <a:spcPct val="90000"/>
            </a:lnSpc>
            <a:spcBef>
              <a:spcPct val="0"/>
            </a:spcBef>
            <a:spcAft>
              <a:spcPct val="35000"/>
            </a:spcAft>
            <a:buNone/>
          </a:pPr>
          <a:r>
            <a:rPr lang="zh-CN" sz="1300" kern="1200"/>
            <a:t>前置仓面积有限，无法实现“全品全量”</a:t>
          </a:r>
          <a:endParaRPr lang="en-US" sz="1300" kern="1200"/>
        </a:p>
      </dsp:txBody>
      <dsp:txXfrm>
        <a:off x="571307" y="636611"/>
        <a:ext cx="7698556" cy="346292"/>
      </dsp:txXfrm>
    </dsp:sp>
    <dsp:sp modelId="{4A30405A-6D93-054D-A4E0-8916711B3065}">
      <dsp:nvSpPr>
        <dsp:cNvPr id="0" name=""/>
        <dsp:cNvSpPr/>
      </dsp:nvSpPr>
      <dsp:spPr>
        <a:xfrm>
          <a:off x="0" y="1399437"/>
          <a:ext cx="1105146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230C71-9B97-ED48-821F-9AF978F1CE4F}">
      <dsp:nvSpPr>
        <dsp:cNvPr id="0" name=""/>
        <dsp:cNvSpPr/>
      </dsp:nvSpPr>
      <dsp:spPr>
        <a:xfrm>
          <a:off x="552573" y="1207557"/>
          <a:ext cx="7736024"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403" tIns="0" rIns="292403" bIns="0" numCol="1" spcCol="1270" anchor="ctr" anchorCtr="0">
          <a:noAutofit/>
        </a:bodyPr>
        <a:lstStyle/>
        <a:p>
          <a:pPr marL="0" lvl="0" indent="0" algn="l" defTabSz="577850">
            <a:lnSpc>
              <a:spcPct val="90000"/>
            </a:lnSpc>
            <a:spcBef>
              <a:spcPct val="0"/>
            </a:spcBef>
            <a:spcAft>
              <a:spcPct val="35000"/>
            </a:spcAft>
            <a:buNone/>
          </a:pPr>
          <a:r>
            <a:rPr lang="en-US" sz="1300" kern="1200"/>
            <a:t>SKU </a:t>
          </a:r>
          <a:r>
            <a:rPr lang="zh-CN" sz="1300" kern="1200"/>
            <a:t>太多会占用仓容并提高管理复杂度</a:t>
          </a:r>
          <a:endParaRPr lang="en-US" sz="1300" kern="1200"/>
        </a:p>
      </dsp:txBody>
      <dsp:txXfrm>
        <a:off x="571307" y="1226291"/>
        <a:ext cx="7698556" cy="346292"/>
      </dsp:txXfrm>
    </dsp:sp>
    <dsp:sp modelId="{C43188E8-ECA0-CE45-8727-623264E24E6C}">
      <dsp:nvSpPr>
        <dsp:cNvPr id="0" name=""/>
        <dsp:cNvSpPr/>
      </dsp:nvSpPr>
      <dsp:spPr>
        <a:xfrm>
          <a:off x="0" y="1989117"/>
          <a:ext cx="1105146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DE2527-C15E-EF4F-A8D1-EFA2237781FB}">
      <dsp:nvSpPr>
        <dsp:cNvPr id="0" name=""/>
        <dsp:cNvSpPr/>
      </dsp:nvSpPr>
      <dsp:spPr>
        <a:xfrm>
          <a:off x="552573" y="1797237"/>
          <a:ext cx="7736024"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403" tIns="0" rIns="292403" bIns="0" numCol="1" spcCol="1270" anchor="ctr" anchorCtr="0">
          <a:noAutofit/>
        </a:bodyPr>
        <a:lstStyle/>
        <a:p>
          <a:pPr marL="0" lvl="0" indent="0" algn="l" defTabSz="577850">
            <a:lnSpc>
              <a:spcPct val="90000"/>
            </a:lnSpc>
            <a:spcBef>
              <a:spcPct val="0"/>
            </a:spcBef>
            <a:spcAft>
              <a:spcPct val="35000"/>
            </a:spcAft>
            <a:buNone/>
          </a:pPr>
          <a:r>
            <a:rPr lang="en-US" sz="1300" kern="1200"/>
            <a:t>SKU </a:t>
          </a:r>
          <a:r>
            <a:rPr lang="zh-CN" sz="1300" kern="1200"/>
            <a:t>太少会降低需求覆盖率并损害顾客体验</a:t>
          </a:r>
          <a:endParaRPr lang="en-US" sz="1300" kern="1200"/>
        </a:p>
      </dsp:txBody>
      <dsp:txXfrm>
        <a:off x="571307" y="1815971"/>
        <a:ext cx="7698556" cy="346292"/>
      </dsp:txXfrm>
    </dsp:sp>
    <dsp:sp modelId="{6D661B3C-8539-574C-9AD6-E8786DD5FD87}">
      <dsp:nvSpPr>
        <dsp:cNvPr id="0" name=""/>
        <dsp:cNvSpPr/>
      </dsp:nvSpPr>
      <dsp:spPr>
        <a:xfrm>
          <a:off x="0" y="2578797"/>
          <a:ext cx="11051464" cy="32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F9ADC8-71FB-5D47-B7C4-B7A200C56053}">
      <dsp:nvSpPr>
        <dsp:cNvPr id="0" name=""/>
        <dsp:cNvSpPr/>
      </dsp:nvSpPr>
      <dsp:spPr>
        <a:xfrm>
          <a:off x="552573" y="2386917"/>
          <a:ext cx="7736024"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403" tIns="0" rIns="292403" bIns="0" numCol="1" spcCol="1270" anchor="ctr" anchorCtr="0">
          <a:noAutofit/>
        </a:bodyPr>
        <a:lstStyle/>
        <a:p>
          <a:pPr marL="0" lvl="0" indent="0" algn="l" defTabSz="577850">
            <a:lnSpc>
              <a:spcPct val="90000"/>
            </a:lnSpc>
            <a:spcBef>
              <a:spcPct val="0"/>
            </a:spcBef>
            <a:spcAft>
              <a:spcPct val="35000"/>
            </a:spcAft>
            <a:buNone/>
          </a:pPr>
          <a:r>
            <a:rPr lang="zh-CN" sz="1300" kern="1200"/>
            <a:t>因此，前置仓必须在</a:t>
          </a:r>
          <a:r>
            <a:rPr lang="zh-CN" sz="1300" b="1" kern="1200"/>
            <a:t>选品广度</a:t>
          </a:r>
          <a:r>
            <a:rPr lang="zh-CN" sz="1300" kern="1200"/>
            <a:t>与</a:t>
          </a:r>
          <a:r>
            <a:rPr lang="zh-CN" sz="1300" b="1" kern="1200"/>
            <a:t>备货深度</a:t>
          </a:r>
          <a:r>
            <a:rPr lang="zh-CN" sz="1300" kern="1200"/>
            <a:t>之间做联合决策</a:t>
          </a:r>
          <a:endParaRPr lang="en-US" sz="1300" kern="1200"/>
        </a:p>
      </dsp:txBody>
      <dsp:txXfrm>
        <a:off x="571307" y="2405651"/>
        <a:ext cx="7698556"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862FB2-176B-D448-893C-90B87D66587E}">
      <dsp:nvSpPr>
        <dsp:cNvPr id="0" name=""/>
        <dsp:cNvSpPr/>
      </dsp:nvSpPr>
      <dsp:spPr>
        <a:xfrm>
          <a:off x="0" y="0"/>
          <a:ext cx="8414428" cy="754704"/>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三个问题</a:t>
          </a:r>
          <a:r>
            <a:rPr lang="zh-CN" sz="1800" b="1" kern="1200"/>
            <a:t>：</a:t>
          </a:r>
          <a:endParaRPr lang="en-US" sz="1800" kern="1200"/>
        </a:p>
      </dsp:txBody>
      <dsp:txXfrm>
        <a:off x="22105" y="22105"/>
        <a:ext cx="7511741" cy="710494"/>
      </dsp:txXfrm>
    </dsp:sp>
    <dsp:sp modelId="{3E946A6D-C140-1247-8645-F6D262ED712D}">
      <dsp:nvSpPr>
        <dsp:cNvPr id="0" name=""/>
        <dsp:cNvSpPr/>
      </dsp:nvSpPr>
      <dsp:spPr>
        <a:xfrm>
          <a:off x="628350" y="859525"/>
          <a:ext cx="8414428" cy="754704"/>
        </a:xfrm>
        <a:prstGeom prst="roundRect">
          <a:avLst>
            <a:gd name="adj" fmla="val 10000"/>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1.</a:t>
          </a:r>
          <a:r>
            <a:rPr lang="zh-CN" sz="1800" kern="1200"/>
            <a:t> 在双资源约束下，联合优化是否优于简单局部启发式方法？</a:t>
          </a:r>
          <a:endParaRPr lang="en-US" sz="1800" kern="1200"/>
        </a:p>
      </dsp:txBody>
      <dsp:txXfrm>
        <a:off x="650455" y="881630"/>
        <a:ext cx="7251309" cy="710494"/>
      </dsp:txXfrm>
    </dsp:sp>
    <dsp:sp modelId="{D4DCD024-A8EB-A24E-BA8F-305743C29E53}">
      <dsp:nvSpPr>
        <dsp:cNvPr id="0" name=""/>
        <dsp:cNvSpPr/>
      </dsp:nvSpPr>
      <dsp:spPr>
        <a:xfrm>
          <a:off x="1256700" y="1719050"/>
          <a:ext cx="8414428" cy="754704"/>
        </a:xfrm>
        <a:prstGeom prst="roundRect">
          <a:avLst>
            <a:gd name="adj" fmla="val 10000"/>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2. </a:t>
          </a:r>
          <a:r>
            <a:rPr lang="zh-CN" sz="1800" kern="1200"/>
            <a:t>将文献启发式 </a:t>
          </a:r>
          <a:r>
            <a:rPr lang="en-US" sz="1800" kern="1200"/>
            <a:t>baseline </a:t>
          </a:r>
          <a:r>
            <a:rPr lang="zh-CN" sz="1800" kern="1200"/>
            <a:t>纳入统一 </a:t>
          </a:r>
          <a:r>
            <a:rPr lang="en-US" sz="1800" kern="1200"/>
            <a:t>benchmark </a:t>
          </a:r>
          <a:r>
            <a:rPr lang="zh-CN" sz="1800" kern="1200"/>
            <a:t>后，主方法与基线方法的排序是否一致？</a:t>
          </a:r>
          <a:endParaRPr lang="en-US" sz="1800" kern="1200"/>
        </a:p>
      </dsp:txBody>
      <dsp:txXfrm>
        <a:off x="1278805" y="1741155"/>
        <a:ext cx="7251309" cy="710494"/>
      </dsp:txXfrm>
    </dsp:sp>
    <dsp:sp modelId="{E073F01B-6EAF-8843-B8F2-9501038D48FF}">
      <dsp:nvSpPr>
        <dsp:cNvPr id="0" name=""/>
        <dsp:cNvSpPr/>
      </dsp:nvSpPr>
      <dsp:spPr>
        <a:xfrm>
          <a:off x="1885050" y="2578575"/>
          <a:ext cx="8414428" cy="754704"/>
        </a:xfrm>
        <a:prstGeom prst="roundRect">
          <a:avLst>
            <a:gd name="adj" fmla="val 10000"/>
          </a:avLst>
        </a:prstGeom>
        <a:solidFill>
          <a:schemeClr val="accent2">
            <a:hueOff val="4832709"/>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3. </a:t>
          </a:r>
          <a:r>
            <a:rPr lang="zh-CN" sz="1800" kern="1200"/>
            <a:t>当评价口径从 </a:t>
          </a:r>
          <a:r>
            <a:rPr lang="en-US" sz="1800" kern="1200"/>
            <a:t>SKU </a:t>
          </a:r>
          <a:r>
            <a:rPr lang="zh-CN" sz="1800" kern="1200"/>
            <a:t>级 </a:t>
          </a:r>
          <a:r>
            <a:rPr lang="en-US" sz="1800" kern="1200"/>
            <a:t>fill rate </a:t>
          </a:r>
          <a:r>
            <a:rPr lang="zh-CN" sz="1800" kern="1200"/>
            <a:t>转向整单</a:t>
          </a:r>
          <a:r>
            <a:rPr lang="en-US" sz="1800" kern="1200"/>
            <a:t>/</a:t>
          </a:r>
          <a:r>
            <a:rPr lang="zh-CN" sz="1800" kern="1200"/>
            <a:t>部分履约时，结论是否会发生变化？</a:t>
          </a:r>
          <a:endParaRPr lang="en-US" sz="1800" kern="1200"/>
        </a:p>
      </dsp:txBody>
      <dsp:txXfrm>
        <a:off x="1907155" y="2600680"/>
        <a:ext cx="7251309" cy="710494"/>
      </dsp:txXfrm>
    </dsp:sp>
    <dsp:sp modelId="{8757B0BE-AC44-1547-B9BC-8BBE66F0858A}">
      <dsp:nvSpPr>
        <dsp:cNvPr id="0" name=""/>
        <dsp:cNvSpPr/>
      </dsp:nvSpPr>
      <dsp:spPr>
        <a:xfrm>
          <a:off x="2513400" y="3438100"/>
          <a:ext cx="8414428" cy="754704"/>
        </a:xfrm>
        <a:prstGeom prst="roundRect">
          <a:avLst>
            <a:gd name="adj" fmla="val 10000"/>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sz="1800" b="1" kern="1200"/>
            <a:t>核心目标</a:t>
          </a:r>
          <a:r>
            <a:rPr lang="zh-CN" sz="1800" kern="1200"/>
            <a:t>：在有限仓容下提升服务水平，并用更贴近业务 </a:t>
          </a:r>
          <a:r>
            <a:rPr lang="en-US" sz="1800" kern="1200"/>
            <a:t>KPI </a:t>
          </a:r>
          <a:r>
            <a:rPr lang="zh-CN" sz="1800" kern="1200"/>
            <a:t>的方式评价算法优劣。</a:t>
          </a:r>
          <a:endParaRPr lang="en-US" sz="1800" kern="1200"/>
        </a:p>
      </dsp:txBody>
      <dsp:txXfrm>
        <a:off x="2535505" y="3460205"/>
        <a:ext cx="7251309" cy="710494"/>
      </dsp:txXfrm>
    </dsp:sp>
    <dsp:sp modelId="{6F1C9952-EEBF-9343-BC3E-37E2F736045A}">
      <dsp:nvSpPr>
        <dsp:cNvPr id="0" name=""/>
        <dsp:cNvSpPr/>
      </dsp:nvSpPr>
      <dsp:spPr>
        <a:xfrm>
          <a:off x="7923870"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034246" y="551353"/>
        <a:ext cx="269806" cy="369145"/>
      </dsp:txXfrm>
    </dsp:sp>
    <dsp:sp modelId="{685B6762-F724-9047-A136-FB562C8E2E1A}">
      <dsp:nvSpPr>
        <dsp:cNvPr id="0" name=""/>
        <dsp:cNvSpPr/>
      </dsp:nvSpPr>
      <dsp:spPr>
        <a:xfrm>
          <a:off x="8552220" y="1410878"/>
          <a:ext cx="490558" cy="490558"/>
        </a:xfrm>
        <a:prstGeom prst="downArrow">
          <a:avLst>
            <a:gd name="adj1" fmla="val 55000"/>
            <a:gd name="adj2" fmla="val 45000"/>
          </a:avLst>
        </a:prstGeom>
        <a:solidFill>
          <a:schemeClr val="accent2">
            <a:tint val="40000"/>
            <a:alpha val="90000"/>
            <a:hueOff val="2244908"/>
            <a:satOff val="-20744"/>
            <a:lumOff val="-2338"/>
            <a:alphaOff val="0"/>
          </a:schemeClr>
        </a:solidFill>
        <a:ln w="19050" cap="flat" cmpd="sng" algn="ctr">
          <a:solidFill>
            <a:schemeClr val="accent2">
              <a:tint val="40000"/>
              <a:alpha val="90000"/>
              <a:hueOff val="2244908"/>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662596" y="1410878"/>
        <a:ext cx="269806" cy="369145"/>
      </dsp:txXfrm>
    </dsp:sp>
    <dsp:sp modelId="{DCC70538-962D-DD4A-8639-AAD51EC4F821}">
      <dsp:nvSpPr>
        <dsp:cNvPr id="0" name=""/>
        <dsp:cNvSpPr/>
      </dsp:nvSpPr>
      <dsp:spPr>
        <a:xfrm>
          <a:off x="9180570" y="2257825"/>
          <a:ext cx="490558" cy="490558"/>
        </a:xfrm>
        <a:prstGeom prst="downArrow">
          <a:avLst>
            <a:gd name="adj1" fmla="val 55000"/>
            <a:gd name="adj2" fmla="val 45000"/>
          </a:avLst>
        </a:prstGeom>
        <a:solidFill>
          <a:schemeClr val="accent2">
            <a:tint val="40000"/>
            <a:alpha val="90000"/>
            <a:hueOff val="4489816"/>
            <a:satOff val="-41488"/>
            <a:lumOff val="-4677"/>
            <a:alphaOff val="0"/>
          </a:schemeClr>
        </a:solidFill>
        <a:ln w="19050" cap="flat" cmpd="sng" algn="ctr">
          <a:solidFill>
            <a:schemeClr val="accent2">
              <a:tint val="40000"/>
              <a:alpha val="90000"/>
              <a:hueOff val="4489816"/>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290946" y="2257825"/>
        <a:ext cx="269806" cy="369145"/>
      </dsp:txXfrm>
    </dsp:sp>
    <dsp:sp modelId="{C6E5DA80-83A3-ED41-80ED-E478C583276C}">
      <dsp:nvSpPr>
        <dsp:cNvPr id="0" name=""/>
        <dsp:cNvSpPr/>
      </dsp:nvSpPr>
      <dsp:spPr>
        <a:xfrm>
          <a:off x="9808920" y="3125736"/>
          <a:ext cx="490558" cy="490558"/>
        </a:xfrm>
        <a:prstGeom prst="downArrow">
          <a:avLst>
            <a:gd name="adj1" fmla="val 55000"/>
            <a:gd name="adj2" fmla="val 45000"/>
          </a:avLst>
        </a:prstGeom>
        <a:solidFill>
          <a:schemeClr val="accent2">
            <a:tint val="40000"/>
            <a:alpha val="90000"/>
            <a:hueOff val="6734724"/>
            <a:satOff val="-62232"/>
            <a:lumOff val="-7015"/>
            <a:alphaOff val="0"/>
          </a:schemeClr>
        </a:solidFill>
        <a:ln w="19050" cap="flat" cmpd="sng" algn="ctr">
          <a:solidFill>
            <a:schemeClr val="accent2">
              <a:tint val="40000"/>
              <a:alpha val="90000"/>
              <a:hueOff val="6734724"/>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919296" y="3125736"/>
        <a:ext cx="269806" cy="3691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25579E-536A-6F47-B5F7-BBD5CBCAD21C}">
      <dsp:nvSpPr>
        <dsp:cNvPr id="0" name=""/>
        <dsp:cNvSpPr/>
      </dsp:nvSpPr>
      <dsp:spPr>
        <a:xfrm>
          <a:off x="9020426" y="936109"/>
          <a:ext cx="2480062" cy="248018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21AE29-D0D0-D34B-B6C0-5F889E1EE981}">
      <dsp:nvSpPr>
        <dsp:cNvPr id="0" name=""/>
        <dsp:cNvSpPr/>
      </dsp:nvSpPr>
      <dsp:spPr>
        <a:xfrm>
          <a:off x="9103379" y="1018796"/>
          <a:ext cx="2315221" cy="231481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RQ3：</a:t>
          </a:r>
          <a:r>
            <a:rPr lang="zh-CN" sz="1700" kern="1200" dirty="0"/>
            <a:t>聚合 </a:t>
          </a:r>
          <a:r>
            <a:rPr lang="en-US" sz="1700" kern="1200" dirty="0"/>
            <a:t>proxy </a:t>
          </a:r>
          <a:r>
            <a:rPr lang="zh-CN" sz="1700" kern="1200" dirty="0"/>
            <a:t>指标与订单级指标之间存在系统性差异</a:t>
          </a:r>
          <a:endParaRPr lang="en-US" sz="1700" kern="1200" dirty="0"/>
        </a:p>
      </dsp:txBody>
      <dsp:txXfrm>
        <a:off x="9434125" y="1349546"/>
        <a:ext cx="1653729" cy="1653314"/>
      </dsp:txXfrm>
    </dsp:sp>
    <dsp:sp modelId="{495AB936-1D44-D240-AF24-9CBAFD686384}">
      <dsp:nvSpPr>
        <dsp:cNvPr id="0" name=""/>
        <dsp:cNvSpPr/>
      </dsp:nvSpPr>
      <dsp:spPr>
        <a:xfrm rot="2700000">
          <a:off x="6446756" y="935934"/>
          <a:ext cx="2480103" cy="2480103"/>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047363-620F-2F4D-8604-7AA17949E0CE}">
      <dsp:nvSpPr>
        <dsp:cNvPr id="0" name=""/>
        <dsp:cNvSpPr/>
      </dsp:nvSpPr>
      <dsp:spPr>
        <a:xfrm>
          <a:off x="6526380" y="1029190"/>
          <a:ext cx="2315221" cy="231481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RQ2：</a:t>
          </a:r>
          <a:r>
            <a:rPr lang="zh-CN" sz="1700" kern="1200"/>
            <a:t>文献启发式 </a:t>
          </a:r>
          <a:r>
            <a:rPr lang="en-US" sz="1700" kern="1200"/>
            <a:t>baseline </a:t>
          </a:r>
          <a:r>
            <a:rPr lang="zh-CN" sz="1700" kern="1200"/>
            <a:t>是一个强 </a:t>
          </a:r>
          <a:r>
            <a:rPr lang="en-US" sz="1700" kern="1200"/>
            <a:t>benchmark，</a:t>
          </a:r>
          <a:r>
            <a:rPr lang="zh-CN" sz="1700" kern="1200"/>
            <a:t>但其优势依赖于评价口径</a:t>
          </a:r>
          <a:endParaRPr lang="en-US" sz="1700" kern="1200"/>
        </a:p>
      </dsp:txBody>
      <dsp:txXfrm>
        <a:off x="6857126" y="1359940"/>
        <a:ext cx="1653729" cy="1653314"/>
      </dsp:txXfrm>
    </dsp:sp>
    <dsp:sp modelId="{C9510006-7CE5-2B4F-8217-5D800F1CDD8C}">
      <dsp:nvSpPr>
        <dsp:cNvPr id="0" name=""/>
        <dsp:cNvSpPr/>
      </dsp:nvSpPr>
      <dsp:spPr>
        <a:xfrm rot="2700000">
          <a:off x="3894376" y="935934"/>
          <a:ext cx="2480103" cy="2480103"/>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B68B5F-A8D0-8E47-81C7-07A3746B13C7}">
      <dsp:nvSpPr>
        <dsp:cNvPr id="0" name=""/>
        <dsp:cNvSpPr/>
      </dsp:nvSpPr>
      <dsp:spPr>
        <a:xfrm>
          <a:off x="3977349" y="1018796"/>
          <a:ext cx="2315221" cy="231481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RQ1：</a:t>
          </a:r>
          <a:r>
            <a:rPr lang="zh-CN" sz="1700" kern="1200"/>
            <a:t>联合优化总体优于简单局部启发式</a:t>
          </a:r>
          <a:endParaRPr lang="en-US" sz="1700" kern="1200"/>
        </a:p>
      </dsp:txBody>
      <dsp:txXfrm>
        <a:off x="4308095" y="1349546"/>
        <a:ext cx="1653729" cy="1653314"/>
      </dsp:txXfrm>
    </dsp:sp>
    <dsp:sp modelId="{B19B6A78-DD58-FB42-964C-399AE3AF40B2}">
      <dsp:nvSpPr>
        <dsp:cNvPr id="0" name=""/>
        <dsp:cNvSpPr/>
      </dsp:nvSpPr>
      <dsp:spPr>
        <a:xfrm rot="2700000">
          <a:off x="1331361" y="935934"/>
          <a:ext cx="2480103" cy="2480103"/>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709294-4F7C-5D45-86A2-44183EAE077B}">
      <dsp:nvSpPr>
        <dsp:cNvPr id="0" name=""/>
        <dsp:cNvSpPr/>
      </dsp:nvSpPr>
      <dsp:spPr>
        <a:xfrm>
          <a:off x="1414334" y="1018796"/>
          <a:ext cx="2315221" cy="231481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zh-CN" sz="1700" b="1" kern="1200"/>
            <a:t>对研究问题的回答</a:t>
          </a:r>
          <a:endParaRPr lang="en-US" sz="1700" kern="1200"/>
        </a:p>
      </dsp:txBody>
      <dsp:txXfrm>
        <a:off x="1745080" y="1349546"/>
        <a:ext cx="1653729" cy="165331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15219-B545-F742-ACDE-C58DAFED9D20}" type="datetimeFigureOut">
              <a:rPr lang="en-US" smtClean="0"/>
              <a:t>4/26/26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87E80-DC82-DB4E-8ABE-54E600188643}" type="slidenum">
              <a:rPr lang="en-US" smtClean="0"/>
              <a:t>‹#›</a:t>
            </a:fld>
            <a:endParaRPr lang="en-US"/>
          </a:p>
        </p:txBody>
      </p:sp>
    </p:spTree>
    <p:extLst>
      <p:ext uri="{BB962C8B-B14F-4D97-AF65-F5344CB8AC3E}">
        <p14:creationId xmlns:p14="http://schemas.microsoft.com/office/powerpoint/2010/main" val="367797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387E80-DC82-DB4E-8ABE-54E600188643}" type="slidenum">
              <a:rPr lang="en-US" smtClean="0"/>
              <a:t>13</a:t>
            </a:fld>
            <a:endParaRPr lang="en-US"/>
          </a:p>
        </p:txBody>
      </p:sp>
    </p:spTree>
    <p:extLst>
      <p:ext uri="{BB962C8B-B14F-4D97-AF65-F5344CB8AC3E}">
        <p14:creationId xmlns:p14="http://schemas.microsoft.com/office/powerpoint/2010/main" val="34926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7A8AA-E150-317C-C1A9-72A750EC3F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E101D4-E1E1-B3AD-1B53-BE1E68252D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C51C1D-7DC3-5033-0419-5D24AA00BD94}"/>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E506B33C-940F-9D79-03B0-4B812883AA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1F5F37-1082-2A1B-A1F9-31B04A5CA2B5}"/>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69990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82E4-1128-9868-2E2B-11EF5D83E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01E353-15C9-597F-AB86-09578FD008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FC547B-01A0-EB84-7621-7D5E270AF544}"/>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AC1BB6A7-D959-1E73-408F-6A8ACA2E6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1A470-153D-3F78-4B98-CE370E35073A}"/>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3089634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41E95-B72F-7F71-F000-89195FB66F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0F4630-E8F1-35C1-F023-2ACA9703DA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6F79A6-5EAD-7B79-5615-1F1F5E29E627}"/>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C048C37A-6EB3-AA91-4EF1-2D7E20BE5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9ED89-5135-EF82-998D-67A9FF996B50}"/>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1906403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B02BB-29C8-AEB0-3236-C92721E58C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C2EAE0-3CBC-8181-69F6-039294DF85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330D61-6882-FB2E-7196-527FEB1945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C3CBFA-797A-A3BB-C063-2F24D187A301}"/>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6" name="Footer Placeholder 5">
            <a:extLst>
              <a:ext uri="{FF2B5EF4-FFF2-40B4-BE49-F238E27FC236}">
                <a16:creationId xmlns:a16="http://schemas.microsoft.com/office/drawing/2014/main" id="{C7460670-83D7-80CA-2EF7-F101474B12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7B2B96-E096-E7C8-D9A4-F4769FE5413C}"/>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737089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7EA7-389A-F268-CECB-EFA39E7C10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5AFE2A-CD60-3350-20E0-E4F6FAA36E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3E6059-F0CA-19E0-2F2B-57A17801F2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2F9E93-A088-EAFD-2F8A-C167750276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4D3D77-8F51-FB0A-70EA-6185D9DFBB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BBD0A4-2181-C179-D24F-9E14C1CD64ED}"/>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8" name="Footer Placeholder 7">
            <a:extLst>
              <a:ext uri="{FF2B5EF4-FFF2-40B4-BE49-F238E27FC236}">
                <a16:creationId xmlns:a16="http://schemas.microsoft.com/office/drawing/2014/main" id="{C6E59DA5-EF66-EAFD-29FD-1A5CAA45EB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E3DFFF-97A0-D68C-C7EC-E7B0E8FECF77}"/>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1866156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05BE-2591-3705-B18C-75788268D2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B6A254-7C4A-5833-D635-AC76A47F4E26}"/>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4" name="Footer Placeholder 3">
            <a:extLst>
              <a:ext uri="{FF2B5EF4-FFF2-40B4-BE49-F238E27FC236}">
                <a16:creationId xmlns:a16="http://schemas.microsoft.com/office/drawing/2014/main" id="{48C3DA50-8CF3-7306-5982-7571710830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C2B259-206A-4CDA-23F8-5032AC077998}"/>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270903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7B0996-59BC-6537-055E-ACBCE2D8DF9D}"/>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3" name="Footer Placeholder 2">
            <a:extLst>
              <a:ext uri="{FF2B5EF4-FFF2-40B4-BE49-F238E27FC236}">
                <a16:creationId xmlns:a16="http://schemas.microsoft.com/office/drawing/2014/main" id="{82676792-2299-AECC-0DD3-65875EE32B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F85627-E902-66AA-3F39-A106D1A4C027}"/>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3702641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B7D71-2917-D90D-E9F1-7D9D5C223F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71A1EF-DC79-2198-EA8F-9D77672530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5DA33E-B331-06DC-A99E-1EED1EB7C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C96527-9EBC-B976-7C99-E0A2C2C68654}"/>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6" name="Footer Placeholder 5">
            <a:extLst>
              <a:ext uri="{FF2B5EF4-FFF2-40B4-BE49-F238E27FC236}">
                <a16:creationId xmlns:a16="http://schemas.microsoft.com/office/drawing/2014/main" id="{278B4715-9504-8EBF-F92F-AB30040DDE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BE65C-E18C-0A8A-E48B-E7C21B6613FA}"/>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088850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4A43F-A72A-A81A-BFFC-8BC56A709F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B17767-DF0E-37F9-40C0-BD4BB3E41B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F6E17F-6B3F-D310-718F-7D6D6479C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2E65D9-E257-9E9B-0D68-E25AC8F7E570}"/>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6" name="Footer Placeholder 5">
            <a:extLst>
              <a:ext uri="{FF2B5EF4-FFF2-40B4-BE49-F238E27FC236}">
                <a16:creationId xmlns:a16="http://schemas.microsoft.com/office/drawing/2014/main" id="{5CD3BFB3-BBE7-4E99-8815-BFFC5DA8DF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BA330C-DA8A-B7EC-0589-3ED4C5DBC5FB}"/>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89149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9ACAF-16F9-E251-38A7-48ACF65001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4A24C5-881A-E42C-1193-3435C8091D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0AF2E-326A-25D2-16E1-71EA65E16A97}"/>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A52851A2-EF69-680D-0B92-0142D90F09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0140E-893D-A444-5746-3FB847900D92}"/>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3437570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E42391-8375-7BF7-BCE5-430C3E15E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FBB9F3-6528-2DE3-9CCA-38116DA11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ECA79-4042-5786-9C91-0E5093232D28}"/>
              </a:ext>
            </a:extLst>
          </p:cNvPr>
          <p:cNvSpPr>
            <a:spLocks noGrp="1"/>
          </p:cNvSpPr>
          <p:nvPr>
            <p:ph type="dt" sz="half" idx="10"/>
          </p:nvPr>
        </p:nvSpPr>
        <p:spPr/>
        <p:txBody>
          <a:body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18B69742-FD5D-B78C-1489-01189F238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48FA61-1A92-83A0-E6C9-B7EA8E0B1E87}"/>
              </a:ext>
            </a:extLst>
          </p:cNvPr>
          <p:cNvSpPr>
            <a:spLocks noGrp="1"/>
          </p:cNvSpPr>
          <p:nvPr>
            <p:ph type="sldNum" sz="quarter" idx="12"/>
          </p:nvPr>
        </p:nvSpPr>
        <p:spPr/>
        <p:txBody>
          <a:bodyPr/>
          <a:lstStyle/>
          <a:p>
            <a:fld id="{1046D4F9-7609-5648-99E0-DEB5C060252E}" type="slidenum">
              <a:rPr lang="en-US" smtClean="0"/>
              <a:t>‹#›</a:t>
            </a:fld>
            <a:endParaRPr lang="en-US"/>
          </a:p>
        </p:txBody>
      </p:sp>
    </p:spTree>
    <p:extLst>
      <p:ext uri="{BB962C8B-B14F-4D97-AF65-F5344CB8AC3E}">
        <p14:creationId xmlns:p14="http://schemas.microsoft.com/office/powerpoint/2010/main" val="2843443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C443BA-8FE9-4627-CBD9-69EAB8C1CF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17F193-35B0-22D0-D7C7-0F04EEC75B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9012B-B4B4-C65E-B6F2-0814D49B99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710069-D10A-0740-91CB-CD7096934637}" type="datetimeFigureOut">
              <a:rPr lang="en-US" smtClean="0"/>
              <a:t>4/26/26</a:t>
            </a:fld>
            <a:endParaRPr lang="en-US"/>
          </a:p>
        </p:txBody>
      </p:sp>
      <p:sp>
        <p:nvSpPr>
          <p:cNvPr id="5" name="Footer Placeholder 4">
            <a:extLst>
              <a:ext uri="{FF2B5EF4-FFF2-40B4-BE49-F238E27FC236}">
                <a16:creationId xmlns:a16="http://schemas.microsoft.com/office/drawing/2014/main" id="{45082F8D-6C2D-44B1-703A-9B968A1FE7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D75AAD-8344-8F12-90E8-84FBE05A5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46D4F9-7609-5648-99E0-DEB5C060252E}" type="slidenum">
              <a:rPr lang="en-US" smtClean="0"/>
              <a:t>‹#›</a:t>
            </a:fld>
            <a:endParaRPr lang="en-US"/>
          </a:p>
        </p:txBody>
      </p:sp>
    </p:spTree>
    <p:extLst>
      <p:ext uri="{BB962C8B-B14F-4D97-AF65-F5344CB8AC3E}">
        <p14:creationId xmlns:p14="http://schemas.microsoft.com/office/powerpoint/2010/main" val="2310116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544A8D4-BCCB-17E8-1157-805E6AE9DECF}"/>
              </a:ext>
            </a:extLst>
          </p:cNvPr>
          <p:cNvSpPr>
            <a:spLocks noGrp="1"/>
          </p:cNvSpPr>
          <p:nvPr>
            <p:ph type="ctrTitle"/>
          </p:nvPr>
        </p:nvSpPr>
        <p:spPr>
          <a:xfrm>
            <a:off x="1314824" y="735106"/>
            <a:ext cx="10053763" cy="2928470"/>
          </a:xfrm>
        </p:spPr>
        <p:txBody>
          <a:bodyPr anchor="b">
            <a:normAutofit/>
          </a:bodyPr>
          <a:lstStyle/>
          <a:p>
            <a:pPr algn="l"/>
            <a:r>
              <a:rPr lang="zh-CN" altLang="en-US" sz="4800">
                <a:solidFill>
                  <a:srgbClr val="FFFFFF"/>
                </a:solidFill>
              </a:rPr>
              <a:t>即时零售前置仓 </a:t>
            </a:r>
            <a:r>
              <a:rPr lang="en-US" sz="4800">
                <a:solidFill>
                  <a:srgbClr val="FFFFFF"/>
                </a:solidFill>
              </a:rPr>
              <a:t>SKU </a:t>
            </a:r>
            <a:r>
              <a:rPr lang="zh-CN" altLang="en-US" sz="4800">
                <a:solidFill>
                  <a:srgbClr val="FFFFFF"/>
                </a:solidFill>
              </a:rPr>
              <a:t>选品与库存配置联合优化研究</a:t>
            </a:r>
            <a:endParaRPr lang="en-US" sz="4800">
              <a:solidFill>
                <a:srgbClr val="FFFFFF"/>
              </a:solidFill>
            </a:endParaRPr>
          </a:p>
        </p:txBody>
      </p:sp>
      <p:sp>
        <p:nvSpPr>
          <p:cNvPr id="3" name="Subtitle 2">
            <a:extLst>
              <a:ext uri="{FF2B5EF4-FFF2-40B4-BE49-F238E27FC236}">
                <a16:creationId xmlns:a16="http://schemas.microsoft.com/office/drawing/2014/main" id="{3295287C-483E-3943-639D-D576E4CA26B0}"/>
              </a:ext>
            </a:extLst>
          </p:cNvPr>
          <p:cNvSpPr>
            <a:spLocks noGrp="1"/>
          </p:cNvSpPr>
          <p:nvPr>
            <p:ph type="subTitle" idx="1"/>
          </p:nvPr>
        </p:nvSpPr>
        <p:spPr>
          <a:xfrm>
            <a:off x="1350682" y="4870824"/>
            <a:ext cx="10005951" cy="1458258"/>
          </a:xfrm>
        </p:spPr>
        <p:txBody>
          <a:bodyPr anchor="ctr">
            <a:normAutofit/>
          </a:bodyPr>
          <a:lstStyle/>
          <a:p>
            <a:pPr algn="l"/>
            <a:r>
              <a:rPr lang="en-US" dirty="0" err="1"/>
              <a:t>汇报人</a:t>
            </a:r>
            <a:r>
              <a:rPr lang="zh-CN" altLang="en-US" dirty="0"/>
              <a:t>：王牧天</a:t>
            </a:r>
            <a:endParaRPr lang="en-US" altLang="zh-CN"/>
          </a:p>
          <a:p>
            <a:pPr algn="l"/>
            <a:endParaRPr lang="en-US"/>
          </a:p>
        </p:txBody>
      </p:sp>
    </p:spTree>
    <p:extLst>
      <p:ext uri="{BB962C8B-B14F-4D97-AF65-F5344CB8AC3E}">
        <p14:creationId xmlns:p14="http://schemas.microsoft.com/office/powerpoint/2010/main" val="29000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3455-E88E-65A5-AB79-DE233CC622B3}"/>
              </a:ext>
            </a:extLst>
          </p:cNvPr>
          <p:cNvSpPr>
            <a:spLocks noGrp="1"/>
          </p:cNvSpPr>
          <p:nvPr>
            <p:ph type="title"/>
          </p:nvPr>
        </p:nvSpPr>
        <p:spPr>
          <a:xfrm>
            <a:off x="-1" y="0"/>
            <a:ext cx="10802679" cy="910782"/>
          </a:xfrm>
        </p:spPr>
        <p:txBody>
          <a:bodyPr>
            <a:normAutofit/>
          </a:bodyPr>
          <a:lstStyle/>
          <a:p>
            <a:r>
              <a:rPr lang="en-US" dirty="0" err="1">
                <a:solidFill>
                  <a:schemeClr val="tx2">
                    <a:lumMod val="90000"/>
                    <a:lumOff val="10000"/>
                  </a:schemeClr>
                </a:solidFill>
              </a:rPr>
              <a:t>研究背景</a:t>
            </a:r>
            <a:r>
              <a:rPr lang="zh-CN" altLang="en-US" dirty="0">
                <a:solidFill>
                  <a:schemeClr val="tx2">
                    <a:lumMod val="90000"/>
                    <a:lumOff val="10000"/>
                  </a:schemeClr>
                </a:solidFill>
              </a:rPr>
              <a:t>：前置仓运营中的核心矛盾</a:t>
            </a:r>
            <a:endParaRPr lang="en-US" dirty="0">
              <a:solidFill>
                <a:schemeClr val="tx2">
                  <a:lumMod val="90000"/>
                  <a:lumOff val="10000"/>
                </a:schemeClr>
              </a:solidFill>
            </a:endParaRPr>
          </a:p>
        </p:txBody>
      </p:sp>
      <p:graphicFrame>
        <p:nvGraphicFramePr>
          <p:cNvPr id="6" name="Content Placeholder 2">
            <a:extLst>
              <a:ext uri="{FF2B5EF4-FFF2-40B4-BE49-F238E27FC236}">
                <a16:creationId xmlns:a16="http://schemas.microsoft.com/office/drawing/2014/main" id="{5E00E123-F07A-4D35-EB24-6D103DCBB26B}"/>
              </a:ext>
            </a:extLst>
          </p:cNvPr>
          <p:cNvGraphicFramePr>
            <a:graphicFrameLocks noGrp="1"/>
          </p:cNvGraphicFramePr>
          <p:nvPr>
            <p:ph idx="1"/>
            <p:extLst>
              <p:ext uri="{D42A27DB-BD31-4B8C-83A1-F6EECF244321}">
                <p14:modId xmlns:p14="http://schemas.microsoft.com/office/powerpoint/2010/main" val="2550753749"/>
              </p:ext>
            </p:extLst>
          </p:nvPr>
        </p:nvGraphicFramePr>
        <p:xfrm>
          <a:off x="954269" y="1303867"/>
          <a:ext cx="11051464" cy="2934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581FBE0-EB3C-049D-D38B-601E390F75B1}"/>
              </a:ext>
            </a:extLst>
          </p:cNvPr>
          <p:cNvSpPr txBox="1"/>
          <p:nvPr/>
        </p:nvSpPr>
        <p:spPr>
          <a:xfrm>
            <a:off x="170119" y="5137757"/>
            <a:ext cx="12021879" cy="861774"/>
          </a:xfrm>
          <a:prstGeom prst="rect">
            <a:avLst/>
          </a:prstGeom>
          <a:noFill/>
        </p:spPr>
        <p:txBody>
          <a:bodyPr wrap="square" rtlCol="0">
            <a:spAutoFit/>
          </a:bodyPr>
          <a:lstStyle/>
          <a:p>
            <a:r>
              <a:rPr lang="en-US" sz="5000" dirty="0" err="1">
                <a:solidFill>
                  <a:srgbClr val="FF0000"/>
                </a:solidFill>
              </a:rPr>
              <a:t>消费者需求</a:t>
            </a:r>
            <a:r>
              <a:rPr lang="zh-CN" altLang="en-US" sz="5000" dirty="0">
                <a:solidFill>
                  <a:srgbClr val="FF0000"/>
                </a:solidFill>
              </a:rPr>
              <a:t> </a:t>
            </a:r>
            <a:r>
              <a:rPr lang="en-US" altLang="zh-CN" sz="5000" dirty="0">
                <a:solidFill>
                  <a:srgbClr val="FF0000"/>
                </a:solidFill>
              </a:rPr>
              <a:t>VS</a:t>
            </a:r>
            <a:r>
              <a:rPr lang="zh-CN" altLang="en-US" sz="5000" dirty="0">
                <a:solidFill>
                  <a:srgbClr val="FF0000"/>
                </a:solidFill>
              </a:rPr>
              <a:t> 仓容有限 </a:t>
            </a:r>
            <a:r>
              <a:rPr lang="en-US" altLang="zh-CN" sz="5000" dirty="0">
                <a:solidFill>
                  <a:srgbClr val="FF0000"/>
                </a:solidFill>
              </a:rPr>
              <a:t>VS</a:t>
            </a:r>
            <a:r>
              <a:rPr lang="zh-CN" altLang="en-US" sz="5000" dirty="0">
                <a:solidFill>
                  <a:srgbClr val="FF0000"/>
                </a:solidFill>
              </a:rPr>
              <a:t> 缺货</a:t>
            </a:r>
            <a:r>
              <a:rPr lang="en-US" altLang="zh-CN" sz="5000" dirty="0">
                <a:solidFill>
                  <a:srgbClr val="FF0000"/>
                </a:solidFill>
              </a:rPr>
              <a:t>/</a:t>
            </a:r>
            <a:r>
              <a:rPr lang="zh-CN" altLang="en-US" sz="5000" dirty="0">
                <a:solidFill>
                  <a:srgbClr val="FF0000"/>
                </a:solidFill>
              </a:rPr>
              <a:t>滞销风险</a:t>
            </a:r>
            <a:endParaRPr lang="en-US" sz="5000" dirty="0">
              <a:solidFill>
                <a:srgbClr val="FF0000"/>
              </a:solidFill>
            </a:endParaRPr>
          </a:p>
        </p:txBody>
      </p:sp>
    </p:spTree>
    <p:extLst>
      <p:ext uri="{BB962C8B-B14F-4D97-AF65-F5344CB8AC3E}">
        <p14:creationId xmlns:p14="http://schemas.microsoft.com/office/powerpoint/2010/main" val="2858360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91E2D20-BC4A-D1A3-A26E-CD240D204A37}"/>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a:solidFill>
                  <a:srgbClr val="FFFFFF"/>
                </a:solidFill>
              </a:rPr>
              <a:t>目标</a:t>
            </a:r>
          </a:p>
        </p:txBody>
      </p:sp>
      <p:graphicFrame>
        <p:nvGraphicFramePr>
          <p:cNvPr id="5" name="Content Placeholder 2">
            <a:extLst>
              <a:ext uri="{FF2B5EF4-FFF2-40B4-BE49-F238E27FC236}">
                <a16:creationId xmlns:a16="http://schemas.microsoft.com/office/drawing/2014/main" id="{C7213C8A-1A02-6BB7-BB4D-ADEC44FD93CE}"/>
              </a:ext>
            </a:extLst>
          </p:cNvPr>
          <p:cNvGraphicFramePr>
            <a:graphicFrameLocks noGrp="1"/>
          </p:cNvGraphicFramePr>
          <p:nvPr>
            <p:ph idx="1"/>
            <p:extLst>
              <p:ext uri="{D42A27DB-BD31-4B8C-83A1-F6EECF244321}">
                <p14:modId xmlns:p14="http://schemas.microsoft.com/office/powerpoint/2010/main" val="208980085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0190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4556E1-48FE-B73A-6795-C48C553663AA}"/>
              </a:ext>
            </a:extLst>
          </p:cNvPr>
          <p:cNvSpPr>
            <a:spLocks noGrp="1"/>
          </p:cNvSpPr>
          <p:nvPr>
            <p:ph idx="1"/>
          </p:nvPr>
        </p:nvSpPr>
        <p:spPr>
          <a:xfrm>
            <a:off x="0" y="1148871"/>
            <a:ext cx="12192000" cy="5443316"/>
          </a:xfrm>
        </p:spPr>
        <p:txBody>
          <a:bodyPr>
            <a:normAutofit/>
          </a:bodyPr>
          <a:lstStyle/>
          <a:p>
            <a:pPr marL="0" indent="0">
              <a:buNone/>
            </a:pPr>
            <a:r>
              <a:rPr lang="zh-CN" altLang="en-US" dirty="0"/>
              <a:t>现有研究主要分为三类：</a:t>
            </a:r>
          </a:p>
          <a:p>
            <a:pPr marL="514350" indent="-514350">
              <a:buFont typeface="+mj-lt"/>
              <a:buAutoNum type="arabicPeriod"/>
            </a:pPr>
            <a:r>
              <a:rPr lang="en-US" b="1" dirty="0"/>
              <a:t>Assortment optimization</a:t>
            </a:r>
            <a:r>
              <a:rPr lang="en-US" dirty="0"/>
              <a:t>：</a:t>
            </a:r>
            <a:r>
              <a:rPr lang="zh-CN" altLang="en-US" dirty="0"/>
              <a:t>关注“放哪些商品”，较少同时处理库存深度</a:t>
            </a:r>
          </a:p>
          <a:p>
            <a:pPr marL="514350" indent="-514350">
              <a:buFont typeface="+mj-lt"/>
              <a:buAutoNum type="arabicPeriod"/>
            </a:pPr>
            <a:r>
              <a:rPr lang="en-US" b="1" dirty="0"/>
              <a:t>Inventory planning</a:t>
            </a:r>
            <a:r>
              <a:rPr lang="en-US" dirty="0"/>
              <a:t>：</a:t>
            </a:r>
            <a:r>
              <a:rPr lang="zh-CN" altLang="en-US" dirty="0"/>
              <a:t>关注“给定商品后放多少”，通常不处理 </a:t>
            </a:r>
            <a:r>
              <a:rPr lang="en-US" dirty="0"/>
              <a:t>SKU </a:t>
            </a:r>
            <a:r>
              <a:rPr lang="zh-CN" altLang="en-US" dirty="0"/>
              <a:t>进入决策</a:t>
            </a:r>
          </a:p>
          <a:p>
            <a:pPr marL="514350" indent="-514350">
              <a:buFont typeface="+mj-lt"/>
              <a:buAutoNum type="arabicPeriod"/>
            </a:pPr>
            <a:r>
              <a:rPr lang="en-US" b="1" dirty="0"/>
              <a:t>Joint assortment-inventory optimization</a:t>
            </a:r>
            <a:r>
              <a:rPr lang="en-US" dirty="0"/>
              <a:t>：</a:t>
            </a:r>
            <a:r>
              <a:rPr lang="zh-CN" altLang="en-US" dirty="0"/>
              <a:t>更接近本文问题，但往往依赖更强的数据条件或替代行为建模</a:t>
            </a:r>
          </a:p>
          <a:p>
            <a:pPr marL="0" indent="0">
              <a:buNone/>
            </a:pPr>
            <a:r>
              <a:rPr lang="zh-CN" altLang="en-US" b="1" dirty="0"/>
              <a:t>本文定位</a:t>
            </a:r>
            <a:endParaRPr lang="zh-CN" altLang="en-US" dirty="0"/>
          </a:p>
          <a:p>
            <a:r>
              <a:rPr lang="zh-CN" altLang="en-US" dirty="0"/>
              <a:t>研究对象：前置仓、小仓、双资源约束场景</a:t>
            </a:r>
          </a:p>
          <a:p>
            <a:r>
              <a:rPr lang="zh-CN" altLang="en-US" dirty="0"/>
              <a:t>研究问题：</a:t>
            </a:r>
            <a:r>
              <a:rPr lang="en-US" dirty="0"/>
              <a:t>SKU </a:t>
            </a:r>
            <a:r>
              <a:rPr lang="zh-CN" altLang="en-US" dirty="0"/>
              <a:t>是否进入 </a:t>
            </a:r>
            <a:r>
              <a:rPr lang="en-US" altLang="zh-CN" dirty="0"/>
              <a:t>+ </a:t>
            </a:r>
            <a:r>
              <a:rPr lang="zh-CN" altLang="en-US" dirty="0"/>
              <a:t>进入后备多少</a:t>
            </a:r>
          </a:p>
          <a:p>
            <a:r>
              <a:rPr lang="zh-CN" altLang="en-US" dirty="0"/>
              <a:t>研究特征：真实历史需求、滚动窗口、订单级 </a:t>
            </a:r>
            <a:r>
              <a:rPr lang="en-US" dirty="0"/>
              <a:t>replay</a:t>
            </a:r>
            <a:r>
              <a:rPr lang="zh-CN" altLang="en-US" dirty="0"/>
              <a:t>、</a:t>
            </a:r>
            <a:r>
              <a:rPr lang="en-US" dirty="0"/>
              <a:t>literature-inspired benchmark</a:t>
            </a:r>
          </a:p>
          <a:p>
            <a:endParaRPr lang="en-US" dirty="0"/>
          </a:p>
        </p:txBody>
      </p:sp>
      <p:sp>
        <p:nvSpPr>
          <p:cNvPr id="4" name="Title 1">
            <a:extLst>
              <a:ext uri="{FF2B5EF4-FFF2-40B4-BE49-F238E27FC236}">
                <a16:creationId xmlns:a16="http://schemas.microsoft.com/office/drawing/2014/main" id="{4C1F0ED1-C03D-DE31-C13A-99734CE52DB0}"/>
              </a:ext>
            </a:extLst>
          </p:cNvPr>
          <p:cNvSpPr txBox="1">
            <a:spLocks/>
          </p:cNvSpPr>
          <p:nvPr/>
        </p:nvSpPr>
        <p:spPr>
          <a:xfrm>
            <a:off x="0" y="18256"/>
            <a:ext cx="1947530" cy="66278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solidFill>
                  <a:schemeClr val="tx2">
                    <a:lumMod val="90000"/>
                    <a:lumOff val="10000"/>
                  </a:schemeClr>
                </a:solidFill>
              </a:rPr>
              <a:t>文献综述</a:t>
            </a:r>
            <a:endParaRPr lang="en-US" dirty="0">
              <a:solidFill>
                <a:schemeClr val="tx2">
                  <a:lumMod val="90000"/>
                  <a:lumOff val="10000"/>
                </a:schemeClr>
              </a:solidFill>
            </a:endParaRPr>
          </a:p>
        </p:txBody>
      </p:sp>
    </p:spTree>
    <p:extLst>
      <p:ext uri="{BB962C8B-B14F-4D97-AF65-F5344CB8AC3E}">
        <p14:creationId xmlns:p14="http://schemas.microsoft.com/office/powerpoint/2010/main" val="48484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ounded Rectangle 52">
            <a:extLst>
              <a:ext uri="{FF2B5EF4-FFF2-40B4-BE49-F238E27FC236}">
                <a16:creationId xmlns:a16="http://schemas.microsoft.com/office/drawing/2014/main" id="{732CC578-9C3F-1A40-0D3A-8060DF748DFA}"/>
              </a:ext>
            </a:extLst>
          </p:cNvPr>
          <p:cNvSpPr/>
          <p:nvPr/>
        </p:nvSpPr>
        <p:spPr>
          <a:xfrm>
            <a:off x="9142709" y="4666356"/>
            <a:ext cx="1708045"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CCEAC2E9-6CFC-2A51-A9BB-9BD3ECA77817}"/>
              </a:ext>
            </a:extLst>
          </p:cNvPr>
          <p:cNvSpPr/>
          <p:nvPr/>
        </p:nvSpPr>
        <p:spPr>
          <a:xfrm>
            <a:off x="4771861" y="4628787"/>
            <a:ext cx="2056435"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2D1465E8-55D2-6572-13BE-8EA7401A8CA2}"/>
              </a:ext>
            </a:extLst>
          </p:cNvPr>
          <p:cNvSpPr/>
          <p:nvPr/>
        </p:nvSpPr>
        <p:spPr>
          <a:xfrm>
            <a:off x="788957" y="4678583"/>
            <a:ext cx="1735975"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90202DC5-32BF-6539-6484-BE8554142670}"/>
              </a:ext>
            </a:extLst>
          </p:cNvPr>
          <p:cNvSpPr/>
          <p:nvPr/>
        </p:nvSpPr>
        <p:spPr>
          <a:xfrm>
            <a:off x="905356" y="3039570"/>
            <a:ext cx="1566621"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a:extLst>
              <a:ext uri="{FF2B5EF4-FFF2-40B4-BE49-F238E27FC236}">
                <a16:creationId xmlns:a16="http://schemas.microsoft.com/office/drawing/2014/main" id="{3D7E8970-02A2-A4F1-B0FD-58F2C45272D6}"/>
              </a:ext>
            </a:extLst>
          </p:cNvPr>
          <p:cNvSpPr/>
          <p:nvPr/>
        </p:nvSpPr>
        <p:spPr>
          <a:xfrm>
            <a:off x="5135753" y="3027358"/>
            <a:ext cx="1398720"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a:extLst>
              <a:ext uri="{FF2B5EF4-FFF2-40B4-BE49-F238E27FC236}">
                <a16:creationId xmlns:a16="http://schemas.microsoft.com/office/drawing/2014/main" id="{71507FE6-AA1F-8820-3221-D3E5CE5418F5}"/>
              </a:ext>
            </a:extLst>
          </p:cNvPr>
          <p:cNvSpPr/>
          <p:nvPr/>
        </p:nvSpPr>
        <p:spPr>
          <a:xfrm>
            <a:off x="9096214" y="3059668"/>
            <a:ext cx="1566621"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F30014BC-3876-6A97-49E3-AF2BCC1B6A72}"/>
              </a:ext>
            </a:extLst>
          </p:cNvPr>
          <p:cNvSpPr/>
          <p:nvPr/>
        </p:nvSpPr>
        <p:spPr>
          <a:xfrm>
            <a:off x="9034867" y="1314727"/>
            <a:ext cx="1441988"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23E88D10-80C7-170A-A402-E906B6C75C3E}"/>
              </a:ext>
            </a:extLst>
          </p:cNvPr>
          <p:cNvSpPr/>
          <p:nvPr/>
        </p:nvSpPr>
        <p:spPr>
          <a:xfrm>
            <a:off x="4401519" y="1358592"/>
            <a:ext cx="2708329"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B2C68AC5-1E42-B366-4DFC-642286B07D09}"/>
              </a:ext>
            </a:extLst>
          </p:cNvPr>
          <p:cNvSpPr/>
          <p:nvPr/>
        </p:nvSpPr>
        <p:spPr>
          <a:xfrm>
            <a:off x="920856" y="1347037"/>
            <a:ext cx="1566621" cy="40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E23D5D-4DD3-3BD2-6A9D-E13B2EE938FD}"/>
              </a:ext>
            </a:extLst>
          </p:cNvPr>
          <p:cNvSpPr>
            <a:spLocks noGrp="1"/>
          </p:cNvSpPr>
          <p:nvPr>
            <p:ph type="title"/>
          </p:nvPr>
        </p:nvSpPr>
        <p:spPr>
          <a:xfrm>
            <a:off x="0" y="0"/>
            <a:ext cx="2524932" cy="781750"/>
          </a:xfrm>
        </p:spPr>
        <p:txBody>
          <a:bodyPr/>
          <a:lstStyle/>
          <a:p>
            <a:r>
              <a:rPr lang="en-US" dirty="0" err="1"/>
              <a:t>研究框架</a:t>
            </a:r>
            <a:endParaRPr lang="en-US" dirty="0"/>
          </a:p>
        </p:txBody>
      </p:sp>
      <p:sp>
        <p:nvSpPr>
          <p:cNvPr id="4" name="TextBox 3">
            <a:extLst>
              <a:ext uri="{FF2B5EF4-FFF2-40B4-BE49-F238E27FC236}">
                <a16:creationId xmlns:a16="http://schemas.microsoft.com/office/drawing/2014/main" id="{643F07C2-4F80-FE41-FB18-F74A5348BE86}"/>
              </a:ext>
            </a:extLst>
          </p:cNvPr>
          <p:cNvSpPr txBox="1"/>
          <p:nvPr/>
        </p:nvSpPr>
        <p:spPr>
          <a:xfrm>
            <a:off x="883403" y="1379348"/>
            <a:ext cx="1641529" cy="371959"/>
          </a:xfrm>
          <a:prstGeom prst="rect">
            <a:avLst/>
          </a:prstGeom>
          <a:noFill/>
        </p:spPr>
        <p:txBody>
          <a:bodyPr wrap="square" rtlCol="0">
            <a:spAutoFit/>
          </a:bodyPr>
          <a:lstStyle/>
          <a:p>
            <a:r>
              <a:rPr lang="en-US" dirty="0" err="1">
                <a:solidFill>
                  <a:schemeClr val="bg1"/>
                </a:solidFill>
              </a:rPr>
              <a:t>原始交易数据</a:t>
            </a:r>
            <a:endParaRPr lang="en-US" dirty="0">
              <a:solidFill>
                <a:schemeClr val="bg1"/>
              </a:solidFill>
            </a:endParaRPr>
          </a:p>
        </p:txBody>
      </p:sp>
      <p:cxnSp>
        <p:nvCxnSpPr>
          <p:cNvPr id="6" name="Straight Arrow Connector 5">
            <a:extLst>
              <a:ext uri="{FF2B5EF4-FFF2-40B4-BE49-F238E27FC236}">
                <a16:creationId xmlns:a16="http://schemas.microsoft.com/office/drawing/2014/main" id="{C209AF2C-6F33-88FC-7995-6F5719A912EA}"/>
              </a:ext>
            </a:extLst>
          </p:cNvPr>
          <p:cNvCxnSpPr>
            <a:stCxn id="4" idx="3"/>
          </p:cNvCxnSpPr>
          <p:nvPr/>
        </p:nvCxnSpPr>
        <p:spPr>
          <a:xfrm flipV="1">
            <a:off x="2524932" y="1549831"/>
            <a:ext cx="1876587" cy="154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0F96221A-9609-5950-3808-A29AEA7BF3AD}"/>
              </a:ext>
            </a:extLst>
          </p:cNvPr>
          <p:cNvSpPr txBox="1"/>
          <p:nvPr/>
        </p:nvSpPr>
        <p:spPr>
          <a:xfrm>
            <a:off x="4401519" y="1379347"/>
            <a:ext cx="2851688" cy="369332"/>
          </a:xfrm>
          <a:prstGeom prst="rect">
            <a:avLst/>
          </a:prstGeom>
          <a:noFill/>
        </p:spPr>
        <p:txBody>
          <a:bodyPr wrap="square" rtlCol="0">
            <a:spAutoFit/>
          </a:bodyPr>
          <a:lstStyle/>
          <a:p>
            <a:r>
              <a:rPr lang="zh-CN" altLang="en-US" dirty="0">
                <a:solidFill>
                  <a:schemeClr val="bg1"/>
                </a:solidFill>
              </a:rPr>
              <a:t>数据清洗与候选 </a:t>
            </a:r>
            <a:r>
              <a:rPr lang="en-US" dirty="0">
                <a:solidFill>
                  <a:schemeClr val="bg1"/>
                </a:solidFill>
              </a:rPr>
              <a:t>SKU </a:t>
            </a:r>
            <a:r>
              <a:rPr lang="zh-CN" altLang="en-US" dirty="0">
                <a:solidFill>
                  <a:schemeClr val="bg1"/>
                </a:solidFill>
              </a:rPr>
              <a:t>构建</a:t>
            </a:r>
            <a:endParaRPr lang="en-US" dirty="0">
              <a:solidFill>
                <a:schemeClr val="bg1"/>
              </a:solidFill>
            </a:endParaRPr>
          </a:p>
        </p:txBody>
      </p:sp>
      <p:sp>
        <p:nvSpPr>
          <p:cNvPr id="9" name="TextBox 8">
            <a:extLst>
              <a:ext uri="{FF2B5EF4-FFF2-40B4-BE49-F238E27FC236}">
                <a16:creationId xmlns:a16="http://schemas.microsoft.com/office/drawing/2014/main" id="{DA439257-3D0D-9FC1-AFE9-F537394B9337}"/>
              </a:ext>
            </a:extLst>
          </p:cNvPr>
          <p:cNvSpPr txBox="1"/>
          <p:nvPr/>
        </p:nvSpPr>
        <p:spPr>
          <a:xfrm>
            <a:off x="8986435" y="1347037"/>
            <a:ext cx="1755183" cy="369332"/>
          </a:xfrm>
          <a:prstGeom prst="rect">
            <a:avLst/>
          </a:prstGeom>
          <a:noFill/>
        </p:spPr>
        <p:txBody>
          <a:bodyPr wrap="square">
            <a:spAutoFit/>
          </a:bodyPr>
          <a:lstStyle/>
          <a:p>
            <a:r>
              <a:rPr lang="zh-CN" altLang="en-US" b="0" i="0" dirty="0">
                <a:solidFill>
                  <a:schemeClr val="bg1"/>
                </a:solidFill>
                <a:effectLst/>
                <a:latin typeface="-apple-system"/>
              </a:rPr>
              <a:t>需求参数估计</a:t>
            </a:r>
            <a:endParaRPr lang="en-US" dirty="0">
              <a:solidFill>
                <a:schemeClr val="bg1"/>
              </a:solidFill>
            </a:endParaRPr>
          </a:p>
        </p:txBody>
      </p:sp>
      <p:cxnSp>
        <p:nvCxnSpPr>
          <p:cNvPr id="10" name="Straight Arrow Connector 9">
            <a:extLst>
              <a:ext uri="{FF2B5EF4-FFF2-40B4-BE49-F238E27FC236}">
                <a16:creationId xmlns:a16="http://schemas.microsoft.com/office/drawing/2014/main" id="{1FE090B2-E179-56E8-E87B-D7EC697B54A7}"/>
              </a:ext>
            </a:extLst>
          </p:cNvPr>
          <p:cNvCxnSpPr/>
          <p:nvPr/>
        </p:nvCxnSpPr>
        <p:spPr>
          <a:xfrm flipV="1">
            <a:off x="7109848" y="1531703"/>
            <a:ext cx="1876587" cy="154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2B733A5-6A84-454B-8AFF-A741580E43B5}"/>
              </a:ext>
            </a:extLst>
          </p:cNvPr>
          <p:cNvSpPr txBox="1"/>
          <p:nvPr/>
        </p:nvSpPr>
        <p:spPr>
          <a:xfrm>
            <a:off x="9080715" y="3059668"/>
            <a:ext cx="1566621" cy="369332"/>
          </a:xfrm>
          <a:prstGeom prst="rect">
            <a:avLst/>
          </a:prstGeom>
          <a:noFill/>
        </p:spPr>
        <p:txBody>
          <a:bodyPr wrap="square">
            <a:spAutoFit/>
          </a:bodyPr>
          <a:lstStyle/>
          <a:p>
            <a:r>
              <a:rPr lang="zh-CN" altLang="en-US" b="0" i="0" dirty="0">
                <a:solidFill>
                  <a:schemeClr val="bg1"/>
                </a:solidFill>
                <a:effectLst/>
                <a:latin typeface="-apple-system"/>
              </a:rPr>
              <a:t>联合优化模型</a:t>
            </a:r>
            <a:endParaRPr lang="en-US" dirty="0">
              <a:solidFill>
                <a:schemeClr val="bg1"/>
              </a:solidFill>
            </a:endParaRPr>
          </a:p>
        </p:txBody>
      </p:sp>
      <p:cxnSp>
        <p:nvCxnSpPr>
          <p:cNvPr id="13" name="Straight Arrow Connector 12">
            <a:extLst>
              <a:ext uri="{FF2B5EF4-FFF2-40B4-BE49-F238E27FC236}">
                <a16:creationId xmlns:a16="http://schemas.microsoft.com/office/drawing/2014/main" id="{BABEA29E-F599-46C1-0CF1-C3F0321A993A}"/>
              </a:ext>
            </a:extLst>
          </p:cNvPr>
          <p:cNvCxnSpPr>
            <a:cxnSpLocks/>
            <a:stCxn id="9" idx="2"/>
            <a:endCxn id="12" idx="0"/>
          </p:cNvCxnSpPr>
          <p:nvPr/>
        </p:nvCxnSpPr>
        <p:spPr>
          <a:xfrm flipH="1">
            <a:off x="9864026" y="1716369"/>
            <a:ext cx="1" cy="13432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486F7305-3874-B148-74B9-5EDCB3B33C09}"/>
              </a:ext>
            </a:extLst>
          </p:cNvPr>
          <p:cNvSpPr txBox="1"/>
          <p:nvPr/>
        </p:nvSpPr>
        <p:spPr>
          <a:xfrm>
            <a:off x="5120253" y="3059668"/>
            <a:ext cx="1414220" cy="369332"/>
          </a:xfrm>
          <a:prstGeom prst="rect">
            <a:avLst/>
          </a:prstGeom>
          <a:noFill/>
        </p:spPr>
        <p:txBody>
          <a:bodyPr wrap="square">
            <a:spAutoFit/>
          </a:bodyPr>
          <a:lstStyle/>
          <a:p>
            <a:r>
              <a:rPr lang="zh-CN" altLang="en-US" b="0" i="0" dirty="0">
                <a:solidFill>
                  <a:schemeClr val="bg1"/>
                </a:solidFill>
                <a:effectLst/>
                <a:latin typeface="-apple-system"/>
              </a:rPr>
              <a:t>多算法求解</a:t>
            </a:r>
            <a:endParaRPr lang="en-US" dirty="0">
              <a:solidFill>
                <a:schemeClr val="bg1"/>
              </a:solidFill>
            </a:endParaRPr>
          </a:p>
        </p:txBody>
      </p:sp>
      <p:cxnSp>
        <p:nvCxnSpPr>
          <p:cNvPr id="21" name="Straight Arrow Connector 20">
            <a:extLst>
              <a:ext uri="{FF2B5EF4-FFF2-40B4-BE49-F238E27FC236}">
                <a16:creationId xmlns:a16="http://schemas.microsoft.com/office/drawing/2014/main" id="{555030CF-8F3E-B2B2-6F92-AE86798B7CD5}"/>
              </a:ext>
            </a:extLst>
          </p:cNvPr>
          <p:cNvCxnSpPr>
            <a:cxnSpLocks/>
            <a:stCxn id="12" idx="1"/>
            <a:endCxn id="20" idx="3"/>
          </p:cNvCxnSpPr>
          <p:nvPr/>
        </p:nvCxnSpPr>
        <p:spPr>
          <a:xfrm flipH="1">
            <a:off x="6534473" y="3244334"/>
            <a:ext cx="254624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2D86E40E-6A80-57A5-9B2C-2A9E22040740}"/>
              </a:ext>
            </a:extLst>
          </p:cNvPr>
          <p:cNvSpPr txBox="1"/>
          <p:nvPr/>
        </p:nvSpPr>
        <p:spPr>
          <a:xfrm>
            <a:off x="920856" y="3059668"/>
            <a:ext cx="1566621" cy="369332"/>
          </a:xfrm>
          <a:prstGeom prst="rect">
            <a:avLst/>
          </a:prstGeom>
          <a:noFill/>
        </p:spPr>
        <p:txBody>
          <a:bodyPr wrap="square">
            <a:spAutoFit/>
          </a:bodyPr>
          <a:lstStyle/>
          <a:p>
            <a:r>
              <a:rPr lang="zh-CN" altLang="en-US" b="0" i="0" dirty="0">
                <a:solidFill>
                  <a:schemeClr val="bg1"/>
                </a:solidFill>
                <a:effectLst/>
                <a:latin typeface="-apple-system"/>
              </a:rPr>
              <a:t>滚动窗口实验</a:t>
            </a:r>
            <a:endParaRPr lang="en-US" dirty="0">
              <a:solidFill>
                <a:schemeClr val="bg1"/>
              </a:solidFill>
            </a:endParaRPr>
          </a:p>
        </p:txBody>
      </p:sp>
      <p:cxnSp>
        <p:nvCxnSpPr>
          <p:cNvPr id="26" name="Straight Arrow Connector 25">
            <a:extLst>
              <a:ext uri="{FF2B5EF4-FFF2-40B4-BE49-F238E27FC236}">
                <a16:creationId xmlns:a16="http://schemas.microsoft.com/office/drawing/2014/main" id="{B693D009-94F5-CB81-CCFC-4E26C3E2D43C}"/>
              </a:ext>
            </a:extLst>
          </p:cNvPr>
          <p:cNvCxnSpPr>
            <a:cxnSpLocks/>
            <a:stCxn id="20" idx="1"/>
            <a:endCxn id="25" idx="3"/>
          </p:cNvCxnSpPr>
          <p:nvPr/>
        </p:nvCxnSpPr>
        <p:spPr>
          <a:xfrm flipH="1">
            <a:off x="2487477" y="3244334"/>
            <a:ext cx="26327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EE8F1508-2856-6EC0-C0B2-BEAD39AE43A1}"/>
              </a:ext>
            </a:extLst>
          </p:cNvPr>
          <p:cNvSpPr txBox="1"/>
          <p:nvPr/>
        </p:nvSpPr>
        <p:spPr>
          <a:xfrm>
            <a:off x="765872" y="4666371"/>
            <a:ext cx="1876587" cy="369317"/>
          </a:xfrm>
          <a:prstGeom prst="rect">
            <a:avLst/>
          </a:prstGeom>
          <a:noFill/>
        </p:spPr>
        <p:txBody>
          <a:bodyPr wrap="square">
            <a:spAutoFit/>
          </a:bodyPr>
          <a:lstStyle/>
          <a:p>
            <a:r>
              <a:rPr lang="zh-CN" altLang="en-US" b="0" i="0" dirty="0">
                <a:solidFill>
                  <a:schemeClr val="bg1"/>
                </a:solidFill>
                <a:effectLst/>
                <a:latin typeface="-apple-system"/>
              </a:rPr>
              <a:t>真实订单篮回放</a:t>
            </a:r>
            <a:endParaRPr lang="en-US" dirty="0">
              <a:solidFill>
                <a:schemeClr val="bg1"/>
              </a:solidFill>
            </a:endParaRPr>
          </a:p>
        </p:txBody>
      </p:sp>
      <p:cxnSp>
        <p:nvCxnSpPr>
          <p:cNvPr id="31" name="Straight Arrow Connector 30">
            <a:extLst>
              <a:ext uri="{FF2B5EF4-FFF2-40B4-BE49-F238E27FC236}">
                <a16:creationId xmlns:a16="http://schemas.microsoft.com/office/drawing/2014/main" id="{2B72C3B6-763F-DA50-2EB0-3E71363D8E2A}"/>
              </a:ext>
            </a:extLst>
          </p:cNvPr>
          <p:cNvCxnSpPr>
            <a:cxnSpLocks/>
            <a:stCxn id="25" idx="2"/>
            <a:endCxn id="30" idx="0"/>
          </p:cNvCxnSpPr>
          <p:nvPr/>
        </p:nvCxnSpPr>
        <p:spPr>
          <a:xfrm flipH="1">
            <a:off x="1704166" y="3429000"/>
            <a:ext cx="1" cy="12373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581A5CAE-0D09-A58E-A659-FF338D052DAC}"/>
              </a:ext>
            </a:extLst>
          </p:cNvPr>
          <p:cNvSpPr txBox="1"/>
          <p:nvPr/>
        </p:nvSpPr>
        <p:spPr>
          <a:xfrm>
            <a:off x="4698894" y="4670313"/>
            <a:ext cx="2256937" cy="369332"/>
          </a:xfrm>
          <a:prstGeom prst="rect">
            <a:avLst/>
          </a:prstGeom>
          <a:noFill/>
        </p:spPr>
        <p:txBody>
          <a:bodyPr wrap="square">
            <a:spAutoFit/>
          </a:bodyPr>
          <a:lstStyle/>
          <a:p>
            <a:r>
              <a:rPr lang="zh-CN" altLang="en-US" b="0" i="0" dirty="0">
                <a:solidFill>
                  <a:schemeClr val="bg1"/>
                </a:solidFill>
                <a:effectLst/>
                <a:latin typeface="-apple-system"/>
              </a:rPr>
              <a:t>文献基线 </a:t>
            </a:r>
            <a:r>
              <a:rPr lang="en-US" b="0" i="0" dirty="0">
                <a:solidFill>
                  <a:schemeClr val="bg1"/>
                </a:solidFill>
                <a:effectLst/>
                <a:latin typeface="-apple-system"/>
              </a:rPr>
              <a:t>benchmark</a:t>
            </a:r>
            <a:endParaRPr lang="en-US" dirty="0">
              <a:solidFill>
                <a:schemeClr val="bg1"/>
              </a:solidFill>
            </a:endParaRPr>
          </a:p>
        </p:txBody>
      </p:sp>
      <p:cxnSp>
        <p:nvCxnSpPr>
          <p:cNvPr id="36" name="Straight Arrow Connector 35">
            <a:extLst>
              <a:ext uri="{FF2B5EF4-FFF2-40B4-BE49-F238E27FC236}">
                <a16:creationId xmlns:a16="http://schemas.microsoft.com/office/drawing/2014/main" id="{E806C0F4-62B8-CDF2-0592-B5EFEC045036}"/>
              </a:ext>
            </a:extLst>
          </p:cNvPr>
          <p:cNvCxnSpPr>
            <a:cxnSpLocks/>
            <a:stCxn id="30" idx="3"/>
            <a:endCxn id="35" idx="1"/>
          </p:cNvCxnSpPr>
          <p:nvPr/>
        </p:nvCxnSpPr>
        <p:spPr>
          <a:xfrm>
            <a:off x="2642459" y="4851030"/>
            <a:ext cx="2056435" cy="39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D9B23AB6-C1A3-E8A3-587C-E55799EB2019}"/>
              </a:ext>
            </a:extLst>
          </p:cNvPr>
          <p:cNvCxnSpPr>
            <a:cxnSpLocks/>
            <a:stCxn id="35" idx="3"/>
          </p:cNvCxnSpPr>
          <p:nvPr/>
        </p:nvCxnSpPr>
        <p:spPr>
          <a:xfrm flipV="1">
            <a:off x="6955831" y="4851029"/>
            <a:ext cx="2124884" cy="3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TextBox 42">
            <a:extLst>
              <a:ext uri="{FF2B5EF4-FFF2-40B4-BE49-F238E27FC236}">
                <a16:creationId xmlns:a16="http://schemas.microsoft.com/office/drawing/2014/main" id="{CB302B6D-282D-7F40-5209-A1FACD228908}"/>
              </a:ext>
            </a:extLst>
          </p:cNvPr>
          <p:cNvSpPr txBox="1"/>
          <p:nvPr/>
        </p:nvSpPr>
        <p:spPr>
          <a:xfrm>
            <a:off x="9096214" y="4666356"/>
            <a:ext cx="1835580" cy="369332"/>
          </a:xfrm>
          <a:prstGeom prst="rect">
            <a:avLst/>
          </a:prstGeom>
          <a:noFill/>
        </p:spPr>
        <p:txBody>
          <a:bodyPr wrap="square">
            <a:spAutoFit/>
          </a:bodyPr>
          <a:lstStyle/>
          <a:p>
            <a:r>
              <a:rPr lang="zh-CN" altLang="en-US" b="0" i="0" dirty="0">
                <a:solidFill>
                  <a:schemeClr val="bg1"/>
                </a:solidFill>
                <a:effectLst/>
                <a:latin typeface="-apple-system"/>
              </a:rPr>
              <a:t>管理启示与结论</a:t>
            </a:r>
            <a:endParaRPr lang="en-US" dirty="0">
              <a:solidFill>
                <a:schemeClr val="bg1"/>
              </a:solidFill>
            </a:endParaRPr>
          </a:p>
        </p:txBody>
      </p:sp>
    </p:spTree>
    <p:extLst>
      <p:ext uri="{BB962C8B-B14F-4D97-AF65-F5344CB8AC3E}">
        <p14:creationId xmlns:p14="http://schemas.microsoft.com/office/powerpoint/2010/main" val="323997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175C8-2468-51C8-5BCC-ADE114EC8360}"/>
                  </a:ext>
                </a:extLst>
              </p:cNvPr>
              <p:cNvSpPr>
                <a:spLocks noGrp="1"/>
              </p:cNvSpPr>
              <p:nvPr>
                <p:ph idx="1"/>
              </p:nvPr>
            </p:nvSpPr>
            <p:spPr>
              <a:xfrm>
                <a:off x="539857" y="1304159"/>
                <a:ext cx="11112285" cy="5991923"/>
              </a:xfrm>
            </p:spPr>
            <p:txBody>
              <a:bodyPr>
                <a:normAutofit/>
              </a:bodyPr>
              <a:lstStyle/>
              <a:p>
                <a:pPr marL="0" indent="0">
                  <a:buNone/>
                </a:pPr>
                <a:r>
                  <a:rPr lang="zh-CN" altLang="en-US" dirty="0"/>
                  <a:t>设候选 </a:t>
                </a:r>
                <a:r>
                  <a:rPr lang="en-US" dirty="0"/>
                  <a:t>SKU </a:t>
                </a:r>
                <a:r>
                  <a:rPr lang="zh-CN" altLang="en-US" dirty="0"/>
                  <a:t>集合为 </a:t>
                </a:r>
                <a:r>
                  <a:rPr lang="en-US" dirty="0" err="1"/>
                  <a:t>i</a:t>
                </a:r>
                <a:r>
                  <a:rPr lang="en-US" dirty="0"/>
                  <a:t> = 1,2,...,N，</a:t>
                </a:r>
                <a:r>
                  <a:rPr lang="zh-CN" altLang="en-US" dirty="0"/>
                  <a:t>每个 </a:t>
                </a:r>
                <a:r>
                  <a:rPr lang="en-US" dirty="0"/>
                  <a:t>SKU </a:t>
                </a:r>
                <a:r>
                  <a:rPr lang="zh-CN" altLang="en-US" dirty="0"/>
                  <a:t>可选择一个离散库存水平 </a:t>
                </a:r>
                <a:r>
                  <a:rPr lang="en-US" dirty="0"/>
                  <a:t>q ∈ {0,1,...,</a:t>
                </a:r>
                <a:r>
                  <a:rPr lang="en-US" dirty="0" err="1"/>
                  <a:t>Qmax</a:t>
                </a:r>
                <a:r>
                  <a:rPr lang="en-US" dirty="0"/>
                  <a:t>}：</a:t>
                </a:r>
              </a:p>
              <a:p>
                <a:pPr marL="0" indent="0">
                  <a:buNone/>
                </a:pPr>
                <a:r>
                  <a:rPr lang="en-US" dirty="0"/>
                  <a:t>q = 0：SKU </a:t>
                </a:r>
                <a:r>
                  <a:rPr lang="zh-CN" altLang="en-US" dirty="0"/>
                  <a:t>不进入前置仓</a:t>
                </a:r>
              </a:p>
              <a:p>
                <a:pPr marL="0" indent="0">
                  <a:buNone/>
                </a:pPr>
                <a:r>
                  <a:rPr lang="en-US" dirty="0"/>
                  <a:t>q &gt; 0：SKU </a:t>
                </a:r>
                <a:r>
                  <a:rPr lang="zh-CN" altLang="en-US" dirty="0"/>
                  <a:t>进入前置仓，且库存水平为 </a:t>
                </a:r>
                <a:r>
                  <a:rPr lang="en-US" dirty="0"/>
                  <a:t>q</a:t>
                </a:r>
              </a:p>
              <a:p>
                <a:pPr marL="0" indent="0">
                  <a:buNone/>
                </a:pPr>
                <a:r>
                  <a:rPr lang="zh-CN" altLang="en-US" dirty="0"/>
                  <a:t>引入二进制变量：</a:t>
                </a:r>
              </a:p>
              <a:p>
                <a:pPr marL="0" indent="0">
                  <a:buNone/>
                </a:pPr>
                <a14:m>
                  <m:oMathPara xmlns:m="http://schemas.openxmlformats.org/officeDocument/2006/math">
                    <m:oMathParaPr>
                      <m:jc m:val="centerGroup"/>
                    </m:oMathParaPr>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𝑖𝑞</m:t>
                          </m:r>
                        </m:sub>
                      </m:sSub>
                      <m:r>
                        <a:rPr lang="ar-AE">
                          <a:latin typeface="Cambria Math" panose="02040503050406030204" pitchFamily="18" charset="0"/>
                        </a:rPr>
                        <m:t>=</m:t>
                      </m:r>
                      <m:d>
                        <m:dPr>
                          <m:begChr m:val="{"/>
                          <m:endChr m:val=""/>
                          <m:ctrlPr>
                            <a:rPr lang="ar-AE" i="1" smtClean="0">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1,</m:t>
                                </m:r>
                              </m:e>
                              <m:e>
                                <m:r>
                                  <m:rPr>
                                    <m:nor/>
                                  </m:rPr>
                                  <a:rPr lang="zh-CN" altLang="en-US" i="1"/>
                                  <m:t>若 </m:t>
                                </m:r>
                                <m:r>
                                  <m:rPr>
                                    <m:nor/>
                                  </m:rPr>
                                  <a:rPr lang="en-US" i="1"/>
                                  <m:t>SKU</m:t>
                                </m:r>
                                <m:r>
                                  <m:rPr>
                                    <m:nor/>
                                  </m:rPr>
                                  <a:rPr lang="en-US" i="1"/>
                                  <m:t> </m:t>
                                </m:r>
                                <m:r>
                                  <a:rPr lang="en-US" i="1">
                                    <a:latin typeface="Cambria Math" panose="02040503050406030204" pitchFamily="18" charset="0"/>
                                  </a:rPr>
                                  <m:t>𝑖</m:t>
                                </m:r>
                                <m:r>
                                  <m:rPr>
                                    <m:nor/>
                                  </m:rPr>
                                  <a:rPr lang="en-US" i="1"/>
                                  <m:t> </m:t>
                                </m:r>
                                <m:r>
                                  <m:rPr>
                                    <m:nor/>
                                  </m:rPr>
                                  <a:rPr lang="zh-CN" altLang="en-US" i="1"/>
                                  <m:t>选择库存水平 </m:t>
                                </m:r>
                                <m:r>
                                  <a:rPr lang="zh-CN" altLang="en-US" i="1">
                                    <a:latin typeface="Cambria Math" panose="02040503050406030204" pitchFamily="18" charset="0"/>
                                  </a:rPr>
                                  <m:t>𝑞</m:t>
                                </m:r>
                              </m:e>
                            </m:mr>
                            <m:mr>
                              <m:e>
                                <m:r>
                                  <a:rPr lang="ar-AE">
                                    <a:latin typeface="Cambria Math" panose="02040503050406030204" pitchFamily="18" charset="0"/>
                                  </a:rPr>
                                  <m:t>0,</m:t>
                                </m:r>
                              </m:e>
                              <m:e>
                                <m:r>
                                  <m:rPr>
                                    <m:nor/>
                                  </m:rPr>
                                  <a:rPr lang="zh-CN" altLang="en-US" i="1"/>
                                  <m:t>否则</m:t>
                                </m:r>
                              </m:e>
                            </m:mr>
                          </m:m>
                        </m:e>
                      </m:d>
                    </m:oMath>
                  </m:oMathPara>
                </a14:m>
                <a:endParaRPr lang="ar-AE" b="0" dirty="0"/>
              </a:p>
              <a:p>
                <a:pPr marL="0" indent="0">
                  <a:buNone/>
                </a:pPr>
                <a:r>
                  <a:rPr lang="zh-CN" altLang="en-US" dirty="0"/>
                  <a:t>并满足：</a:t>
                </a:r>
              </a:p>
              <a:p>
                <a:pPr marL="0" indent="0">
                  <a:buNone/>
                </a:pPr>
                <a14:m>
                  <m:oMathPara xmlns:m="http://schemas.openxmlformats.org/officeDocument/2006/math">
                    <m:oMathParaPr>
                      <m:jc m:val="centerGroup"/>
                    </m:oMathParaPr>
                    <m:oMath xmlns:m="http://schemas.openxmlformats.org/officeDocument/2006/math">
                      <m:nary>
                        <m:naryPr>
                          <m:chr m:val="∑"/>
                          <m:ctrlPr>
                            <a:rPr lang="ar-AE" i="1" smtClean="0">
                              <a:latin typeface="Cambria Math" panose="02040503050406030204" pitchFamily="18" charset="0"/>
                            </a:rPr>
                          </m:ctrlPr>
                        </m:naryPr>
                        <m:sub>
                          <m:r>
                            <m:rPr>
                              <m:brk m:alnAt="23"/>
                            </m:rPr>
                            <a:rPr lang="en-US" b="0" i="1" smtClean="0">
                              <a:latin typeface="Cambria Math" panose="02040503050406030204" pitchFamily="18" charset="0"/>
                            </a:rPr>
                            <m:t>𝑞</m:t>
                          </m:r>
                          <m:r>
                            <a:rPr lang="en-US" b="0" i="1" smtClean="0">
                              <a:latin typeface="Cambria Math" panose="02040503050406030204" pitchFamily="18" charset="0"/>
                            </a:rPr>
                            <m:t>=0</m:t>
                          </m:r>
                        </m:sub>
                        <m:sup>
                          <m:sSub>
                            <m:sSubPr>
                              <m:ctrlPr>
                                <a:rPr lang="ar-AE"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𝑚𝑎𝑥</m:t>
                              </m:r>
                            </m:sub>
                          </m:sSub>
                        </m:sup>
                        <m:e>
                          <m:sSub>
                            <m:sSubPr>
                              <m:ctrlPr>
                                <a:rPr lang="ar-AE"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𝑖𝑞</m:t>
                              </m:r>
                            </m:sub>
                          </m:sSub>
                        </m:e>
                      </m:nary>
                      <m:r>
                        <a:rPr lang="ar-AE">
                          <a:latin typeface="Cambria Math" panose="02040503050406030204" pitchFamily="18" charset="0"/>
                        </a:rPr>
                        <m:t>=1, ∀</m:t>
                      </m:r>
                      <m:r>
                        <a:rPr lang="ar-AE" i="1">
                          <a:latin typeface="Cambria Math" panose="02040503050406030204" pitchFamily="18" charset="0"/>
                        </a:rPr>
                        <m:t>𝑖</m:t>
                      </m:r>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zh-CN" altLang="en-US" b="0" i="1" smtClean="0">
                          <a:latin typeface="Cambria Math" panose="02040503050406030204" pitchFamily="18" charset="0"/>
                        </a:rPr>
                        <m:t> </m:t>
                      </m:r>
                    </m:oMath>
                  </m:oMathPara>
                </a14:m>
                <a:endParaRPr lang="en-US" i="1" dirty="0">
                  <a:latin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7C3175C8-2468-51C8-5BCC-ADE114EC8360}"/>
                  </a:ext>
                </a:extLst>
              </p:cNvPr>
              <p:cNvSpPr>
                <a:spLocks noGrp="1" noRot="1" noChangeAspect="1" noMove="1" noResize="1" noEditPoints="1" noAdjustHandles="1" noChangeArrowheads="1" noChangeShapeType="1" noTextEdit="1"/>
              </p:cNvSpPr>
              <p:nvPr>
                <p:ph idx="1"/>
              </p:nvPr>
            </p:nvSpPr>
            <p:spPr>
              <a:xfrm>
                <a:off x="539857" y="1304159"/>
                <a:ext cx="11112285" cy="5991923"/>
              </a:xfrm>
              <a:blipFill>
                <a:blip r:embed="rId2"/>
                <a:stretch>
                  <a:fillRect l="-1142" t="-1903" b="-16068"/>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DF379E7F-CE8F-9AB4-8F72-653FA1EF52F8}"/>
              </a:ext>
            </a:extLst>
          </p:cNvPr>
          <p:cNvSpPr txBox="1">
            <a:spLocks/>
          </p:cNvSpPr>
          <p:nvPr/>
        </p:nvSpPr>
        <p:spPr>
          <a:xfrm>
            <a:off x="0" y="0"/>
            <a:ext cx="1487837" cy="781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模型</a:t>
            </a:r>
            <a:endParaRPr lang="en-US" dirty="0"/>
          </a:p>
        </p:txBody>
      </p:sp>
    </p:spTree>
    <p:extLst>
      <p:ext uri="{BB962C8B-B14F-4D97-AF65-F5344CB8AC3E}">
        <p14:creationId xmlns:p14="http://schemas.microsoft.com/office/powerpoint/2010/main" val="264908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C0B78-462B-0B5A-5F20-410753BA0E22}"/>
                  </a:ext>
                </a:extLst>
              </p:cNvPr>
              <p:cNvSpPr>
                <a:spLocks noGrp="1"/>
              </p:cNvSpPr>
              <p:nvPr>
                <p:ph idx="1"/>
              </p:nvPr>
            </p:nvSpPr>
            <p:spPr>
              <a:xfrm>
                <a:off x="455262" y="1544827"/>
                <a:ext cx="11281475" cy="4198788"/>
              </a:xfrm>
            </p:spPr>
            <p:txBody>
              <a:bodyPr/>
              <a:lstStyle/>
              <a:p>
                <a:pPr marL="0" indent="0">
                  <a:buNone/>
                </a:pPr>
                <a:r>
                  <a:rPr lang="zh-CN" altLang="en-US" dirty="0"/>
                  <a:t>设 </a:t>
                </a:r>
                <a:r>
                  <a:rPr lang="en-US" dirty="0"/>
                  <a:t>SKU </a:t>
                </a:r>
                <a:r>
                  <a:rPr lang="en-US" dirty="0" err="1"/>
                  <a:t>i</a:t>
                </a:r>
                <a:r>
                  <a:rPr lang="en-US" dirty="0"/>
                  <a:t> </a:t>
                </a:r>
                <a:r>
                  <a:rPr lang="zh-CN" altLang="en-US" dirty="0"/>
                  <a:t>的周需求为随机变量 </a:t>
                </a:r>
                <a:r>
                  <a:rPr lang="en-US" dirty="0" err="1"/>
                  <a:t>D_i</a:t>
                </a:r>
                <a:r>
                  <a:rPr lang="en-US" dirty="0"/>
                  <a:t>，</a:t>
                </a:r>
                <a:r>
                  <a:rPr lang="zh-CN" altLang="en-US" dirty="0"/>
                  <a:t>其需求分布根据历史数据特征选取：</a:t>
                </a:r>
              </a:p>
              <a:p>
                <a:pPr marL="0" indent="0">
                  <a:buNone/>
                </a:pPr>
                <a:r>
                  <a:rPr lang="zh-CN" altLang="en-US" dirty="0"/>
                  <a:t>波动较低时：</a:t>
                </a:r>
                <a:r>
                  <a:rPr lang="en-US" dirty="0"/>
                  <a:t>Poisson</a:t>
                </a:r>
              </a:p>
              <a:p>
                <a:pPr marL="0" indent="0">
                  <a:buNone/>
                </a:pPr>
                <a:r>
                  <a:rPr lang="zh-CN" altLang="en-US" dirty="0"/>
                  <a:t>过度离散明显时：</a:t>
                </a:r>
                <a:r>
                  <a:rPr lang="en-US" dirty="0"/>
                  <a:t>Negative Binomial</a:t>
                </a:r>
              </a:p>
              <a:p>
                <a:pPr marL="0" indent="0">
                  <a:buNone/>
                </a:pPr>
                <a:r>
                  <a:rPr lang="zh-CN" altLang="en-US" dirty="0"/>
                  <a:t>当库存水平为 </a:t>
                </a:r>
                <a:r>
                  <a:rPr lang="en-US" dirty="0"/>
                  <a:t>q </a:t>
                </a:r>
                <a:r>
                  <a:rPr lang="zh-CN" altLang="en-US" dirty="0"/>
                  <a:t>时，</a:t>
                </a:r>
                <a:r>
                  <a:rPr lang="en-US" dirty="0"/>
                  <a:t>SKU </a:t>
                </a:r>
                <a:r>
                  <a:rPr lang="en-US" dirty="0" err="1"/>
                  <a:t>i</a:t>
                </a:r>
                <a:r>
                  <a:rPr lang="en-US" dirty="0"/>
                  <a:t> </a:t>
                </a:r>
                <a:r>
                  <a:rPr lang="zh-CN" altLang="en-US" dirty="0"/>
                  <a:t>的期望销量为：</a:t>
                </a:r>
              </a:p>
              <a:p>
                <a:pPr marL="0" indent="0">
                  <a:buNone/>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𝔼</m:t>
                      </m:r>
                      <m:d>
                        <m:dPr>
                          <m:begChr m:val="["/>
                          <m:endChr m:val="]"/>
                          <m:ctrlPr>
                            <a:rPr lang="ar-AE" i="1">
                              <a:latin typeface="Cambria Math" panose="02040503050406030204" pitchFamily="18" charset="0"/>
                            </a:rPr>
                          </m:ctrlPr>
                        </m:dPr>
                        <m:e>
                          <m:r>
                            <m:rPr>
                              <m:sty m:val="p"/>
                            </m:rPr>
                            <a:rPr lang="en-US">
                              <a:latin typeface="Cambria Math" panose="02040503050406030204" pitchFamily="18" charset="0"/>
                            </a:rPr>
                            <m:t>min</m:t>
                          </m:r>
                          <m:r>
                            <a:rPr lang="en-US">
                              <a:latin typeface="Cambria Math" panose="02040503050406030204" pitchFamily="18" charset="0"/>
                            </a:rPr>
                            <m:t>⁡</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e>
                            <m:e>
                              <m:r>
                                <a:rPr lang="ar-AE" i="1">
                                  <a:latin typeface="Cambria Math" panose="02040503050406030204" pitchFamily="18" charset="0"/>
                                </a:rPr>
                                <m:t>𝑞</m:t>
                              </m:r>
                            </m:e>
                          </m:d>
                        </m:e>
                      </m:d>
                    </m:oMath>
                  </m:oMathPara>
                </a14:m>
                <a:endParaRPr lang="ar-AE" dirty="0"/>
              </a:p>
              <a:p>
                <a:pPr marL="0" indent="0">
                  <a:buNone/>
                </a:pPr>
                <a:r>
                  <a:rPr lang="zh-CN" altLang="en-US" dirty="0"/>
                  <a:t>对离散非负随机变量，可写为：</a:t>
                </a:r>
              </a:p>
              <a:p>
                <a:pPr marL="0" indent="0">
                  <a:buNone/>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𝔼</m:t>
                      </m:r>
                      <m:d>
                        <m:dPr>
                          <m:begChr m:val="["/>
                          <m:endChr m:val="]"/>
                          <m:ctrlPr>
                            <a:rPr lang="ar-AE" i="1">
                              <a:latin typeface="Cambria Math" panose="02040503050406030204" pitchFamily="18" charset="0"/>
                            </a:rPr>
                          </m:ctrlPr>
                        </m:dPr>
                        <m:e>
                          <m:r>
                            <m:rPr>
                              <m:sty m:val="p"/>
                            </m:rPr>
                            <a:rPr lang="en-US">
                              <a:latin typeface="Cambria Math" panose="02040503050406030204" pitchFamily="18" charset="0"/>
                            </a:rPr>
                            <m:t>min</m:t>
                          </m:r>
                          <m:r>
                            <a:rPr lang="en-US">
                              <a:latin typeface="Cambria Math" panose="02040503050406030204" pitchFamily="18" charset="0"/>
                            </a:rPr>
                            <m:t>⁡</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e>
                            <m:e>
                              <m:r>
                                <a:rPr lang="ar-AE" i="1">
                                  <a:latin typeface="Cambria Math" panose="02040503050406030204" pitchFamily="18" charset="0"/>
                                </a:rPr>
                                <m:t>𝑞</m:t>
                              </m:r>
                            </m:e>
                          </m:d>
                        </m:e>
                      </m:d>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𝑘</m:t>
                          </m:r>
                          <m:r>
                            <a:rPr lang="ar-AE">
                              <a:latin typeface="Cambria Math" panose="02040503050406030204" pitchFamily="18" charset="0"/>
                            </a:rPr>
                            <m:t>=0</m:t>
                          </m:r>
                        </m:sub>
                        <m:sup>
                          <m:r>
                            <a:rPr lang="ar-AE" i="1">
                              <a:latin typeface="Cambria Math" panose="02040503050406030204" pitchFamily="18" charset="0"/>
                            </a:rPr>
                            <m:t>𝑞</m:t>
                          </m:r>
                          <m:r>
                            <a:rPr lang="ar-AE">
                              <a:latin typeface="Cambria Math" panose="02040503050406030204" pitchFamily="18" charset="0"/>
                            </a:rPr>
                            <m:t>−1</m:t>
                          </m:r>
                        </m:sup>
                        <m:e>
                          <m:r>
                            <a:rPr lang="ar-AE" i="1">
                              <a:latin typeface="Cambria Math" panose="02040503050406030204" pitchFamily="18" charset="0"/>
                            </a:rPr>
                            <m:t>𝑃</m:t>
                          </m:r>
                        </m:e>
                      </m:nary>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r>
                            <a:rPr lang="ar-AE">
                              <a:latin typeface="Cambria Math" panose="02040503050406030204" pitchFamily="18" charset="0"/>
                            </a:rPr>
                            <m:t>&gt;</m:t>
                          </m:r>
                          <m:r>
                            <a:rPr lang="ar-AE" i="1">
                              <a:latin typeface="Cambria Math" panose="02040503050406030204" pitchFamily="18" charset="0"/>
                            </a:rPr>
                            <m:t>𝑘</m:t>
                          </m:r>
                        </m:e>
                      </m:d>
                    </m:oMath>
                  </m:oMathPara>
                </a14:m>
                <a:endParaRPr lang="ar-AE" dirty="0"/>
              </a:p>
              <a:p>
                <a:endParaRPr lang="en-US" dirty="0"/>
              </a:p>
            </p:txBody>
          </p:sp>
        </mc:Choice>
        <mc:Fallback xmlns="">
          <p:sp>
            <p:nvSpPr>
              <p:cNvPr id="3" name="Content Placeholder 2">
                <a:extLst>
                  <a:ext uri="{FF2B5EF4-FFF2-40B4-BE49-F238E27FC236}">
                    <a16:creationId xmlns:a16="http://schemas.microsoft.com/office/drawing/2014/main" id="{9CAC0B78-462B-0B5A-5F20-410753BA0E22}"/>
                  </a:ext>
                </a:extLst>
              </p:cNvPr>
              <p:cNvSpPr>
                <a:spLocks noGrp="1" noRot="1" noChangeAspect="1" noMove="1" noResize="1" noEditPoints="1" noAdjustHandles="1" noChangeArrowheads="1" noChangeShapeType="1" noTextEdit="1"/>
              </p:cNvSpPr>
              <p:nvPr>
                <p:ph idx="1"/>
              </p:nvPr>
            </p:nvSpPr>
            <p:spPr>
              <a:xfrm>
                <a:off x="455262" y="1544827"/>
                <a:ext cx="11281475" cy="4198788"/>
              </a:xfrm>
              <a:blipFill>
                <a:blip r:embed="rId2"/>
                <a:stretch>
                  <a:fillRect l="-1237" t="-2711" b="-54217"/>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E4D8B071-BE02-9B6F-1AD2-40F41D054990}"/>
              </a:ext>
            </a:extLst>
          </p:cNvPr>
          <p:cNvSpPr txBox="1">
            <a:spLocks/>
          </p:cNvSpPr>
          <p:nvPr/>
        </p:nvSpPr>
        <p:spPr>
          <a:xfrm>
            <a:off x="0" y="0"/>
            <a:ext cx="1487837" cy="781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模型</a:t>
            </a:r>
            <a:endParaRPr lang="en-US" dirty="0"/>
          </a:p>
        </p:txBody>
      </p:sp>
    </p:spTree>
    <p:extLst>
      <p:ext uri="{BB962C8B-B14F-4D97-AF65-F5344CB8AC3E}">
        <p14:creationId xmlns:p14="http://schemas.microsoft.com/office/powerpoint/2010/main" val="1792690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A41D75-1A0D-C55C-DE72-D0690B86D767}"/>
                  </a:ext>
                </a:extLst>
              </p:cNvPr>
              <p:cNvSpPr>
                <a:spLocks noGrp="1"/>
              </p:cNvSpPr>
              <p:nvPr>
                <p:ph idx="1"/>
              </p:nvPr>
            </p:nvSpPr>
            <p:spPr>
              <a:xfrm>
                <a:off x="246036" y="781750"/>
                <a:ext cx="11699928" cy="5929016"/>
              </a:xfrm>
            </p:spPr>
            <p:txBody>
              <a:bodyPr>
                <a:noAutofit/>
              </a:bodyPr>
              <a:lstStyle/>
              <a:p>
                <a:pPr marL="0" indent="0">
                  <a:buNone/>
                </a:pPr>
                <a:r>
                  <a:rPr lang="zh-CN" altLang="en-US" dirty="0"/>
                  <a:t>对 </a:t>
                </a:r>
                <a:r>
                  <a:rPr lang="en-US" dirty="0"/>
                  <a:t>SKU </a:t>
                </a:r>
                <a:r>
                  <a:rPr lang="en-US" dirty="0" err="1"/>
                  <a:t>i</a:t>
                </a:r>
                <a:r>
                  <a:rPr lang="en-US" dirty="0"/>
                  <a:t> </a:t>
                </a:r>
                <a:r>
                  <a:rPr lang="zh-CN" altLang="en-US" dirty="0"/>
                  <a:t>在库存水平 </a:t>
                </a:r>
                <a:r>
                  <a:rPr lang="en-US" dirty="0"/>
                  <a:t>q </a:t>
                </a:r>
                <a:r>
                  <a:rPr lang="zh-CN" altLang="en-US" dirty="0"/>
                  <a:t>下的收益贡献，定义为：</a:t>
                </a:r>
              </a:p>
              <a:p>
                <a:pPr marL="0"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𝑖𝑞</m:t>
                          </m:r>
                        </m:sub>
                      </m:sSub>
                      <m:r>
                        <a:rPr lang="ar-AE">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𝑢</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e>
                      </m:d>
                      <m:r>
                        <a:rPr lang="ar-AE">
                          <a:latin typeface="Cambria Math" panose="02040503050406030204" pitchFamily="18" charset="0"/>
                        </a:rPr>
                        <m:t>𝔼</m:t>
                      </m:r>
                      <m:d>
                        <m:dPr>
                          <m:begChr m:val="["/>
                          <m:endChr m:val="]"/>
                          <m:ctrlPr>
                            <a:rPr lang="ar-AE" i="1">
                              <a:latin typeface="Cambria Math" panose="02040503050406030204" pitchFamily="18" charset="0"/>
                            </a:rPr>
                          </m:ctrlPr>
                        </m:dPr>
                        <m:e>
                          <m:r>
                            <m:rPr>
                              <m:sty m:val="p"/>
                            </m:rPr>
                            <a:rPr lang="en-US">
                              <a:latin typeface="Cambria Math" panose="02040503050406030204" pitchFamily="18" charset="0"/>
                            </a:rPr>
                            <m:t>min</m:t>
                          </m:r>
                          <m:r>
                            <a:rPr lang="en-US">
                              <a:latin typeface="Cambria Math" panose="02040503050406030204" pitchFamily="18" charset="0"/>
                            </a:rPr>
                            <m:t>⁡</m:t>
                          </m:r>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𝐷</m:t>
                                  </m:r>
                                </m:e>
                                <m:sub>
                                  <m:r>
                                    <a:rPr lang="ar-AE" i="1">
                                      <a:latin typeface="Cambria Math" panose="02040503050406030204" pitchFamily="18" charset="0"/>
                                    </a:rPr>
                                    <m:t>𝑖</m:t>
                                  </m:r>
                                </m:sub>
                              </m:sSub>
                            </m:e>
                            <m:e>
                              <m:r>
                                <a:rPr lang="ar-AE" i="1">
                                  <a:latin typeface="Cambria Math" panose="02040503050406030204" pitchFamily="18" charset="0"/>
                                </a:rPr>
                                <m:t>𝑞</m:t>
                              </m:r>
                            </m:e>
                          </m:d>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𝑖</m:t>
                          </m:r>
                        </m:sub>
                      </m:sSub>
                      <m:r>
                        <a:rPr lang="ar-AE" i="1">
                          <a:latin typeface="Cambria Math" panose="02040503050406030204" pitchFamily="18" charset="0"/>
                        </a:rPr>
                        <m:t>𝑞</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𝑖</m:t>
                          </m:r>
                        </m:sub>
                      </m:sSub>
                    </m:oMath>
                  </m:oMathPara>
                </a14:m>
                <a:endParaRPr lang="ar-AE" dirty="0"/>
              </a:p>
              <a:p>
                <a:pPr marL="0" indent="0">
                  <a:buNone/>
                </a:pPr>
                <a:r>
                  <a:rPr lang="zh-CN" altLang="en-US" dirty="0"/>
                  <a:t>其中：</a:t>
                </a:r>
              </a:p>
              <a:p>
                <a:pPr marL="0" indent="0">
                  <a:buNone/>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𝑢</m:t>
                        </m:r>
                      </m:e>
                      <m:sub>
                        <m:r>
                          <a:rPr lang="en-US" i="1" dirty="0" smtClean="0">
                            <a:latin typeface="Cambria Math" panose="02040503050406030204" pitchFamily="18" charset="0"/>
                          </a:rPr>
                          <m:t>𝑖</m:t>
                        </m:r>
                      </m:sub>
                    </m:sSub>
                  </m:oMath>
                </a14:m>
                <a:r>
                  <a:rPr lang="en-US" dirty="0"/>
                  <a:t>：</a:t>
                </a:r>
                <a:r>
                  <a:rPr lang="zh-CN" altLang="en-US" dirty="0"/>
                  <a:t>单位收益</a:t>
                </a:r>
                <a:r>
                  <a:rPr lang="en-US" altLang="zh-CN"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h</m:t>
                        </m:r>
                      </m:e>
                      <m:sub>
                        <m:r>
                          <a:rPr lang="en-US" i="1" dirty="0" smtClean="0">
                            <a:latin typeface="Cambria Math" panose="02040503050406030204" pitchFamily="18" charset="0"/>
                          </a:rPr>
                          <m:t>𝑖</m:t>
                        </m:r>
                      </m:sub>
                    </m:sSub>
                  </m:oMath>
                </a14:m>
                <a:r>
                  <a:rPr lang="en-US" dirty="0"/>
                  <a:t>：</a:t>
                </a:r>
                <a:r>
                  <a:rPr lang="zh-CN" altLang="en-US" dirty="0"/>
                  <a:t>持有成本</a:t>
                </a:r>
                <a:r>
                  <a:rPr lang="en-US" altLang="zh-CN"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𝑖</m:t>
                        </m:r>
                      </m:sub>
                    </m:sSub>
                  </m:oMath>
                </a14:m>
                <a:r>
                  <a:rPr lang="en-US" dirty="0"/>
                  <a:t>：</a:t>
                </a:r>
                <a:r>
                  <a:rPr lang="zh-CN" altLang="en-US" dirty="0"/>
                  <a:t>缺货惩罚成本</a:t>
                </a:r>
                <a:r>
                  <a:rPr lang="en-US" altLang="zh-CN"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𝑖</m:t>
                        </m:r>
                      </m:sub>
                    </m:sSub>
                  </m:oMath>
                </a14:m>
                <a:r>
                  <a:rPr lang="en-US" dirty="0"/>
                  <a:t>：</a:t>
                </a:r>
                <a:r>
                  <a:rPr lang="zh-CN" altLang="en-US" dirty="0"/>
                  <a:t>固定上架成本</a:t>
                </a:r>
                <a:r>
                  <a:rPr lang="en-US" altLang="zh-CN" dirty="0"/>
                  <a:t>;  </a:t>
                </a:r>
                <a14:m>
                  <m:oMath xmlns:m="http://schemas.openxmlformats.org/officeDocument/2006/math">
                    <m:sSub>
                      <m:sSubPr>
                        <m:ctrlPr>
                          <a:rPr lang="en-US" altLang="zh-CN" b="0" i="1" smtClean="0">
                            <a:latin typeface="Cambria Math" panose="02040503050406030204" pitchFamily="18" charset="0"/>
                          </a:rPr>
                        </m:ctrlPr>
                      </m:sSubPr>
                      <m:e>
                        <m:r>
                          <a:rPr lang="zh-CN" altLang="en-US" i="1" smtClean="0">
                            <a:latin typeface="Cambria Math" panose="02040503050406030204" pitchFamily="18" charset="0"/>
                          </a:rPr>
                          <m:t>𝜇</m:t>
                        </m:r>
                      </m:e>
                      <m:sub>
                        <m:r>
                          <a:rPr lang="en-US" altLang="zh-CN" b="0" i="1" smtClean="0">
                            <a:latin typeface="Cambria Math" panose="02040503050406030204" pitchFamily="18" charset="0"/>
                          </a:rPr>
                          <m:t>𝑖</m:t>
                        </m:r>
                      </m:sub>
                    </m:sSub>
                  </m:oMath>
                </a14:m>
                <a:r>
                  <a:rPr lang="en-US" dirty="0"/>
                  <a:t>：</a:t>
                </a:r>
                <a:r>
                  <a:rPr lang="zh-CN" altLang="en-US" dirty="0"/>
                  <a:t>需求均值</a:t>
                </a:r>
              </a:p>
              <a:p>
                <a:pPr marL="0" indent="0">
                  <a:buNone/>
                </a:pPr>
                <a:r>
                  <a:rPr lang="zh-CN" altLang="en-US" dirty="0"/>
                  <a:t>总体优化目标：</a:t>
                </a:r>
              </a:p>
              <a:p>
                <a:pPr marL="0" indent="0">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max</m:t>
                      </m:r>
                      <m:r>
                        <a:rPr lang="en-US">
                          <a:latin typeface="Cambria Math" panose="02040503050406030204" pitchFamily="18" charset="0"/>
                        </a:rPr>
                        <m:t>⁡</m:t>
                      </m:r>
                      <m:func>
                        <m:funcPr>
                          <m:ctrlPr>
                            <a:rPr lang="ar-AE" i="1">
                              <a:latin typeface="Cambria Math" panose="02040503050406030204" pitchFamily="18" charset="0"/>
                            </a:rPr>
                          </m:ctrlPr>
                        </m:funcPr>
                        <m:fName>
                          <m:r>
                            <a:rPr lang="ar-AE">
                              <a:latin typeface="Cambria Math" panose="02040503050406030204" pitchFamily="18" charset="0"/>
                            </a:rPr>
                            <m:t>∑</m:t>
                          </m:r>
                        </m:fName>
                        <m:e>
                          <m:r>
                            <a:rPr lang="ar-AE" i="1">
                              <a:latin typeface="Cambria Math" panose="02040503050406030204" pitchFamily="18" charset="0"/>
                            </a:rPr>
                            <m:t>𝑁</m:t>
                          </m:r>
                        </m:e>
                      </m:func>
                      <m:nary>
                        <m:naryPr>
                          <m:chr m:val="∑"/>
                          <m:grow m:val="on"/>
                          <m:ctrlPr>
                            <a:rPr lang="ar-AE" i="1">
                              <a:latin typeface="Cambria Math" panose="02040503050406030204" pitchFamily="18" charset="0"/>
                            </a:rPr>
                          </m:ctrlPr>
                        </m:naryPr>
                        <m:sub>
                          <m:r>
                            <a:rPr lang="ar-AE" i="1">
                              <a:latin typeface="Cambria Math" panose="02040503050406030204" pitchFamily="18" charset="0"/>
                            </a:rPr>
                            <m:t>𝑞</m:t>
                          </m:r>
                          <m:r>
                            <a:rPr lang="ar-AE">
                              <a:latin typeface="Cambria Math" panose="02040503050406030204" pitchFamily="18" charset="0"/>
                            </a:rPr>
                            <m:t>=0</m:t>
                          </m:r>
                        </m:sub>
                        <m:sup>
                          <m:sSub>
                            <m:sSubPr>
                              <m:ctrlPr>
                                <a:rPr lang="ar-AE" i="1">
                                  <a:latin typeface="Cambria Math" panose="02040503050406030204" pitchFamily="18" charset="0"/>
                                </a:rPr>
                              </m:ctrlPr>
                            </m:sSubPr>
                            <m:e>
                              <m:r>
                                <a:rPr lang="ar-AE" i="1">
                                  <a:latin typeface="Cambria Math" panose="02040503050406030204" pitchFamily="18" charset="0"/>
                                </a:rPr>
                                <m:t>𝑄</m:t>
                              </m:r>
                            </m:e>
                            <m:sub>
                              <m:r>
                                <m:rPr>
                                  <m:sty m:val="p"/>
                                </m:rPr>
                                <a:rPr lang="en-US">
                                  <a:latin typeface="Cambria Math" panose="02040503050406030204" pitchFamily="18" charset="0"/>
                                </a:rPr>
                                <m:t>max</m:t>
                              </m:r>
                            </m:sub>
                          </m:sSub>
                        </m:sup>
                        <m:e>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𝑖𝑞</m:t>
                              </m:r>
                            </m:sub>
                          </m:sSub>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𝑖𝑞</m:t>
                          </m:r>
                        </m:sub>
                      </m:sSub>
                    </m:oMath>
                  </m:oMathPara>
                </a14:m>
                <a:endParaRPr lang="ar-AE" dirty="0"/>
              </a:p>
              <a:p>
                <a:pPr marL="0" indent="0">
                  <a:buNone/>
                </a:pPr>
                <a:r>
                  <a:rPr lang="zh-CN" altLang="en-US" dirty="0"/>
                  <a:t>约束包括：</a:t>
                </a:r>
              </a:p>
              <a:p>
                <a:pPr marL="0" indent="0">
                  <a:buNone/>
                </a:pPr>
                <a14:m>
                  <m:oMathPara xmlns:m="http://schemas.openxmlformats.org/officeDocument/2006/math">
                    <m:oMathParaPr>
                      <m:jc m:val="centerGroup"/>
                    </m:oMathParaPr>
                    <m:oMath xmlns:m="http://schemas.openxmlformats.org/officeDocument/2006/math">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=1</m:t>
                          </m:r>
                        </m:sub>
                        <m:sup>
                          <m:r>
                            <a:rPr lang="ar-AE" i="1">
                              <a:latin typeface="Cambria Math" panose="02040503050406030204" pitchFamily="18" charset="0"/>
                            </a:rPr>
                            <m:t>𝑁</m:t>
                          </m:r>
                        </m:sup>
                        <m:e>
                          <m:nary>
                            <m:naryPr>
                              <m:chr m:val="∑"/>
                              <m:limLoc m:val="undOvr"/>
                              <m:ctrlPr>
                                <a:rPr lang="ar-AE" i="1">
                                  <a:latin typeface="Cambria Math" panose="02040503050406030204" pitchFamily="18" charset="0"/>
                                </a:rPr>
                              </m:ctrlPr>
                            </m:naryPr>
                            <m:sub>
                              <m:r>
                                <a:rPr lang="ar-AE" i="1">
                                  <a:latin typeface="Cambria Math" panose="02040503050406030204" pitchFamily="18" charset="0"/>
                                </a:rPr>
                                <m:t>𝑞</m:t>
                              </m:r>
                              <m:r>
                                <a:rPr lang="ar-AE">
                                  <a:latin typeface="Cambria Math" panose="02040503050406030204" pitchFamily="18" charset="0"/>
                                </a:rPr>
                                <m:t>=0</m:t>
                              </m:r>
                            </m:sub>
                            <m:sup>
                              <m:sSub>
                                <m:sSubPr>
                                  <m:ctrlPr>
                                    <a:rPr lang="ar-AE" i="1">
                                      <a:latin typeface="Cambria Math" panose="02040503050406030204" pitchFamily="18" charset="0"/>
                                    </a:rPr>
                                  </m:ctrlPr>
                                </m:sSubPr>
                                <m:e>
                                  <m:r>
                                    <a:rPr lang="ar-AE" i="1">
                                      <a:latin typeface="Cambria Math" panose="02040503050406030204" pitchFamily="18" charset="0"/>
                                    </a:rPr>
                                    <m:t>𝑄</m:t>
                                  </m:r>
                                </m:e>
                                <m:sub>
                                  <m:r>
                                    <m:rPr>
                                      <m:sty m:val="p"/>
                                    </m:rPr>
                                    <a:rPr lang="en-US">
                                      <a:latin typeface="Cambria Math" panose="02040503050406030204" pitchFamily="18" charset="0"/>
                                    </a:rPr>
                                    <m:t>max</m:t>
                                  </m:r>
                                </m:sub>
                              </m:sSub>
                            </m:sup>
                            <m:e>
                              <m:sSubSup>
                                <m:sSubSupPr>
                                  <m:ctrlPr>
                                    <a:rPr lang="ar-AE" i="1">
                                      <a:latin typeface="Cambria Math" panose="02040503050406030204" pitchFamily="18" charset="0"/>
                                    </a:rPr>
                                  </m:ctrlPr>
                                </m:sSubSupPr>
                                <m:e>
                                  <m:r>
                                    <a:rPr lang="ar-AE" i="1">
                                      <a:latin typeface="Cambria Math" panose="02040503050406030204" pitchFamily="18" charset="0"/>
                                    </a:rPr>
                                    <m:t>𝐴</m:t>
                                  </m:r>
                                </m:e>
                                <m:sub>
                                  <m:r>
                                    <a:rPr lang="ar-AE" i="1">
                                      <a:latin typeface="Cambria Math" panose="02040503050406030204" pitchFamily="18" charset="0"/>
                                    </a:rPr>
                                    <m:t>𝑖𝑞</m:t>
                                  </m:r>
                                </m:sub>
                                <m:sup>
                                  <m:r>
                                    <a:rPr lang="ar-AE" i="1">
                                      <a:latin typeface="Cambria Math" panose="02040503050406030204" pitchFamily="18" charset="0"/>
                                    </a:rPr>
                                    <m:t>𝑉</m:t>
                                  </m:r>
                                </m:sup>
                              </m:sSubSup>
                            </m:e>
                          </m:nary>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𝑖𝑞</m:t>
                          </m:r>
                        </m:sub>
                      </m:sSub>
                      <m:r>
                        <a:rPr lang="ar-AE">
                          <a:latin typeface="Cambria Math" panose="02040503050406030204" pitchFamily="18" charset="0"/>
                        </a:rPr>
                        <m:t>≤</m:t>
                      </m:r>
                      <m:r>
                        <a:rPr lang="ar-AE" i="1">
                          <a:latin typeface="Cambria Math" panose="02040503050406030204" pitchFamily="18" charset="0"/>
                        </a:rPr>
                        <m:t>𝑉</m:t>
                      </m:r>
                      <m:r>
                        <a:rPr lang="en-US" b="0" i="0" smtClean="0">
                          <a:latin typeface="Cambria Math" panose="02040503050406030204" pitchFamily="18" charset="0"/>
                        </a:rPr>
                        <m:t> </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=1</m:t>
                          </m:r>
                        </m:sub>
                        <m:sup>
                          <m:r>
                            <a:rPr lang="ar-AE" i="1">
                              <a:latin typeface="Cambria Math" panose="02040503050406030204" pitchFamily="18" charset="0"/>
                            </a:rPr>
                            <m:t>𝑁</m:t>
                          </m:r>
                        </m:sup>
                        <m:e>
                          <m:nary>
                            <m:naryPr>
                              <m:chr m:val="∑"/>
                              <m:limLoc m:val="undOvr"/>
                              <m:ctrlPr>
                                <a:rPr lang="ar-AE" i="1">
                                  <a:latin typeface="Cambria Math" panose="02040503050406030204" pitchFamily="18" charset="0"/>
                                </a:rPr>
                              </m:ctrlPr>
                            </m:naryPr>
                            <m:sub>
                              <m:r>
                                <a:rPr lang="ar-AE" i="1">
                                  <a:latin typeface="Cambria Math" panose="02040503050406030204" pitchFamily="18" charset="0"/>
                                </a:rPr>
                                <m:t>𝑞</m:t>
                              </m:r>
                              <m:r>
                                <a:rPr lang="ar-AE">
                                  <a:latin typeface="Cambria Math" panose="02040503050406030204" pitchFamily="18" charset="0"/>
                                </a:rPr>
                                <m:t>=0</m:t>
                              </m:r>
                            </m:sub>
                            <m:sup>
                              <m:sSub>
                                <m:sSubPr>
                                  <m:ctrlPr>
                                    <a:rPr lang="ar-AE" i="1">
                                      <a:latin typeface="Cambria Math" panose="02040503050406030204" pitchFamily="18" charset="0"/>
                                    </a:rPr>
                                  </m:ctrlPr>
                                </m:sSubPr>
                                <m:e>
                                  <m:r>
                                    <a:rPr lang="ar-AE" i="1">
                                      <a:latin typeface="Cambria Math" panose="02040503050406030204" pitchFamily="18" charset="0"/>
                                    </a:rPr>
                                    <m:t>𝑄</m:t>
                                  </m:r>
                                </m:e>
                                <m:sub>
                                  <m:r>
                                    <m:rPr>
                                      <m:sty m:val="p"/>
                                    </m:rPr>
                                    <a:rPr lang="en-US">
                                      <a:latin typeface="Cambria Math" panose="02040503050406030204" pitchFamily="18" charset="0"/>
                                    </a:rPr>
                                    <m:t>max</m:t>
                                  </m:r>
                                </m:sub>
                              </m:sSub>
                            </m:sup>
                            <m:e>
                              <m:sSubSup>
                                <m:sSubSupPr>
                                  <m:ctrlPr>
                                    <a:rPr lang="ar-AE" i="1">
                                      <a:latin typeface="Cambria Math" panose="02040503050406030204" pitchFamily="18" charset="0"/>
                                    </a:rPr>
                                  </m:ctrlPr>
                                </m:sSubSupPr>
                                <m:e>
                                  <m:r>
                                    <a:rPr lang="ar-AE" i="1">
                                      <a:latin typeface="Cambria Math" panose="02040503050406030204" pitchFamily="18" charset="0"/>
                                    </a:rPr>
                                    <m:t>𝐴</m:t>
                                  </m:r>
                                </m:e>
                                <m:sub>
                                  <m:r>
                                    <a:rPr lang="ar-AE" i="1">
                                      <a:latin typeface="Cambria Math" panose="02040503050406030204" pitchFamily="18" charset="0"/>
                                    </a:rPr>
                                    <m:t>𝑖𝑞</m:t>
                                  </m:r>
                                </m:sub>
                                <m:sup>
                                  <m:r>
                                    <a:rPr lang="ar-AE" i="1">
                                      <a:latin typeface="Cambria Math" panose="02040503050406030204" pitchFamily="18" charset="0"/>
                                    </a:rPr>
                                    <m:t>𝑊</m:t>
                                  </m:r>
                                </m:sup>
                              </m:sSubSup>
                            </m:e>
                          </m:nary>
                        </m:e>
                      </m:nary>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𝑖𝑞</m:t>
                          </m:r>
                        </m:sub>
                      </m:sSub>
                      <m:r>
                        <a:rPr lang="ar-AE">
                          <a:latin typeface="Cambria Math" panose="02040503050406030204" pitchFamily="18" charset="0"/>
                        </a:rPr>
                        <m:t>≤</m:t>
                      </m:r>
                      <m:r>
                        <a:rPr lang="ar-AE" i="1">
                          <a:latin typeface="Cambria Math" panose="02040503050406030204" pitchFamily="18" charset="0"/>
                        </a:rPr>
                        <m:t>𝑊</m:t>
                      </m:r>
                    </m:oMath>
                  </m:oMathPara>
                </a14:m>
                <a:endParaRPr lang="ar-AE"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A0A41D75-1A0D-C55C-DE72-D0690B86D767}"/>
                  </a:ext>
                </a:extLst>
              </p:cNvPr>
              <p:cNvSpPr>
                <a:spLocks noGrp="1" noRot="1" noChangeAspect="1" noMove="1" noResize="1" noEditPoints="1" noAdjustHandles="1" noChangeArrowheads="1" noChangeShapeType="1" noTextEdit="1"/>
              </p:cNvSpPr>
              <p:nvPr>
                <p:ph idx="1"/>
              </p:nvPr>
            </p:nvSpPr>
            <p:spPr>
              <a:xfrm>
                <a:off x="246036" y="781750"/>
                <a:ext cx="11699928" cy="5929016"/>
              </a:xfrm>
              <a:blipFill>
                <a:blip r:embed="rId2"/>
                <a:stretch>
                  <a:fillRect l="-6508" t="-1709" r="-759" b="-89316"/>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C770F7E5-5050-4FAE-DAE4-BE01D9BB9113}"/>
              </a:ext>
            </a:extLst>
          </p:cNvPr>
          <p:cNvSpPr txBox="1">
            <a:spLocks/>
          </p:cNvSpPr>
          <p:nvPr/>
        </p:nvSpPr>
        <p:spPr>
          <a:xfrm>
            <a:off x="0" y="0"/>
            <a:ext cx="1487837" cy="781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模型</a:t>
            </a:r>
            <a:endParaRPr lang="en-US" dirty="0"/>
          </a:p>
        </p:txBody>
      </p:sp>
    </p:spTree>
    <p:extLst>
      <p:ext uri="{BB962C8B-B14F-4D97-AF65-F5344CB8AC3E}">
        <p14:creationId xmlns:p14="http://schemas.microsoft.com/office/powerpoint/2010/main" val="3914696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FCB8-D581-CED7-96DC-A17B5BE07455}"/>
              </a:ext>
            </a:extLst>
          </p:cNvPr>
          <p:cNvSpPr>
            <a:spLocks noGrp="1"/>
          </p:cNvSpPr>
          <p:nvPr>
            <p:ph type="title"/>
          </p:nvPr>
        </p:nvSpPr>
        <p:spPr>
          <a:xfrm>
            <a:off x="0" y="18255"/>
            <a:ext cx="10515600" cy="1325563"/>
          </a:xfrm>
        </p:spPr>
        <p:txBody>
          <a:bodyPr/>
          <a:lstStyle/>
          <a:p>
            <a:r>
              <a:rPr lang="zh-CN" altLang="en-US" dirty="0">
                <a:latin typeface="+mj-ea"/>
              </a:rPr>
              <a:t>求解方法设计：</a:t>
            </a:r>
            <a:r>
              <a:rPr lang="en-US" dirty="0" err="1">
                <a:latin typeface="+mj-ea"/>
              </a:rPr>
              <a:t>Greedy、DP-Lagrangian</a:t>
            </a:r>
            <a:r>
              <a:rPr lang="en-US" dirty="0">
                <a:latin typeface="+mj-ea"/>
              </a:rPr>
              <a:t> </a:t>
            </a:r>
            <a:r>
              <a:rPr lang="zh-CN" altLang="en-US" dirty="0">
                <a:latin typeface="+mj-ea"/>
              </a:rPr>
              <a:t>与 </a:t>
            </a:r>
            <a:r>
              <a:rPr lang="en-US" dirty="0">
                <a:latin typeface="+mj-ea"/>
              </a:rPr>
              <a:t>CP-SAT</a:t>
            </a:r>
          </a:p>
        </p:txBody>
      </p:sp>
      <p:sp>
        <p:nvSpPr>
          <p:cNvPr id="3" name="Content Placeholder 2">
            <a:extLst>
              <a:ext uri="{FF2B5EF4-FFF2-40B4-BE49-F238E27FC236}">
                <a16:creationId xmlns:a16="http://schemas.microsoft.com/office/drawing/2014/main" id="{2C844462-290C-BDF8-774A-5A3A871F028C}"/>
              </a:ext>
            </a:extLst>
          </p:cNvPr>
          <p:cNvSpPr>
            <a:spLocks noGrp="1"/>
          </p:cNvSpPr>
          <p:nvPr>
            <p:ph idx="1"/>
          </p:nvPr>
        </p:nvSpPr>
        <p:spPr>
          <a:xfrm>
            <a:off x="0" y="1350932"/>
            <a:ext cx="7653127" cy="1683450"/>
          </a:xfrm>
        </p:spPr>
        <p:txBody>
          <a:bodyPr>
            <a:normAutofit/>
          </a:bodyPr>
          <a:lstStyle/>
          <a:p>
            <a:pPr marL="0" indent="0">
              <a:buNone/>
            </a:pPr>
            <a:r>
              <a:rPr lang="en-US" b="1" dirty="0"/>
              <a:t>1. Greedy</a:t>
            </a:r>
            <a:endParaRPr lang="en-US" dirty="0"/>
          </a:p>
          <a:p>
            <a:pPr marL="0" indent="0">
              <a:buNone/>
            </a:pPr>
            <a:r>
              <a:rPr lang="zh-CN" altLang="en-US" dirty="0"/>
              <a:t>先为每个 </a:t>
            </a:r>
            <a:r>
              <a:rPr lang="en-US" dirty="0"/>
              <a:t>SKU </a:t>
            </a:r>
            <a:r>
              <a:rPr lang="zh-CN" altLang="en-US" dirty="0"/>
              <a:t>找局部最优库存水平</a:t>
            </a:r>
          </a:p>
          <a:p>
            <a:pPr marL="0" indent="0">
              <a:buNone/>
            </a:pPr>
            <a:r>
              <a:rPr lang="zh-CN" altLang="en-US" dirty="0"/>
              <a:t>再按资源收益密度进行装载</a:t>
            </a:r>
            <a:endParaRPr lang="en-US" altLang="zh-CN" dirty="0"/>
          </a:p>
          <a:p>
            <a:pPr marL="0" indent="0">
              <a:buNone/>
            </a:pPr>
            <a:endParaRPr lang="zh-CN" altLang="en-US" dirty="0"/>
          </a:p>
          <a:p>
            <a:pPr marL="0" indent="0">
              <a:buNone/>
            </a:pPr>
            <a:endParaRPr lang="zh-CN" altLang="en-US" dirty="0"/>
          </a:p>
          <a:p>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D72C3E0-D068-4714-ED0B-BA434F9F5E47}"/>
                  </a:ext>
                </a:extLst>
              </p:cNvPr>
              <p:cNvSpPr txBox="1"/>
              <p:nvPr/>
            </p:nvSpPr>
            <p:spPr>
              <a:xfrm>
                <a:off x="6595791" y="1732069"/>
                <a:ext cx="1541721" cy="9584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800" b="0" i="1" dirty="0" smtClean="0">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𝐺</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Sub>
                        </m:num>
                        <m:den>
                          <m:r>
                            <a:rPr lang="en-US" sz="2800" i="1" dirty="0">
                              <a:latin typeface="Cambria Math" panose="02040503050406030204" pitchFamily="18" charset="0"/>
                            </a:rPr>
                            <m:t>资源</m:t>
                          </m:r>
                          <m:r>
                            <a:rPr lang="en-US" sz="2800" i="1" dirty="0" smtClean="0">
                              <a:latin typeface="Cambria Math" panose="02040503050406030204" pitchFamily="18" charset="0"/>
                            </a:rPr>
                            <m:t>占用</m:t>
                          </m:r>
                        </m:den>
                      </m:f>
                    </m:oMath>
                  </m:oMathPara>
                </a14:m>
                <a:br>
                  <a:rPr lang="en-US" sz="2800" dirty="0"/>
                </a:br>
                <a:endParaRPr lang="en-US" sz="2800" dirty="0"/>
              </a:p>
            </p:txBody>
          </p:sp>
        </mc:Choice>
        <mc:Fallback xmlns="">
          <p:sp>
            <p:nvSpPr>
              <p:cNvPr id="11" name="TextBox 10">
                <a:extLst>
                  <a:ext uri="{FF2B5EF4-FFF2-40B4-BE49-F238E27FC236}">
                    <a16:creationId xmlns:a16="http://schemas.microsoft.com/office/drawing/2014/main" id="{7D72C3E0-D068-4714-ED0B-BA434F9F5E47}"/>
                  </a:ext>
                </a:extLst>
              </p:cNvPr>
              <p:cNvSpPr txBox="1">
                <a:spLocks noRot="1" noChangeAspect="1" noMove="1" noResize="1" noEditPoints="1" noAdjustHandles="1" noChangeArrowheads="1" noChangeShapeType="1" noTextEdit="1"/>
              </p:cNvSpPr>
              <p:nvPr/>
            </p:nvSpPr>
            <p:spPr>
              <a:xfrm>
                <a:off x="6595791" y="1732069"/>
                <a:ext cx="1541721" cy="958404"/>
              </a:xfrm>
              <a:prstGeom prst="rect">
                <a:avLst/>
              </a:prstGeom>
              <a:blipFill>
                <a:blip r:embed="rId2"/>
                <a:stretch>
                  <a:fillRect l="-4918" r="-9016"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D74C6B2-D241-5D23-1A56-4C84CD5AA7B2}"/>
                  </a:ext>
                </a:extLst>
              </p:cNvPr>
              <p:cNvSpPr txBox="1"/>
              <p:nvPr/>
            </p:nvSpPr>
            <p:spPr>
              <a:xfrm>
                <a:off x="4473655" y="3663847"/>
                <a:ext cx="2608406" cy="14741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800" i="1" smtClean="0">
                              <a:latin typeface="Cambria Math" panose="02040503050406030204" pitchFamily="18" charset="0"/>
                            </a:rPr>
                          </m:ctrlPr>
                        </m:funcPr>
                        <m:fName>
                          <m:r>
                            <m:rPr>
                              <m:sty m:val="p"/>
                            </m:rPr>
                            <a:rPr lang="en-US" sz="2800" i="0">
                              <a:latin typeface="Cambria Math" panose="02040503050406030204" pitchFamily="18" charset="0"/>
                            </a:rPr>
                            <m:t>max</m:t>
                          </m:r>
                        </m:fName>
                        <m:e>
                          <m:nary>
                            <m:naryPr>
                              <m:chr m:val="∑"/>
                              <m:subHide m:val="on"/>
                              <m:supHide m:val="on"/>
                              <m:ctrlPr>
                                <a:rPr lang="en-US" sz="2800" i="1">
                                  <a:latin typeface="Cambria Math" panose="02040503050406030204" pitchFamily="18" charset="0"/>
                                </a:rPr>
                              </m:ctrlPr>
                            </m:naryPr>
                            <m:sub/>
                            <m:sup/>
                            <m:e>
                              <m:sSub>
                                <m:sSubPr>
                                  <m:ctrlPr>
                                    <a:rPr lang="en-US" sz="2800" i="1">
                                      <a:latin typeface="Cambria Math" panose="02040503050406030204" pitchFamily="18" charset="0"/>
                                    </a:rPr>
                                  </m:ctrlPr>
                                </m:sSubPr>
                                <m:e>
                                  <m:r>
                                    <a:rPr lang="en-US" sz="2800" i="1">
                                      <a:latin typeface="Cambria Math" panose="02040503050406030204" pitchFamily="18" charset="0"/>
                                    </a:rPr>
                                    <m:t>𝐺</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Sub>
                            </m:e>
                          </m:nary>
                        </m:e>
                      </m:func>
                    </m:oMath>
                  </m:oMathPara>
                </a14:m>
                <a:endParaRPr lang="en-US" sz="2800" dirty="0"/>
              </a:p>
              <a:p>
                <a:endParaRPr lang="en-US" sz="2800" dirty="0"/>
              </a:p>
            </p:txBody>
          </p:sp>
        </mc:Choice>
        <mc:Fallback xmlns="">
          <p:sp>
            <p:nvSpPr>
              <p:cNvPr id="15" name="TextBox 14">
                <a:extLst>
                  <a:ext uri="{FF2B5EF4-FFF2-40B4-BE49-F238E27FC236}">
                    <a16:creationId xmlns:a16="http://schemas.microsoft.com/office/drawing/2014/main" id="{CD74C6B2-D241-5D23-1A56-4C84CD5AA7B2}"/>
                  </a:ext>
                </a:extLst>
              </p:cNvPr>
              <p:cNvSpPr txBox="1">
                <a:spLocks noRot="1" noChangeAspect="1" noMove="1" noResize="1" noEditPoints="1" noAdjustHandles="1" noChangeArrowheads="1" noChangeShapeType="1" noTextEdit="1"/>
              </p:cNvSpPr>
              <p:nvPr/>
            </p:nvSpPr>
            <p:spPr>
              <a:xfrm>
                <a:off x="4473655" y="3663847"/>
                <a:ext cx="2608406" cy="1474121"/>
              </a:xfrm>
              <a:prstGeom prst="rect">
                <a:avLst/>
              </a:prstGeom>
              <a:blipFill>
                <a:blip r:embed="rId3"/>
                <a:stretch>
                  <a:fillRect l="-18932" t="-103419" b="-1145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BF04310-E90C-AB07-E830-64204A4B410B}"/>
                  </a:ext>
                </a:extLst>
              </p:cNvPr>
              <p:cNvSpPr txBox="1"/>
              <p:nvPr/>
            </p:nvSpPr>
            <p:spPr>
              <a:xfrm>
                <a:off x="7777113" y="3693023"/>
                <a:ext cx="4892509" cy="14741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800" i="1" smtClean="0">
                              <a:latin typeface="Cambria Math" panose="02040503050406030204" pitchFamily="18" charset="0"/>
                            </a:rPr>
                          </m:ctrlPr>
                        </m:funcPr>
                        <m:fName>
                          <m:r>
                            <m:rPr>
                              <m:sty m:val="p"/>
                            </m:rPr>
                            <a:rPr lang="en-US" sz="2800" i="0">
                              <a:latin typeface="Cambria Math" panose="02040503050406030204" pitchFamily="18" charset="0"/>
                            </a:rPr>
                            <m:t>max</m:t>
                          </m:r>
                        </m:fName>
                        <m:e>
                          <m:nary>
                            <m:naryPr>
                              <m:chr m:val="∑"/>
                              <m:subHide m:val="on"/>
                              <m:supHide m:val="on"/>
                              <m:ctrlPr>
                                <a:rPr lang="en-US" sz="2800" i="1">
                                  <a:latin typeface="Cambria Math" panose="02040503050406030204" pitchFamily="18" charset="0"/>
                                </a:rPr>
                              </m:ctrlPr>
                            </m:naryPr>
                            <m:sub/>
                            <m:sup/>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𝐺</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Sub>
                                  <m:r>
                                    <a:rPr lang="en-US" sz="2800" i="1">
                                      <a:latin typeface="Cambria Math" panose="02040503050406030204" pitchFamily="18" charset="0"/>
                                    </a:rPr>
                                    <m:t>−</m:t>
                                  </m:r>
                                  <m:r>
                                    <a:rPr lang="en-US" sz="2800" i="1">
                                      <a:latin typeface="Cambria Math" panose="02040503050406030204" pitchFamily="18" charset="0"/>
                                    </a:rPr>
                                    <m:t>𝜆</m:t>
                                  </m:r>
                                  <m:sSubSup>
                                    <m:sSubSupPr>
                                      <m:ctrlPr>
                                        <a:rPr lang="en-US" sz="2800" i="1">
                                          <a:latin typeface="Cambria Math" panose="02040503050406030204" pitchFamily="18" charset="0"/>
                                        </a:rPr>
                                      </m:ctrlPr>
                                    </m:sSubSupPr>
                                    <m:e>
                                      <m:r>
                                        <a:rPr lang="en-US" sz="2800" i="1">
                                          <a:latin typeface="Cambria Math" panose="02040503050406030204" pitchFamily="18" charset="0"/>
                                        </a:rPr>
                                        <m:t>𝐴</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up>
                                      <m:r>
                                        <a:rPr lang="en-US" sz="2800" i="1">
                                          <a:latin typeface="Cambria Math" panose="02040503050406030204" pitchFamily="18" charset="0"/>
                                        </a:rPr>
                                        <m:t>𝑊</m:t>
                                      </m:r>
                                    </m:sup>
                                  </m:sSubSup>
                                </m:e>
                              </m:d>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𝑞</m:t>
                                  </m:r>
                                </m:sub>
                              </m:sSub>
                            </m:e>
                          </m:nary>
                        </m:e>
                      </m:func>
                    </m:oMath>
                  </m:oMathPara>
                </a14:m>
                <a:endParaRPr lang="en-US" sz="2800" dirty="0"/>
              </a:p>
              <a:p>
                <a:endParaRPr lang="en-US" sz="2800" dirty="0"/>
              </a:p>
            </p:txBody>
          </p:sp>
        </mc:Choice>
        <mc:Fallback xmlns="">
          <p:sp>
            <p:nvSpPr>
              <p:cNvPr id="16" name="TextBox 15">
                <a:extLst>
                  <a:ext uri="{FF2B5EF4-FFF2-40B4-BE49-F238E27FC236}">
                    <a16:creationId xmlns:a16="http://schemas.microsoft.com/office/drawing/2014/main" id="{6BF04310-E90C-AB07-E830-64204A4B410B}"/>
                  </a:ext>
                </a:extLst>
              </p:cNvPr>
              <p:cNvSpPr txBox="1">
                <a:spLocks noRot="1" noChangeAspect="1" noMove="1" noResize="1" noEditPoints="1" noAdjustHandles="1" noChangeArrowheads="1" noChangeShapeType="1" noTextEdit="1"/>
              </p:cNvSpPr>
              <p:nvPr/>
            </p:nvSpPr>
            <p:spPr>
              <a:xfrm>
                <a:off x="7777113" y="3693023"/>
                <a:ext cx="4892509" cy="1474121"/>
              </a:xfrm>
              <a:prstGeom prst="rect">
                <a:avLst/>
              </a:prstGeom>
              <a:blipFill>
                <a:blip r:embed="rId4"/>
                <a:stretch>
                  <a:fillRect l="-1295" t="-102542" b="-112712"/>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A7504398-7E4C-80F5-DD6B-A91F517C9826}"/>
              </a:ext>
            </a:extLst>
          </p:cNvPr>
          <p:cNvCxnSpPr/>
          <p:nvPr/>
        </p:nvCxnSpPr>
        <p:spPr>
          <a:xfrm>
            <a:off x="6974740" y="4205893"/>
            <a:ext cx="122548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AF458DFE-B6AF-5612-F41F-4AD198DFA561}"/>
              </a:ext>
            </a:extLst>
          </p:cNvPr>
          <p:cNvSpPr txBox="1"/>
          <p:nvPr/>
        </p:nvSpPr>
        <p:spPr>
          <a:xfrm>
            <a:off x="62712" y="3178234"/>
            <a:ext cx="4768525" cy="1815882"/>
          </a:xfrm>
          <a:prstGeom prst="rect">
            <a:avLst/>
          </a:prstGeom>
          <a:noFill/>
        </p:spPr>
        <p:txBody>
          <a:bodyPr wrap="square">
            <a:spAutoFit/>
          </a:bodyPr>
          <a:lstStyle/>
          <a:p>
            <a:pPr marL="0" indent="0">
              <a:buNone/>
            </a:pPr>
            <a:r>
              <a:rPr lang="en-US" altLang="zh-CN" sz="2800" b="1" dirty="0"/>
              <a:t>2. </a:t>
            </a:r>
            <a:r>
              <a:rPr lang="en-US" sz="2800" b="1" dirty="0"/>
              <a:t>DP-</a:t>
            </a:r>
            <a:r>
              <a:rPr lang="en-US" sz="2800" b="1" dirty="0" err="1"/>
              <a:t>Lagrangian</a:t>
            </a:r>
            <a:endParaRPr lang="en-US" sz="2800" dirty="0"/>
          </a:p>
          <a:p>
            <a:pPr marL="0" indent="0">
              <a:buNone/>
            </a:pPr>
            <a:r>
              <a:rPr lang="zh-CN" altLang="en-US" sz="2800" dirty="0"/>
              <a:t>将重量约束松弛进目标函数</a:t>
            </a:r>
          </a:p>
          <a:p>
            <a:pPr marL="0" indent="0">
              <a:buNone/>
            </a:pPr>
            <a:r>
              <a:rPr lang="zh-CN" altLang="en-US" sz="2800" dirty="0"/>
              <a:t>对剩余问题做动态规划</a:t>
            </a:r>
          </a:p>
          <a:p>
            <a:pPr marL="0" indent="0">
              <a:buNone/>
            </a:pPr>
            <a:r>
              <a:rPr lang="zh-CN" altLang="en-US" sz="2800" dirty="0"/>
              <a:t>在精度与效率之间取得平衡</a:t>
            </a:r>
            <a:endParaRPr lang="en-US" altLang="zh-CN" sz="2800" dirty="0"/>
          </a:p>
        </p:txBody>
      </p:sp>
      <p:sp>
        <p:nvSpPr>
          <p:cNvPr id="22" name="TextBox 21">
            <a:extLst>
              <a:ext uri="{FF2B5EF4-FFF2-40B4-BE49-F238E27FC236}">
                <a16:creationId xmlns:a16="http://schemas.microsoft.com/office/drawing/2014/main" id="{D05D3A16-63F1-3B19-1FA5-989EE6DCCEE8}"/>
              </a:ext>
            </a:extLst>
          </p:cNvPr>
          <p:cNvSpPr txBox="1"/>
          <p:nvPr/>
        </p:nvSpPr>
        <p:spPr>
          <a:xfrm>
            <a:off x="0" y="5322825"/>
            <a:ext cx="12375956" cy="954107"/>
          </a:xfrm>
          <a:prstGeom prst="rect">
            <a:avLst/>
          </a:prstGeom>
          <a:noFill/>
        </p:spPr>
        <p:txBody>
          <a:bodyPr wrap="square">
            <a:spAutoFit/>
          </a:bodyPr>
          <a:lstStyle/>
          <a:p>
            <a:pPr marL="0" indent="0">
              <a:buNone/>
            </a:pPr>
            <a:r>
              <a:rPr lang="en-US" altLang="zh-CN" sz="2800" b="1" dirty="0"/>
              <a:t>3. </a:t>
            </a:r>
            <a:r>
              <a:rPr lang="en-US" sz="2800" b="1" dirty="0"/>
              <a:t>CP-SAT</a:t>
            </a:r>
            <a:endParaRPr lang="en-US" sz="2800" dirty="0"/>
          </a:p>
          <a:p>
            <a:pPr marL="0" indent="0">
              <a:buNone/>
            </a:pPr>
            <a:r>
              <a:rPr lang="zh-CN" altLang="en-US" sz="2800" dirty="0"/>
              <a:t>直接求解离散整数规划模型可获得全局最优或高质量可行解作为精确优化基准</a:t>
            </a:r>
          </a:p>
        </p:txBody>
      </p:sp>
    </p:spTree>
    <p:extLst>
      <p:ext uri="{BB962C8B-B14F-4D97-AF65-F5344CB8AC3E}">
        <p14:creationId xmlns:p14="http://schemas.microsoft.com/office/powerpoint/2010/main" val="3001592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441479-BEC2-171E-3B1E-BA84E19FE160}"/>
                  </a:ext>
                </a:extLst>
              </p:cNvPr>
              <p:cNvSpPr>
                <a:spLocks noGrp="1"/>
              </p:cNvSpPr>
              <p:nvPr>
                <p:ph idx="1"/>
              </p:nvPr>
            </p:nvSpPr>
            <p:spPr>
              <a:xfrm>
                <a:off x="463732" y="185413"/>
                <a:ext cx="10515600" cy="4351338"/>
              </a:xfrm>
            </p:spPr>
            <p:txBody>
              <a:bodyPr>
                <a:normAutofit fontScale="70000" lnSpcReduction="20000"/>
              </a:bodyPr>
              <a:lstStyle/>
              <a:p>
                <a:pPr marL="0" indent="0">
                  <a:buNone/>
                </a:pPr>
                <a:r>
                  <a:rPr lang="zh-CN" altLang="en-US" dirty="0"/>
                  <a:t>为求解含体积与重量双资源约束的离散库存优化问题，本文采用拉格朗日松弛动态规划方法。具体地，保留体积约束作为动态规划状态维度，将重量约束通过拉格朗日乘子 </a:t>
                </a:r>
                <a14:m>
                  <m:oMath xmlns:m="http://schemas.openxmlformats.org/officeDocument/2006/math">
                    <m:r>
                      <m:rPr>
                        <m:sty m:val="p"/>
                      </m:rPr>
                      <a:rPr lang="zh-CN" altLang="en-US" i="0"/>
                      <m:t>λ</m:t>
                    </m:r>
                  </m:oMath>
                </a14:m>
                <a:r>
                  <a:rPr lang="zh-CN" altLang="en-US" dirty="0"/>
                  <a:t> 松弛到目标函数中。原问题</a:t>
                </a:r>
              </a:p>
              <a:p>
                <a:pPr marL="0" indent="0">
                  <a:buNone/>
                </a:pPr>
                <a:r>
                  <a:rPr lang="en-US" dirty="0"/>
                  <a:t>					</a:t>
                </a:r>
                <a14:m>
                  <m:oMath xmlns:m="http://schemas.openxmlformats.org/officeDocument/2006/math">
                    <m:func>
                      <m:funcPr>
                        <m:ctrlPr>
                          <a:rPr lang="en-US" smtClean="0">
                            <a:latin typeface="Cambria Math" panose="02040503050406030204" pitchFamily="18" charset="0"/>
                          </a:rPr>
                        </m:ctrlPr>
                      </m:funcPr>
                      <m:fName>
                        <m:r>
                          <m:rPr>
                            <m:sty m:val="p"/>
                          </m:rPr>
                          <a:rPr lang="en-US" i="0">
                            <a:latin typeface="Cambria Math" panose="02040503050406030204" pitchFamily="18" charset="0"/>
                          </a:rPr>
                          <m:t>max</m:t>
                        </m:r>
                      </m:fName>
                      <m:e>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i</m:t>
                            </m:r>
                          </m:sub>
                          <m:sup/>
                          <m:e>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q</m:t>
                                </m:r>
                              </m:sub>
                              <m:sup/>
                              <m:e>
                                <m:sSub>
                                  <m:sSubPr>
                                    <m:ctrlPr>
                                      <a:rPr lang="en-US">
                                        <a:latin typeface="Cambria Math" panose="02040503050406030204" pitchFamily="18" charset="0"/>
                                      </a:rPr>
                                    </m:ctrlPr>
                                  </m:sSubPr>
                                  <m:e>
                                    <m:r>
                                      <m:rPr>
                                        <m:sty m:val="p"/>
                                      </m:rPr>
                                      <a:rPr lang="en-US" i="0">
                                        <a:latin typeface="Cambria Math" panose="02040503050406030204" pitchFamily="18" charset="0"/>
                                      </a:rPr>
                                      <m:t>G</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Sub>
                                <m:sSub>
                                  <m:sSubPr>
                                    <m:ctrlPr>
                                      <a:rPr lang="en-US">
                                        <a:latin typeface="Cambria Math" panose="02040503050406030204" pitchFamily="18" charset="0"/>
                                      </a:rPr>
                                    </m:ctrlPr>
                                  </m:sSubPr>
                                  <m:e>
                                    <m:r>
                                      <m:rPr>
                                        <m:sty m:val="p"/>
                                      </m:rPr>
                                      <a:rPr lang="en-US" i="0">
                                        <a:latin typeface="Cambria Math" panose="02040503050406030204" pitchFamily="18" charset="0"/>
                                      </a:rPr>
                                      <m:t>x</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Sub>
                              </m:e>
                            </m:nary>
                          </m:e>
                        </m:nary>
                      </m:e>
                    </m:func>
                  </m:oMath>
                </a14:m>
                <a:endParaRPr lang="en-US" dirty="0"/>
              </a:p>
              <a:p>
                <a:pPr marL="0" indent="0">
                  <a:buNone/>
                </a:pPr>
                <a:endParaRPr lang="en-US" dirty="0"/>
              </a:p>
              <a:p>
                <a:pPr marL="0" indent="0">
                  <a:buNone/>
                </a:pPr>
                <a:r>
                  <a:rPr lang="en-US" b="0" dirty="0"/>
                  <a:t>			</a:t>
                </a:r>
                <a14:m>
                  <m:oMath xmlns:m="http://schemas.openxmlformats.org/officeDocument/2006/math">
                    <m:r>
                      <m:rPr>
                        <m:nor/>
                      </m:rPr>
                      <a:rPr lang="en-US" smtClean="0">
                        <a:latin typeface="Cambria Math" panose="02040503050406030204" pitchFamily="18" charset="0"/>
                      </a:rPr>
                      <m:t>s</m:t>
                    </m:r>
                    <m:r>
                      <m:rPr>
                        <m:nor/>
                      </m:rPr>
                      <a:rPr lang="en-US" smtClean="0">
                        <a:latin typeface="Cambria Math" panose="02040503050406030204" pitchFamily="18" charset="0"/>
                      </a:rPr>
                      <m:t>.</m:t>
                    </m:r>
                    <m:r>
                      <m:rPr>
                        <m:nor/>
                      </m:rPr>
                      <a:rPr lang="en-US" smtClean="0">
                        <a:latin typeface="Cambria Math" panose="02040503050406030204" pitchFamily="18" charset="0"/>
                      </a:rPr>
                      <m:t>t</m:t>
                    </m:r>
                    <m:r>
                      <m:rPr>
                        <m:nor/>
                      </m:rPr>
                      <a:rPr lang="en-US" smtClean="0">
                        <a:latin typeface="Cambria Math" panose="02040503050406030204" pitchFamily="18" charset="0"/>
                      </a:rPr>
                      <m:t>.</m:t>
                    </m:r>
                    <m:r>
                      <a:rPr lang="en-US" i="0">
                        <a:latin typeface="Cambria Math" panose="02040503050406030204" pitchFamily="18" charset="0"/>
                      </a:rPr>
                      <m:t> </m:t>
                    </m:r>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i</m:t>
                        </m:r>
                      </m:sub>
                      <m:sup/>
                      <m:e>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q</m:t>
                            </m:r>
                          </m:sub>
                          <m:sup/>
                          <m:e>
                            <m:sSubSup>
                              <m:sSubSupPr>
                                <m:ctrlPr>
                                  <a:rPr lang="en-US">
                                    <a:latin typeface="Cambria Math" panose="02040503050406030204" pitchFamily="18" charset="0"/>
                                  </a:rPr>
                                </m:ctrlPr>
                              </m:sSubSupPr>
                              <m:e>
                                <m:r>
                                  <m:rPr>
                                    <m:sty m:val="p"/>
                                  </m:rPr>
                                  <a:rPr lang="en-US" i="0">
                                    <a:latin typeface="Cambria Math" panose="02040503050406030204" pitchFamily="18" charset="0"/>
                                  </a:rPr>
                                  <m:t>A</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up>
                                <m:r>
                                  <m:rPr>
                                    <m:sty m:val="p"/>
                                  </m:rPr>
                                  <a:rPr lang="en-US" i="0">
                                    <a:latin typeface="Cambria Math" panose="02040503050406030204" pitchFamily="18" charset="0"/>
                                  </a:rPr>
                                  <m:t>V</m:t>
                                </m:r>
                              </m:sup>
                            </m:sSubSup>
                            <m:sSub>
                              <m:sSubPr>
                                <m:ctrlPr>
                                  <a:rPr lang="en-US">
                                    <a:latin typeface="Cambria Math" panose="02040503050406030204" pitchFamily="18" charset="0"/>
                                  </a:rPr>
                                </m:ctrlPr>
                              </m:sSubPr>
                              <m:e>
                                <m:r>
                                  <m:rPr>
                                    <m:sty m:val="p"/>
                                  </m:rPr>
                                  <a:rPr lang="en-US" i="0">
                                    <a:latin typeface="Cambria Math" panose="02040503050406030204" pitchFamily="18" charset="0"/>
                                  </a:rPr>
                                  <m:t>x</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Sub>
                          </m:e>
                        </m:nary>
                      </m:e>
                    </m:nary>
                    <m:r>
                      <a:rPr lang="en-US" i="0">
                        <a:latin typeface="Cambria Math" panose="02040503050406030204" pitchFamily="18" charset="0"/>
                      </a:rPr>
                      <m:t>≤</m:t>
                    </m:r>
                    <m:sSub>
                      <m:sSubPr>
                        <m:ctrlPr>
                          <a:rPr lang="en-US">
                            <a:latin typeface="Cambria Math" panose="02040503050406030204" pitchFamily="18" charset="0"/>
                          </a:rPr>
                        </m:ctrlPr>
                      </m:sSubPr>
                      <m:e>
                        <m:r>
                          <m:rPr>
                            <m:sty m:val="p"/>
                          </m:rPr>
                          <a:rPr lang="en-US" i="0">
                            <a:latin typeface="Cambria Math" panose="02040503050406030204" pitchFamily="18" charset="0"/>
                          </a:rPr>
                          <m:t>V</m:t>
                        </m:r>
                      </m:e>
                      <m:sub>
                        <m:r>
                          <m:rPr>
                            <m:nor/>
                          </m:rPr>
                          <a:rPr lang="en-US">
                            <a:latin typeface="Cambria Math" panose="02040503050406030204" pitchFamily="18" charset="0"/>
                          </a:rPr>
                          <m:t>cap</m:t>
                        </m:r>
                      </m:sub>
                    </m:sSub>
                    <m:r>
                      <a:rPr lang="en-US" i="0">
                        <a:latin typeface="Cambria Math" panose="02040503050406030204" pitchFamily="18" charset="0"/>
                      </a:rPr>
                      <m:t>, </m:t>
                    </m:r>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i</m:t>
                        </m:r>
                      </m:sub>
                      <m:sup/>
                      <m:e>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q</m:t>
                            </m:r>
                          </m:sub>
                          <m:sup/>
                          <m:e>
                            <m:sSubSup>
                              <m:sSubSupPr>
                                <m:ctrlPr>
                                  <a:rPr lang="en-US">
                                    <a:latin typeface="Cambria Math" panose="02040503050406030204" pitchFamily="18" charset="0"/>
                                  </a:rPr>
                                </m:ctrlPr>
                              </m:sSubSupPr>
                              <m:e>
                                <m:r>
                                  <m:rPr>
                                    <m:sty m:val="p"/>
                                  </m:rPr>
                                  <a:rPr lang="en-US" i="0">
                                    <a:latin typeface="Cambria Math" panose="02040503050406030204" pitchFamily="18" charset="0"/>
                                  </a:rPr>
                                  <m:t>A</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up>
                                <m:r>
                                  <m:rPr>
                                    <m:sty m:val="p"/>
                                  </m:rPr>
                                  <a:rPr lang="en-US" i="0">
                                    <a:latin typeface="Cambria Math" panose="02040503050406030204" pitchFamily="18" charset="0"/>
                                  </a:rPr>
                                  <m:t>W</m:t>
                                </m:r>
                              </m:sup>
                            </m:sSubSup>
                            <m:sSub>
                              <m:sSubPr>
                                <m:ctrlPr>
                                  <a:rPr lang="en-US">
                                    <a:latin typeface="Cambria Math" panose="02040503050406030204" pitchFamily="18" charset="0"/>
                                  </a:rPr>
                                </m:ctrlPr>
                              </m:sSubPr>
                              <m:e>
                                <m:r>
                                  <m:rPr>
                                    <m:sty m:val="p"/>
                                  </m:rPr>
                                  <a:rPr lang="en-US" i="0">
                                    <a:latin typeface="Cambria Math" panose="02040503050406030204" pitchFamily="18" charset="0"/>
                                  </a:rPr>
                                  <m:t>x</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Sub>
                          </m:e>
                        </m:nary>
                      </m:e>
                    </m:nary>
                    <m:r>
                      <a:rPr lang="en-US" i="0">
                        <a:latin typeface="Cambria Math" panose="02040503050406030204" pitchFamily="18" charset="0"/>
                      </a:rPr>
                      <m:t>≤</m:t>
                    </m:r>
                    <m:sSub>
                      <m:sSubPr>
                        <m:ctrlPr>
                          <a:rPr lang="en-US">
                            <a:latin typeface="Cambria Math" panose="02040503050406030204" pitchFamily="18" charset="0"/>
                          </a:rPr>
                        </m:ctrlPr>
                      </m:sSubPr>
                      <m:e>
                        <m:r>
                          <m:rPr>
                            <m:sty m:val="p"/>
                          </m:rPr>
                          <a:rPr lang="en-US" i="0">
                            <a:latin typeface="Cambria Math" panose="02040503050406030204" pitchFamily="18" charset="0"/>
                          </a:rPr>
                          <m:t>W</m:t>
                        </m:r>
                      </m:e>
                      <m:sub>
                        <m:r>
                          <m:rPr>
                            <m:nor/>
                          </m:rPr>
                          <a:rPr lang="en-US">
                            <a:latin typeface="Cambria Math" panose="02040503050406030204" pitchFamily="18" charset="0"/>
                          </a:rPr>
                          <m:t>cap</m:t>
                        </m:r>
                      </m:sub>
                    </m:sSub>
                    <m:r>
                      <a:rPr lang="en-US" i="0">
                        <a:latin typeface="Cambria Math" panose="02040503050406030204" pitchFamily="18" charset="0"/>
                      </a:rPr>
                      <m:t>, </m:t>
                    </m:r>
                    <m:nary>
                      <m:naryPr>
                        <m:chr m:val="∑"/>
                        <m:supHide m:val="on"/>
                        <m:ctrlPr>
                          <a:rPr lang="en-US">
                            <a:latin typeface="Cambria Math" panose="02040503050406030204" pitchFamily="18" charset="0"/>
                          </a:rPr>
                        </m:ctrlPr>
                      </m:naryPr>
                      <m:sub>
                        <m:r>
                          <m:rPr>
                            <m:sty m:val="p"/>
                          </m:rPr>
                          <a:rPr lang="en-US" i="0">
                            <a:latin typeface="Cambria Math" panose="02040503050406030204" pitchFamily="18" charset="0"/>
                          </a:rPr>
                          <m:t>q</m:t>
                        </m:r>
                      </m:sub>
                      <m:sup/>
                      <m:e>
                        <m:sSub>
                          <m:sSubPr>
                            <m:ctrlPr>
                              <a:rPr lang="en-US">
                                <a:latin typeface="Cambria Math" panose="02040503050406030204" pitchFamily="18" charset="0"/>
                              </a:rPr>
                            </m:ctrlPr>
                          </m:sSubPr>
                          <m:e>
                            <m:r>
                              <m:rPr>
                                <m:sty m:val="p"/>
                              </m:rPr>
                              <a:rPr lang="en-US" i="0">
                                <a:latin typeface="Cambria Math" panose="02040503050406030204" pitchFamily="18" charset="0"/>
                              </a:rPr>
                              <m:t>x</m:t>
                            </m:r>
                          </m:e>
                          <m:sub>
                            <m:r>
                              <m:rPr>
                                <m:sty m:val="p"/>
                              </m:rPr>
                              <a:rPr lang="en-US" i="0">
                                <a:latin typeface="Cambria Math" panose="02040503050406030204" pitchFamily="18" charset="0"/>
                              </a:rPr>
                              <m:t>i</m:t>
                            </m:r>
                            <m:r>
                              <a:rPr lang="en-US" i="0">
                                <a:latin typeface="Cambria Math" panose="02040503050406030204" pitchFamily="18" charset="0"/>
                              </a:rPr>
                              <m:t>,</m:t>
                            </m:r>
                            <m:r>
                              <m:rPr>
                                <m:sty m:val="p"/>
                              </m:rPr>
                              <a:rPr lang="en-US" i="0">
                                <a:latin typeface="Cambria Math" panose="02040503050406030204" pitchFamily="18" charset="0"/>
                              </a:rPr>
                              <m:t>q</m:t>
                            </m:r>
                          </m:sub>
                        </m:sSub>
                      </m:e>
                    </m:nary>
                    <m:r>
                      <a:rPr lang="en-US" i="0">
                        <a:latin typeface="Cambria Math" panose="02040503050406030204" pitchFamily="18" charset="0"/>
                      </a:rPr>
                      <m:t>=1</m:t>
                    </m:r>
                  </m:oMath>
                </a14:m>
                <a:endParaRPr lang="en-US" dirty="0"/>
              </a:p>
              <a:p>
                <a:pPr marL="0" indent="0">
                  <a:buNone/>
                </a:pPr>
                <a:endParaRPr lang="ar-AE" b="0" dirty="0"/>
              </a:p>
              <a:p>
                <a:pPr marL="0" indent="0">
                  <a:buNone/>
                </a:pPr>
                <a:r>
                  <a:rPr lang="zh-CN" altLang="en-US" dirty="0"/>
                  <a:t>被转化为</a:t>
                </a:r>
              </a:p>
              <a:p>
                <a:pPr marL="0" indent="0">
                  <a:buNone/>
                </a:pPr>
                <a14:m>
                  <m:oMathPara xmlns:m="http://schemas.openxmlformats.org/officeDocument/2006/math">
                    <m:oMathParaPr>
                      <m:jc m:val="centerGroup"/>
                    </m:oMathParaPr>
                    <m:oMath xmlns:m="http://schemas.openxmlformats.org/officeDocument/2006/math">
                      <m:func>
                        <m:funcPr>
                          <m:ctrlPr>
                            <a:rPr lang="en-US" i="0" smtClean="0">
                              <a:latin typeface="Cambria Math" panose="02040503050406030204" pitchFamily="18" charset="0"/>
                            </a:rPr>
                          </m:ctrlPr>
                        </m:funcPr>
                        <m:fName>
                          <m:r>
                            <m:rPr>
                              <m:sty m:val="p"/>
                            </m:rPr>
                            <a:rPr lang="en-US" i="0">
                              <a:latin typeface="Cambria Math" panose="02040503050406030204" pitchFamily="18" charset="0"/>
                            </a:rPr>
                            <m:t>max</m:t>
                          </m:r>
                        </m:fName>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Sub>
                                      <m:r>
                                        <a:rPr lang="en-US" i="1">
                                          <a:latin typeface="Cambria Math" panose="02040503050406030204" pitchFamily="18" charset="0"/>
                                        </a:rPr>
                                        <m:t>−</m:t>
                                      </m:r>
                                      <m:r>
                                        <a:rPr lang="en-US" i="1">
                                          <a:latin typeface="Cambria Math" panose="02040503050406030204" pitchFamily="18" charset="0"/>
                                        </a:rPr>
                                        <m:t>𝜆</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up>
                                          <m:r>
                                            <a:rPr lang="en-US" i="1">
                                              <a:latin typeface="Cambria Math" panose="02040503050406030204" pitchFamily="18" charset="0"/>
                                            </a:rPr>
                                            <m:t>𝑊</m:t>
                                          </m:r>
                                        </m:sup>
                                      </m:sSubSup>
                                    </m:e>
                                  </m:d>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Sub>
                                </m:e>
                              </m:nary>
                            </m:e>
                          </m:nary>
                        </m:e>
                      </m:func>
                    </m:oMath>
                  </m:oMathPara>
                </a14:m>
                <a:endParaRPr lang="ar-AE" dirty="0"/>
              </a:p>
              <a:p>
                <a:pPr marL="0" indent="0">
                  <a:buNone/>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s</m:t>
                      </m:r>
                      <m:r>
                        <m:rPr>
                          <m:nor/>
                        </m:rPr>
                        <a:rPr lang="en-US" i="0" smtClean="0">
                          <a:latin typeface="Cambria Math" panose="02040503050406030204" pitchFamily="18" charset="0"/>
                        </a:rPr>
                        <m:t>.</m:t>
                      </m:r>
                      <m:r>
                        <m:rPr>
                          <m:nor/>
                        </m:rPr>
                        <a:rPr lang="en-US" i="0" smtClean="0">
                          <a:latin typeface="Cambria Math" panose="02040503050406030204" pitchFamily="18" charset="0"/>
                        </a:rPr>
                        <m:t>t</m:t>
                      </m:r>
                      <m:r>
                        <m:rPr>
                          <m:nor/>
                        </m:rPr>
                        <a:rPr lang="en-US" i="0" smtClean="0">
                          <a:latin typeface="Cambria Math" panose="02040503050406030204" pitchFamily="18" charset="0"/>
                        </a:rPr>
                        <m:t>.</m:t>
                      </m:r>
                      <m:r>
                        <a:rPr lang="en-US" i="1">
                          <a:latin typeface="Cambria Math" panose="02040503050406030204" pitchFamily="18" charset="0"/>
                        </a:rPr>
                        <m:t> </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𝑖</m:t>
                          </m:r>
                        </m:sub>
                        <m:sup/>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sub>
                            <m:sup/>
                            <m:e>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up>
                                  <m:r>
                                    <a:rPr lang="en-US" i="1">
                                      <a:latin typeface="Cambria Math" panose="02040503050406030204" pitchFamily="18" charset="0"/>
                                    </a:rPr>
                                    <m:t>𝑉</m:t>
                                  </m:r>
                                </m:sup>
                              </m:sSubSup>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Sub>
                            </m:e>
                          </m:nary>
                        </m:e>
                      </m:nary>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m:rPr>
                              <m:nor/>
                            </m:rPr>
                            <a:rPr lang="en-US" i="0">
                              <a:latin typeface="Cambria Math" panose="02040503050406030204" pitchFamily="18" charset="0"/>
                            </a:rPr>
                            <m:t>cap</m:t>
                          </m:r>
                        </m:sub>
                      </m:sSub>
                      <m:r>
                        <a:rPr lang="en-US" i="1">
                          <a:latin typeface="Cambria Math" panose="02040503050406030204" pitchFamily="18" charset="0"/>
                        </a:rPr>
                        <m:t>, </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sub>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𝑞</m:t>
                              </m:r>
                            </m:sub>
                          </m:sSub>
                        </m:e>
                      </m:nary>
                      <m:r>
                        <a:rPr lang="en-US" i="1">
                          <a:latin typeface="Cambria Math" panose="02040503050406030204" pitchFamily="18" charset="0"/>
                        </a:rPr>
                        <m:t>=1</m:t>
                      </m:r>
                    </m:oMath>
                  </m:oMathPara>
                </a14:m>
                <a:endParaRPr lang="en-US" i="1" dirty="0"/>
              </a:p>
              <a:p>
                <a:pPr marL="0" indent="0">
                  <a:buNone/>
                </a:pPr>
                <a:endParaRPr lang="en-US" i="1" dirty="0"/>
              </a:p>
              <a:p>
                <a:pPr marL="0" indent="0">
                  <a:buNone/>
                </a:pPr>
                <a:endParaRPr lang="en-US" dirty="0"/>
              </a:p>
            </p:txBody>
          </p:sp>
        </mc:Choice>
        <mc:Fallback>
          <p:sp>
            <p:nvSpPr>
              <p:cNvPr id="3" name="Content Placeholder 2">
                <a:extLst>
                  <a:ext uri="{FF2B5EF4-FFF2-40B4-BE49-F238E27FC236}">
                    <a16:creationId xmlns:a16="http://schemas.microsoft.com/office/drawing/2014/main" id="{BD441479-BEC2-171E-3B1E-BA84E19FE160}"/>
                  </a:ext>
                </a:extLst>
              </p:cNvPr>
              <p:cNvSpPr>
                <a:spLocks noGrp="1" noRot="1" noChangeAspect="1" noMove="1" noResize="1" noEditPoints="1" noAdjustHandles="1" noChangeArrowheads="1" noChangeShapeType="1" noTextEdit="1"/>
              </p:cNvSpPr>
              <p:nvPr>
                <p:ph idx="1"/>
              </p:nvPr>
            </p:nvSpPr>
            <p:spPr>
              <a:xfrm>
                <a:off x="463732" y="185413"/>
                <a:ext cx="10515600" cy="4351338"/>
              </a:xfrm>
              <a:blipFill>
                <a:blip r:embed="rId2"/>
                <a:stretch>
                  <a:fillRect l="-603" t="-2616" r="-1448" b="-2325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7797339-8539-53B2-1837-DD7CFCCB4423}"/>
              </a:ext>
            </a:extLst>
          </p:cNvPr>
          <p:cNvPicPr>
            <a:picLocks noChangeAspect="1"/>
          </p:cNvPicPr>
          <p:nvPr/>
        </p:nvPicPr>
        <p:blipFill>
          <a:blip r:embed="rId3"/>
          <a:stretch>
            <a:fillRect/>
          </a:stretch>
        </p:blipFill>
        <p:spPr>
          <a:xfrm>
            <a:off x="6853645" y="4226951"/>
            <a:ext cx="4993353" cy="2565733"/>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693D09B-16E5-A423-FD5A-1D228ECDBDAC}"/>
                  </a:ext>
                </a:extLst>
              </p:cNvPr>
              <p:cNvSpPr txBox="1"/>
              <p:nvPr/>
            </p:nvSpPr>
            <p:spPr>
              <a:xfrm>
                <a:off x="577956" y="4226951"/>
                <a:ext cx="5408023" cy="2308324"/>
              </a:xfrm>
              <a:prstGeom prst="rect">
                <a:avLst/>
              </a:prstGeom>
              <a:noFill/>
            </p:spPr>
            <p:txBody>
              <a:bodyPr wrap="square">
                <a:spAutoFit/>
              </a:bodyPr>
              <a:lstStyle/>
              <a:p>
                <a:r>
                  <a:rPr lang="zh-CN" altLang="en-US" dirty="0"/>
                  <a:t>其中，</a:t>
                </a:r>
                <a14:m>
                  <m:oMath xmlns:m="http://schemas.openxmlformats.org/officeDocument/2006/math">
                    <m:r>
                      <m:rPr>
                        <m:sty m:val="p"/>
                      </m:rPr>
                      <a:rPr lang="zh-CN" altLang="en-US" i="0">
                        <a:latin typeface="Cambria Math" panose="02040503050406030204" pitchFamily="18" charset="0"/>
                      </a:rPr>
                      <m:t>λ</m:t>
                    </m:r>
                  </m:oMath>
                </a14:m>
                <a:r>
                  <a:rPr lang="zh-CN" altLang="en-US" dirty="0"/>
                  <a:t> 通过二分搜索迭代更新，以获得满足重量约束的近似最优解。代码先给定搜索区间 </a:t>
                </a:r>
                <a:r>
                  <a:rPr lang="en-US" altLang="zh-CN" dirty="0"/>
                  <a:t>[0,5]</a:t>
                </a:r>
                <a:r>
                  <a:rPr lang="zh-CN" altLang="en-US" dirty="0"/>
                  <a:t>，再用二分法迭代搜索。每次取中点 </a:t>
                </a:r>
                <a:r>
                  <a:rPr lang="en-US" dirty="0" err="1"/>
                  <a:t>lam_mid</a:t>
                </a:r>
                <a:r>
                  <a:rPr lang="en-US" dirty="0"/>
                  <a:t>，</a:t>
                </a:r>
                <a:r>
                  <a:rPr lang="zh-CN" altLang="en-US" dirty="0"/>
                  <a:t>求解一次松弛后的动态规划；如果得到的方案满足重量约束，就说明当前惩罚已经足够大，可以继续尝试更小的 </a:t>
                </a:r>
                <a:r>
                  <a:rPr lang="en-US" dirty="0"/>
                  <a:t>lambda；</a:t>
                </a:r>
                <a:r>
                  <a:rPr lang="zh-CN" altLang="en-US" dirty="0"/>
                  <a:t>如果仍然超重，就说明惩罚不够，需要增大 </a:t>
                </a:r>
                <a:r>
                  <a:rPr lang="en-US" dirty="0"/>
                  <a:t>lambda。</a:t>
                </a:r>
                <a:r>
                  <a:rPr lang="zh-CN" altLang="en-US" dirty="0"/>
                  <a:t>经过多轮迭代后，就能得到一个使解接近容量边界的可行方案。</a:t>
                </a:r>
                <a:endParaRPr lang="zh-CN" altLang="en-US" i="1" dirty="0"/>
              </a:p>
            </p:txBody>
          </p:sp>
        </mc:Choice>
        <mc:Fallback>
          <p:sp>
            <p:nvSpPr>
              <p:cNvPr id="6" name="TextBox 5">
                <a:extLst>
                  <a:ext uri="{FF2B5EF4-FFF2-40B4-BE49-F238E27FC236}">
                    <a16:creationId xmlns:a16="http://schemas.microsoft.com/office/drawing/2014/main" id="{2693D09B-16E5-A423-FD5A-1D228ECDBDAC}"/>
                  </a:ext>
                </a:extLst>
              </p:cNvPr>
              <p:cNvSpPr txBox="1">
                <a:spLocks noRot="1" noChangeAspect="1" noMove="1" noResize="1" noEditPoints="1" noAdjustHandles="1" noChangeArrowheads="1" noChangeShapeType="1" noTextEdit="1"/>
              </p:cNvSpPr>
              <p:nvPr/>
            </p:nvSpPr>
            <p:spPr>
              <a:xfrm>
                <a:off x="577956" y="4226951"/>
                <a:ext cx="5408023" cy="2308324"/>
              </a:xfrm>
              <a:prstGeom prst="rect">
                <a:avLst/>
              </a:prstGeom>
              <a:blipFill>
                <a:blip r:embed="rId4"/>
                <a:stretch>
                  <a:fillRect l="-937" t="-1093" r="-1639" b="-3279"/>
                </a:stretch>
              </a:blipFill>
            </p:spPr>
            <p:txBody>
              <a:bodyPr/>
              <a:lstStyle/>
              <a:p>
                <a:r>
                  <a:rPr lang="en-US">
                    <a:noFill/>
                  </a:rPr>
                  <a:t> </a:t>
                </a:r>
              </a:p>
            </p:txBody>
          </p:sp>
        </mc:Fallback>
      </mc:AlternateContent>
    </p:spTree>
    <p:extLst>
      <p:ext uri="{BB962C8B-B14F-4D97-AF65-F5344CB8AC3E}">
        <p14:creationId xmlns:p14="http://schemas.microsoft.com/office/powerpoint/2010/main" val="2914279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9D09C-CFED-CF67-8A41-A43ECDFD92B9}"/>
              </a:ext>
            </a:extLst>
          </p:cNvPr>
          <p:cNvSpPr>
            <a:spLocks noGrp="1"/>
          </p:cNvSpPr>
          <p:nvPr>
            <p:ph type="title"/>
          </p:nvPr>
        </p:nvSpPr>
        <p:spPr>
          <a:xfrm>
            <a:off x="0" y="-177687"/>
            <a:ext cx="5257800" cy="1325563"/>
          </a:xfrm>
        </p:spPr>
        <p:txBody>
          <a:bodyPr/>
          <a:lstStyle/>
          <a:p>
            <a:r>
              <a:rPr lang="en-US" dirty="0" err="1"/>
              <a:t>文献启发</a:t>
            </a:r>
            <a:r>
              <a:rPr lang="en-US" dirty="0"/>
              <a:t>(hybrid_v2)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FF14FF-193B-7E77-3DB5-9B21D77EB601}"/>
                  </a:ext>
                </a:extLst>
              </p:cNvPr>
              <p:cNvSpPr>
                <a:spLocks noGrp="1"/>
              </p:cNvSpPr>
              <p:nvPr>
                <p:ph idx="1"/>
              </p:nvPr>
            </p:nvSpPr>
            <p:spPr>
              <a:xfrm>
                <a:off x="838200" y="976538"/>
                <a:ext cx="10515600" cy="5881461"/>
              </a:xfrm>
            </p:spPr>
            <p:txBody>
              <a:bodyPr>
                <a:noAutofit/>
              </a:bodyPr>
              <a:lstStyle/>
              <a:p>
                <a:pPr marL="0" indent="0">
                  <a:buNone/>
                </a:pPr>
                <a:r>
                  <a:rPr lang="zh-CN" altLang="en-US" sz="2200" dirty="0"/>
                  <a:t>本文构造的 </a:t>
                </a:r>
                <a:r>
                  <a:rPr lang="en-US" sz="2200" dirty="0"/>
                  <a:t>hybrid_v2 </a:t>
                </a:r>
                <a:r>
                  <a:rPr lang="zh-CN" altLang="en-US" sz="2200" dirty="0"/>
                  <a:t>并非对单篇文献模型的严格复现，而是一个 </a:t>
                </a:r>
                <a:r>
                  <a:rPr lang="en-US" sz="2200" dirty="0"/>
                  <a:t>literature-inspired benchmark，</a:t>
                </a:r>
                <a:r>
                  <a:rPr lang="zh-CN" altLang="en-US" sz="2200" dirty="0"/>
                  <a:t>用于与主联合优化模型进行对比。</a:t>
                </a:r>
              </a:p>
              <a:p>
                <a:pPr marL="0" indent="0">
                  <a:buNone/>
                </a:pPr>
                <a:r>
                  <a:rPr lang="zh-CN" altLang="en-US" sz="2200" b="1" dirty="0"/>
                  <a:t>核心思想</a:t>
                </a:r>
                <a:endParaRPr lang="zh-CN" altLang="en-US" sz="2200" dirty="0"/>
              </a:p>
              <a:p>
                <a:pPr marL="0" indent="0">
                  <a:buNone/>
                </a:pPr>
                <a:r>
                  <a:rPr lang="en-US" sz="2200" dirty="0"/>
                  <a:t>hybrid_v2 </a:t>
                </a:r>
                <a:r>
                  <a:rPr lang="zh-CN" altLang="en-US" sz="2200" dirty="0"/>
                  <a:t>采用“两阶段”启发式流程：</a:t>
                </a:r>
              </a:p>
              <a:p>
                <a:pPr marL="0" indent="0">
                  <a:buNone/>
                </a:pPr>
                <a:r>
                  <a:rPr lang="zh-CN" altLang="en-US" sz="2200" b="1" dirty="0"/>
                  <a:t>代理选品</a:t>
                </a:r>
                <a:br>
                  <a:rPr lang="zh-CN" altLang="en-US" sz="2200" dirty="0"/>
                </a:br>
                <a:r>
                  <a:rPr lang="zh-CN" altLang="en-US" sz="2200" dirty="0"/>
                  <a:t>基于训练期 </a:t>
                </a:r>
                <a:r>
                  <a:rPr lang="en-US" sz="2200" dirty="0"/>
                  <a:t>SKU </a:t>
                </a:r>
                <a:r>
                  <a:rPr lang="zh-CN" altLang="en-US" sz="2200" dirty="0"/>
                  <a:t>出现概率、日均需求和累计销量构造 </a:t>
                </a:r>
                <a:r>
                  <a:rPr lang="en-US" sz="2200" dirty="0"/>
                  <a:t>MCI </a:t>
                </a:r>
                <a:r>
                  <a:rPr lang="zh-CN" altLang="en-US" sz="2200" dirty="0"/>
                  <a:t>风格得分：</a:t>
                </a:r>
              </a:p>
              <a:p>
                <a:pPr marL="0" indent="0">
                  <a:buNone/>
                </a:pPr>
                <a14:m>
                  <m:oMathPara xmlns:m="http://schemas.openxmlformats.org/officeDocument/2006/math">
                    <m:oMathParaPr>
                      <m:jc m:val="centerGroup"/>
                    </m:oMathParaPr>
                    <m:oMath xmlns:m="http://schemas.openxmlformats.org/officeDocument/2006/math">
                      <m:sSub>
                        <m:sSubPr>
                          <m:ctrlPr>
                            <a:rPr lang="ar-AE" sz="2200" i="1">
                              <a:latin typeface="Cambria Math" panose="02040503050406030204" pitchFamily="18" charset="0"/>
                            </a:rPr>
                          </m:ctrlPr>
                        </m:sSubPr>
                        <m:e>
                          <m:r>
                            <m:rPr>
                              <m:nor/>
                            </m:rPr>
                            <a:rPr lang="en-US" sz="2200" b="0"/>
                            <m:t>MCI</m:t>
                          </m:r>
                        </m:e>
                        <m:sub>
                          <m:r>
                            <a:rPr lang="ar-AE" sz="2200" b="0" i="1">
                              <a:latin typeface="Cambria Math" panose="02040503050406030204" pitchFamily="18" charset="0"/>
                            </a:rPr>
                            <m:t>𝑖</m:t>
                          </m:r>
                        </m:sub>
                      </m:sSub>
                      <m:r>
                        <a:rPr lang="ar-AE" sz="2200">
                          <a:latin typeface="Cambria Math" panose="02040503050406030204" pitchFamily="18" charset="0"/>
                        </a:rPr>
                        <m:t>=</m:t>
                      </m:r>
                      <m:sSup>
                        <m:sSupPr>
                          <m:ctrlPr>
                            <a:rPr lang="ar-AE" sz="2200" i="1">
                              <a:latin typeface="Cambria Math" panose="02040503050406030204" pitchFamily="18" charset="0"/>
                            </a:rPr>
                          </m:ctrlPr>
                        </m:sSupPr>
                        <m:e>
                          <m:r>
                            <a:rPr lang="ar-AE" sz="2200">
                              <a:latin typeface="Cambria Math" panose="02040503050406030204" pitchFamily="18" charset="0"/>
                            </a:rPr>
                            <m:t>10</m:t>
                          </m:r>
                        </m:e>
                        <m:sup>
                          <m:r>
                            <a:rPr lang="ar-AE" sz="2200">
                              <a:latin typeface="Cambria Math" panose="02040503050406030204" pitchFamily="18" charset="0"/>
                            </a:rPr>
                            <m:t>6</m:t>
                          </m:r>
                        </m:sup>
                      </m:sSup>
                      <m:r>
                        <a:rPr lang="ar-AE" sz="2200">
                          <a:latin typeface="Cambria Math" panose="02040503050406030204" pitchFamily="18" charset="0"/>
                        </a:rPr>
                        <m:t>⋅</m:t>
                      </m:r>
                      <m:r>
                        <a:rPr lang="ar-AE" sz="2200" i="1">
                          <a:latin typeface="Cambria Math" panose="02040503050406030204" pitchFamily="18" charset="0"/>
                        </a:rPr>
                        <m:t>𝑝𝑟𝑒𝑠𝑒𝑛𝑐</m:t>
                      </m:r>
                      <m:sSub>
                        <m:sSubPr>
                          <m:ctrlPr>
                            <a:rPr lang="ar-AE" sz="2200" i="1">
                              <a:latin typeface="Cambria Math" panose="02040503050406030204" pitchFamily="18" charset="0"/>
                            </a:rPr>
                          </m:ctrlPr>
                        </m:sSubPr>
                        <m:e>
                          <m:r>
                            <a:rPr lang="ar-AE" sz="2200" i="1">
                              <a:latin typeface="Cambria Math" panose="02040503050406030204" pitchFamily="18" charset="0"/>
                            </a:rPr>
                            <m:t>𝑒</m:t>
                          </m:r>
                        </m:e>
                        <m:sub>
                          <m:r>
                            <a:rPr lang="ar-AE" sz="2200" i="1">
                              <a:latin typeface="Cambria Math" panose="02040503050406030204" pitchFamily="18" charset="0"/>
                            </a:rPr>
                            <m:t>𝑖</m:t>
                          </m:r>
                        </m:sub>
                      </m:sSub>
                      <m:r>
                        <a:rPr lang="ar-AE" sz="2200">
                          <a:latin typeface="Cambria Math" panose="02040503050406030204" pitchFamily="18" charset="0"/>
                        </a:rPr>
                        <m:t>+</m:t>
                      </m:r>
                      <m:sSup>
                        <m:sSupPr>
                          <m:ctrlPr>
                            <a:rPr lang="ar-AE" sz="2200" i="1">
                              <a:latin typeface="Cambria Math" panose="02040503050406030204" pitchFamily="18" charset="0"/>
                            </a:rPr>
                          </m:ctrlPr>
                        </m:sSupPr>
                        <m:e>
                          <m:r>
                            <a:rPr lang="ar-AE" sz="2200">
                              <a:latin typeface="Cambria Math" panose="02040503050406030204" pitchFamily="18" charset="0"/>
                            </a:rPr>
                            <m:t>10</m:t>
                          </m:r>
                        </m:e>
                        <m:sup>
                          <m:r>
                            <a:rPr lang="ar-AE" sz="2200">
                              <a:latin typeface="Cambria Math" panose="02040503050406030204" pitchFamily="18" charset="0"/>
                            </a:rPr>
                            <m:t>3</m:t>
                          </m:r>
                        </m:sup>
                      </m:sSup>
                      <m:r>
                        <a:rPr lang="ar-AE" sz="2200">
                          <a:latin typeface="Cambria Math" panose="02040503050406030204" pitchFamily="18" charset="0"/>
                        </a:rPr>
                        <m:t>⋅</m:t>
                      </m:r>
                      <m:acc>
                        <m:accPr>
                          <m:chr m:val="̅"/>
                          <m:ctrlPr>
                            <a:rPr lang="ar-AE" sz="2200" i="1" smtClean="0">
                              <a:latin typeface="Cambria Math" panose="02040503050406030204" pitchFamily="18" charset="0"/>
                            </a:rPr>
                          </m:ctrlPr>
                        </m:accPr>
                        <m:e>
                          <m:sSub>
                            <m:sSubPr>
                              <m:ctrlPr>
                                <a:rPr lang="ar-AE" sz="2200" i="1">
                                  <a:latin typeface="Cambria Math" panose="02040503050406030204" pitchFamily="18" charset="0"/>
                                </a:rPr>
                              </m:ctrlPr>
                            </m:sSubPr>
                            <m:e>
                              <m:r>
                                <m:rPr>
                                  <m:sty m:val="p"/>
                                </m:rPr>
                                <a:rPr lang="en-US" sz="2200" i="1">
                                  <a:latin typeface="Cambria Math" panose="02040503050406030204" pitchFamily="18" charset="0"/>
                                </a:rPr>
                                <m:t>d</m:t>
                              </m:r>
                            </m:e>
                            <m:sub>
                              <m:r>
                                <a:rPr lang="ar-AE" sz="2200" i="1">
                                  <a:latin typeface="Cambria Math" panose="02040503050406030204" pitchFamily="18" charset="0"/>
                                </a:rPr>
                                <m:t>𝑖</m:t>
                              </m:r>
                            </m:sub>
                          </m:sSub>
                        </m:e>
                      </m:acc>
                      <m:r>
                        <a:rPr lang="ar-AE" sz="2200">
                          <a:latin typeface="Cambria Math" panose="02040503050406030204" pitchFamily="18" charset="0"/>
                        </a:rPr>
                        <m:t>+</m:t>
                      </m:r>
                      <m:r>
                        <a:rPr lang="ar-AE" sz="2200" i="1">
                          <a:latin typeface="Cambria Math" panose="02040503050406030204" pitchFamily="18" charset="0"/>
                        </a:rPr>
                        <m:t>𝑡𝑜𝑡𝑎</m:t>
                      </m:r>
                      <m:sSub>
                        <m:sSubPr>
                          <m:ctrlPr>
                            <a:rPr lang="ar-AE" sz="2200" i="1">
                              <a:latin typeface="Cambria Math" panose="02040503050406030204" pitchFamily="18" charset="0"/>
                            </a:rPr>
                          </m:ctrlPr>
                        </m:sSubPr>
                        <m:e>
                          <m:r>
                            <a:rPr lang="ar-AE" sz="2200" i="1">
                              <a:latin typeface="Cambria Math" panose="02040503050406030204" pitchFamily="18" charset="0"/>
                            </a:rPr>
                            <m:t>𝑙</m:t>
                          </m:r>
                        </m:e>
                        <m:sub>
                          <m:r>
                            <a:rPr lang="ar-AE" sz="2200" i="1">
                              <a:latin typeface="Cambria Math" panose="02040503050406030204" pitchFamily="18" charset="0"/>
                            </a:rPr>
                            <m:t>𝑖</m:t>
                          </m:r>
                        </m:sub>
                      </m:sSub>
                    </m:oMath>
                  </m:oMathPara>
                </a14:m>
                <a:endParaRPr lang="ar-AE" sz="2200" b="0" dirty="0"/>
              </a:p>
              <a:p>
                <a:pPr marL="0" indent="0">
                  <a:buNone/>
                </a:pPr>
                <a:r>
                  <a:rPr lang="zh-CN" altLang="en-US" sz="2200" b="1" dirty="0"/>
                  <a:t>替代感知库存配置</a:t>
                </a:r>
                <a:br>
                  <a:rPr lang="zh-CN" altLang="en-US" sz="2200" dirty="0"/>
                </a:br>
                <a:r>
                  <a:rPr lang="zh-CN" altLang="en-US" sz="2200" dirty="0"/>
                  <a:t>对入选 </a:t>
                </a:r>
                <a:r>
                  <a:rPr lang="en-US" sz="2200" dirty="0"/>
                  <a:t>SKU，</a:t>
                </a:r>
                <a:r>
                  <a:rPr lang="zh-CN" altLang="en-US" sz="2200" dirty="0"/>
                  <a:t>用 </a:t>
                </a:r>
                <a:r>
                  <a:rPr lang="en-US" sz="2200" dirty="0"/>
                  <a:t>critical ratio </a:t>
                </a:r>
                <a:r>
                  <a:rPr lang="zh-CN" altLang="en-US" sz="2200" dirty="0"/>
                  <a:t>初始化库存：</a:t>
                </a:r>
              </a:p>
              <a:p>
                <a:pPr marL="0" indent="0">
                  <a:buNone/>
                </a:pPr>
                <a14:m>
                  <m:oMathPara xmlns:m="http://schemas.openxmlformats.org/officeDocument/2006/math">
                    <m:oMathParaPr>
                      <m:jc m:val="centerGroup"/>
                    </m:oMathParaPr>
                    <m:oMath xmlns:m="http://schemas.openxmlformats.org/officeDocument/2006/math">
                      <m:sSubSup>
                        <m:sSubSupPr>
                          <m:ctrlPr>
                            <a:rPr lang="ar-AE" sz="2200" i="1">
                              <a:latin typeface="Cambria Math" panose="02040503050406030204" pitchFamily="18" charset="0"/>
                            </a:rPr>
                          </m:ctrlPr>
                        </m:sSubSupPr>
                        <m:e>
                          <m:r>
                            <a:rPr lang="ar-AE" sz="2200" i="1">
                              <a:latin typeface="Cambria Math" panose="02040503050406030204" pitchFamily="18" charset="0"/>
                            </a:rPr>
                            <m:t>𝑞</m:t>
                          </m:r>
                        </m:e>
                        <m:sub>
                          <m:r>
                            <a:rPr lang="ar-AE" sz="2200" i="1">
                              <a:latin typeface="Cambria Math" panose="02040503050406030204" pitchFamily="18" charset="0"/>
                            </a:rPr>
                            <m:t>𝑖</m:t>
                          </m:r>
                        </m:sub>
                        <m:sup>
                          <m:d>
                            <m:dPr>
                              <m:ctrlPr>
                                <a:rPr lang="ar-AE" sz="2200" i="1">
                                  <a:latin typeface="Cambria Math" panose="02040503050406030204" pitchFamily="18" charset="0"/>
                                </a:rPr>
                              </m:ctrlPr>
                            </m:dPr>
                            <m:e>
                              <m:r>
                                <a:rPr lang="ar-AE" sz="2200">
                                  <a:latin typeface="Cambria Math" panose="02040503050406030204" pitchFamily="18" charset="0"/>
                                </a:rPr>
                                <m:t>0</m:t>
                              </m:r>
                            </m:e>
                          </m:d>
                        </m:sup>
                      </m:sSubSup>
                      <m:r>
                        <a:rPr lang="ar-AE" sz="2200">
                          <a:latin typeface="Cambria Math" panose="02040503050406030204" pitchFamily="18" charset="0"/>
                        </a:rPr>
                        <m:t>=</m:t>
                      </m:r>
                      <m:sSubSup>
                        <m:sSubSupPr>
                          <m:ctrlPr>
                            <a:rPr lang="ar-AE" sz="2200" i="1">
                              <a:latin typeface="Cambria Math" panose="02040503050406030204" pitchFamily="18" charset="0"/>
                            </a:rPr>
                          </m:ctrlPr>
                        </m:sSubSupPr>
                        <m:e>
                          <m:r>
                            <a:rPr lang="ar-AE" sz="2200" i="1">
                              <a:latin typeface="Cambria Math" panose="02040503050406030204" pitchFamily="18" charset="0"/>
                            </a:rPr>
                            <m:t>𝐹</m:t>
                          </m:r>
                        </m:e>
                        <m:sub>
                          <m:r>
                            <a:rPr lang="ar-AE" sz="2200" i="1">
                              <a:latin typeface="Cambria Math" panose="02040503050406030204" pitchFamily="18" charset="0"/>
                            </a:rPr>
                            <m:t>𝑖</m:t>
                          </m:r>
                        </m:sub>
                        <m:sup>
                          <m:r>
                            <a:rPr lang="ar-AE" sz="2200">
                              <a:latin typeface="Cambria Math" panose="02040503050406030204" pitchFamily="18" charset="0"/>
                            </a:rPr>
                            <m:t>−1</m:t>
                          </m:r>
                        </m:sup>
                      </m:sSubSup>
                      <m:d>
                        <m:dPr>
                          <m:ctrlPr>
                            <a:rPr lang="ar-AE" sz="2200" i="1">
                              <a:latin typeface="Cambria Math" panose="02040503050406030204" pitchFamily="18" charset="0"/>
                            </a:rPr>
                          </m:ctrlPr>
                        </m:dPr>
                        <m:e>
                          <m:f>
                            <m:fPr>
                              <m:ctrlPr>
                                <a:rPr lang="ar-AE" sz="2200" i="1">
                                  <a:latin typeface="Cambria Math" panose="02040503050406030204" pitchFamily="18" charset="0"/>
                                </a:rPr>
                              </m:ctrlPr>
                            </m:fPr>
                            <m:num>
                              <m:sSub>
                                <m:sSubPr>
                                  <m:ctrlPr>
                                    <a:rPr lang="ar-AE" sz="2200" i="1">
                                      <a:latin typeface="Cambria Math" panose="02040503050406030204" pitchFamily="18" charset="0"/>
                                    </a:rPr>
                                  </m:ctrlPr>
                                </m:sSubPr>
                                <m:e>
                                  <m:r>
                                    <a:rPr lang="ar-AE" sz="2200" i="1">
                                      <a:latin typeface="Cambria Math" panose="02040503050406030204" pitchFamily="18" charset="0"/>
                                    </a:rPr>
                                    <m:t>𝑢</m:t>
                                  </m:r>
                                </m:e>
                                <m:sub>
                                  <m:r>
                                    <a:rPr lang="ar-AE" sz="2200" i="1">
                                      <a:latin typeface="Cambria Math" panose="02040503050406030204" pitchFamily="18" charset="0"/>
                                    </a:rPr>
                                    <m:t>𝑖</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𝑏</m:t>
                                  </m:r>
                                </m:e>
                                <m:sub>
                                  <m:r>
                                    <a:rPr lang="ar-AE" sz="2200" i="1">
                                      <a:latin typeface="Cambria Math" panose="02040503050406030204" pitchFamily="18" charset="0"/>
                                    </a:rPr>
                                    <m:t>𝑖</m:t>
                                  </m:r>
                                </m:sub>
                              </m:sSub>
                            </m:num>
                            <m:den>
                              <m:sSub>
                                <m:sSubPr>
                                  <m:ctrlPr>
                                    <a:rPr lang="ar-AE" sz="2200" i="1">
                                      <a:latin typeface="Cambria Math" panose="02040503050406030204" pitchFamily="18" charset="0"/>
                                    </a:rPr>
                                  </m:ctrlPr>
                                </m:sSubPr>
                                <m:e>
                                  <m:r>
                                    <a:rPr lang="ar-AE" sz="2200" i="1">
                                      <a:latin typeface="Cambria Math" panose="02040503050406030204" pitchFamily="18" charset="0"/>
                                    </a:rPr>
                                    <m:t>𝑢</m:t>
                                  </m:r>
                                </m:e>
                                <m:sub>
                                  <m:r>
                                    <a:rPr lang="ar-AE" sz="2200" i="1">
                                      <a:latin typeface="Cambria Math" panose="02040503050406030204" pitchFamily="18" charset="0"/>
                                    </a:rPr>
                                    <m:t>𝑖</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h</m:t>
                                  </m:r>
                                </m:e>
                                <m:sub>
                                  <m:r>
                                    <a:rPr lang="ar-AE" sz="2200" i="1">
                                      <a:latin typeface="Cambria Math" panose="02040503050406030204" pitchFamily="18" charset="0"/>
                                    </a:rPr>
                                    <m:t>𝑖</m:t>
                                  </m:r>
                                </m:sub>
                              </m:sSub>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𝑏</m:t>
                                  </m:r>
                                </m:e>
                                <m:sub>
                                  <m:r>
                                    <a:rPr lang="ar-AE" sz="2200" i="1">
                                      <a:latin typeface="Cambria Math" panose="02040503050406030204" pitchFamily="18" charset="0"/>
                                    </a:rPr>
                                    <m:t>𝑖</m:t>
                                  </m:r>
                                </m:sub>
                              </m:sSub>
                            </m:den>
                          </m:f>
                        </m:e>
                      </m:d>
                    </m:oMath>
                  </m:oMathPara>
                </a14:m>
                <a:endParaRPr lang="ar-AE" sz="2200" dirty="0"/>
              </a:p>
              <a:p>
                <a:pPr marL="0" indent="0">
                  <a:buNone/>
                </a:pPr>
                <a:r>
                  <a:rPr lang="zh-CN" altLang="en-US" sz="2200" dirty="0"/>
                  <a:t>并构造外生替代矩阵，近似缺货需求向相似 </a:t>
                </a:r>
                <a:r>
                  <a:rPr lang="en-US" sz="2200" dirty="0"/>
                  <a:t>SKU </a:t>
                </a:r>
                <a:r>
                  <a:rPr lang="zh-CN" altLang="en-US" sz="2200" dirty="0"/>
                  <a:t>的转移：</a:t>
                </a:r>
              </a:p>
              <a:p>
                <a:pPr marL="0" indent="0">
                  <a:buNone/>
                </a:pPr>
                <a14:m>
                  <m:oMathPara xmlns:m="http://schemas.openxmlformats.org/officeDocument/2006/math">
                    <m:oMathParaPr>
                      <m:jc m:val="centerGroup"/>
                    </m:oMathParaPr>
                    <m:oMath xmlns:m="http://schemas.openxmlformats.org/officeDocument/2006/math">
                      <m:sSubSup>
                        <m:sSubSupPr>
                          <m:ctrlPr>
                            <a:rPr lang="ar-AE" sz="2200" i="1">
                              <a:latin typeface="Cambria Math" panose="02040503050406030204" pitchFamily="18" charset="0"/>
                            </a:rPr>
                          </m:ctrlPr>
                        </m:sSubSupPr>
                        <m:e>
                          <m:r>
                            <a:rPr lang="ar-AE" sz="2200" i="1">
                              <a:latin typeface="Cambria Math" panose="02040503050406030204" pitchFamily="18" charset="0"/>
                            </a:rPr>
                            <m:t>𝜇</m:t>
                          </m:r>
                        </m:e>
                        <m:sub>
                          <m:r>
                            <a:rPr lang="ar-AE" sz="2200" i="1">
                              <a:latin typeface="Cambria Math" panose="02040503050406030204" pitchFamily="18" charset="0"/>
                            </a:rPr>
                            <m:t>𝑖</m:t>
                          </m:r>
                        </m:sub>
                        <m:sup>
                          <m:r>
                            <a:rPr lang="ar-AE" sz="2200" i="1">
                              <a:latin typeface="Cambria Math" panose="02040503050406030204" pitchFamily="18" charset="0"/>
                            </a:rPr>
                            <m:t>𝑒𝑓𝑓</m:t>
                          </m:r>
                        </m:sup>
                      </m:sSubSup>
                      <m:r>
                        <a:rPr lang="ar-AE" sz="2200">
                          <a:latin typeface="Cambria Math" panose="02040503050406030204" pitchFamily="18" charset="0"/>
                        </a:rPr>
                        <m:t>=</m:t>
                      </m:r>
                      <m:sSub>
                        <m:sSubPr>
                          <m:ctrlPr>
                            <a:rPr lang="ar-AE" sz="2200" i="1">
                              <a:latin typeface="Cambria Math" panose="02040503050406030204" pitchFamily="18" charset="0"/>
                            </a:rPr>
                          </m:ctrlPr>
                        </m:sSubPr>
                        <m:e>
                          <m:r>
                            <a:rPr lang="ar-AE" sz="2200" i="1">
                              <a:latin typeface="Cambria Math" panose="02040503050406030204" pitchFamily="18" charset="0"/>
                            </a:rPr>
                            <m:t>𝜇</m:t>
                          </m:r>
                        </m:e>
                        <m:sub>
                          <m:r>
                            <a:rPr lang="ar-AE" sz="2200" i="1">
                              <a:latin typeface="Cambria Math" panose="02040503050406030204" pitchFamily="18" charset="0"/>
                            </a:rPr>
                            <m:t>𝑖</m:t>
                          </m:r>
                        </m:sub>
                      </m:sSub>
                      <m:r>
                        <a:rPr lang="ar-AE" sz="2200">
                          <a:latin typeface="Cambria Math" panose="02040503050406030204" pitchFamily="18" charset="0"/>
                        </a:rPr>
                        <m:t>+</m:t>
                      </m:r>
                      <m:nary>
                        <m:naryPr>
                          <m:chr m:val="∑"/>
                          <m:grow m:val="on"/>
                          <m:supHide m:val="on"/>
                          <m:ctrlPr>
                            <a:rPr lang="ar-AE" sz="2200" i="1">
                              <a:latin typeface="Cambria Math" panose="02040503050406030204" pitchFamily="18" charset="0"/>
                            </a:rPr>
                          </m:ctrlPr>
                        </m:naryPr>
                        <m:sub>
                          <m:r>
                            <a:rPr lang="ar-AE" sz="2200" i="1">
                              <a:latin typeface="Cambria Math" panose="02040503050406030204" pitchFamily="18" charset="0"/>
                            </a:rPr>
                            <m:t>𝑗</m:t>
                          </m:r>
                          <m:r>
                            <a:rPr lang="ar-AE" sz="2200">
                              <a:latin typeface="Cambria Math" panose="02040503050406030204" pitchFamily="18" charset="0"/>
                            </a:rPr>
                            <m:t>≠</m:t>
                          </m:r>
                          <m:r>
                            <a:rPr lang="ar-AE" sz="2200" i="1">
                              <a:latin typeface="Cambria Math" panose="02040503050406030204" pitchFamily="18" charset="0"/>
                            </a:rPr>
                            <m:t>𝑖</m:t>
                          </m:r>
                        </m:sub>
                        <m:sup/>
                        <m:e>
                          <m:sSub>
                            <m:sSubPr>
                              <m:ctrlPr>
                                <a:rPr lang="ar-AE" sz="2200" i="1">
                                  <a:latin typeface="Cambria Math" panose="02040503050406030204" pitchFamily="18" charset="0"/>
                                </a:rPr>
                              </m:ctrlPr>
                            </m:sSubPr>
                            <m:e>
                              <m:r>
                                <a:rPr lang="ar-AE" sz="2200" i="1">
                                  <a:latin typeface="Cambria Math" panose="02040503050406030204" pitchFamily="18" charset="0"/>
                                </a:rPr>
                                <m:t>𝑆</m:t>
                              </m:r>
                            </m:e>
                            <m:sub>
                              <m:r>
                                <a:rPr lang="ar-AE" sz="2200" i="1">
                                  <a:latin typeface="Cambria Math" panose="02040503050406030204" pitchFamily="18" charset="0"/>
                                </a:rPr>
                                <m:t>𝑗𝑖</m:t>
                              </m:r>
                            </m:sub>
                          </m:sSub>
                        </m:e>
                      </m:nary>
                      <m:r>
                        <m:rPr>
                          <m:sty m:val="p"/>
                        </m:rPr>
                        <a:rPr lang="en-US" sz="2200">
                          <a:latin typeface="Cambria Math" panose="02040503050406030204" pitchFamily="18" charset="0"/>
                        </a:rPr>
                        <m:t>max</m:t>
                      </m:r>
                      <m:r>
                        <a:rPr lang="en-US" sz="2200">
                          <a:latin typeface="Cambria Math" panose="02040503050406030204" pitchFamily="18" charset="0"/>
                        </a:rPr>
                        <m:t>⁡</m:t>
                      </m:r>
                      <m:d>
                        <m:dPr>
                          <m:sepChr m:val=","/>
                          <m:ctrlPr>
                            <a:rPr lang="ar-AE" sz="2200" i="1">
                              <a:latin typeface="Cambria Math" panose="02040503050406030204" pitchFamily="18" charset="0"/>
                            </a:rPr>
                          </m:ctrlPr>
                        </m:dPr>
                        <m:e>
                          <m:sSubSup>
                            <m:sSubSupPr>
                              <m:ctrlPr>
                                <a:rPr lang="ar-AE" sz="2200" i="1">
                                  <a:latin typeface="Cambria Math" panose="02040503050406030204" pitchFamily="18" charset="0"/>
                                </a:rPr>
                              </m:ctrlPr>
                            </m:sSubSupPr>
                            <m:e>
                              <m:r>
                                <a:rPr lang="ar-AE" sz="2200" i="1">
                                  <a:latin typeface="Cambria Math" panose="02040503050406030204" pitchFamily="18" charset="0"/>
                                </a:rPr>
                                <m:t>𝜇</m:t>
                              </m:r>
                            </m:e>
                            <m:sub>
                              <m:r>
                                <a:rPr lang="ar-AE" sz="2200" i="1">
                                  <a:latin typeface="Cambria Math" panose="02040503050406030204" pitchFamily="18" charset="0"/>
                                </a:rPr>
                                <m:t>𝑗</m:t>
                              </m:r>
                            </m:sub>
                            <m:sup>
                              <m:r>
                                <a:rPr lang="ar-AE" sz="2200" i="1">
                                  <a:latin typeface="Cambria Math" panose="02040503050406030204" pitchFamily="18" charset="0"/>
                                </a:rPr>
                                <m:t>𝑒𝑓𝑓</m:t>
                              </m:r>
                            </m:sup>
                          </m:sSubSup>
                        </m:e>
                        <m:e>
                          <m:r>
                            <a:rPr lang="ar-AE" sz="2200">
                              <a:latin typeface="Cambria Math" panose="02040503050406030204" pitchFamily="18" charset="0"/>
                            </a:rPr>
                            <m:t>−</m:t>
                          </m:r>
                          <m:r>
                            <a:rPr lang="ar-AE" sz="2200" i="1">
                              <a:latin typeface="Cambria Math" panose="02040503050406030204" pitchFamily="18" charset="0"/>
                            </a:rPr>
                            <m:t>𝑠𝑜𝑙</m:t>
                          </m:r>
                          <m:sSub>
                            <m:sSubPr>
                              <m:ctrlPr>
                                <a:rPr lang="ar-AE" sz="2200" i="1">
                                  <a:latin typeface="Cambria Math" panose="02040503050406030204" pitchFamily="18" charset="0"/>
                                </a:rPr>
                              </m:ctrlPr>
                            </m:sSubPr>
                            <m:e>
                              <m:r>
                                <a:rPr lang="ar-AE" sz="2200" i="1">
                                  <a:latin typeface="Cambria Math" panose="02040503050406030204" pitchFamily="18" charset="0"/>
                                </a:rPr>
                                <m:t>𝑑</m:t>
                              </m:r>
                            </m:e>
                            <m:sub>
                              <m:r>
                                <a:rPr lang="ar-AE" sz="2200" i="1">
                                  <a:latin typeface="Cambria Math" panose="02040503050406030204" pitchFamily="18" charset="0"/>
                                </a:rPr>
                                <m:t>𝑗</m:t>
                              </m:r>
                            </m:sub>
                          </m:sSub>
                          <m:r>
                            <a:rPr lang="ar-AE" sz="2200">
                              <a:latin typeface="Cambria Math" panose="02040503050406030204" pitchFamily="18" charset="0"/>
                            </a:rPr>
                            <m:t>0</m:t>
                          </m:r>
                        </m:e>
                      </m:d>
                    </m:oMath>
                  </m:oMathPara>
                </a14:m>
                <a:endParaRPr lang="ar-AE" sz="2200" dirty="0"/>
              </a:p>
              <a:p>
                <a:pPr marL="0" indent="0">
                  <a:buNone/>
                </a:pPr>
                <a:r>
                  <a:rPr lang="zh-CN" altLang="en-US" sz="2200" dirty="0"/>
                  <a:t>最后在体积和重量约束下，通过局部搜索改进库存方案。</a:t>
                </a:r>
              </a:p>
              <a:p>
                <a:pPr marL="0" indent="0">
                  <a:buNone/>
                </a:pPr>
                <a:endParaRPr lang="en-US" sz="2200" dirty="0"/>
              </a:p>
            </p:txBody>
          </p:sp>
        </mc:Choice>
        <mc:Fallback xmlns="">
          <p:sp>
            <p:nvSpPr>
              <p:cNvPr id="3" name="Content Placeholder 2">
                <a:extLst>
                  <a:ext uri="{FF2B5EF4-FFF2-40B4-BE49-F238E27FC236}">
                    <a16:creationId xmlns:a16="http://schemas.microsoft.com/office/drawing/2014/main" id="{4BFF14FF-193B-7E77-3DB5-9B21D77EB601}"/>
                  </a:ext>
                </a:extLst>
              </p:cNvPr>
              <p:cNvSpPr>
                <a:spLocks noGrp="1" noRot="1" noChangeAspect="1" noMove="1" noResize="1" noEditPoints="1" noAdjustHandles="1" noChangeArrowheads="1" noChangeShapeType="1" noTextEdit="1"/>
              </p:cNvSpPr>
              <p:nvPr>
                <p:ph idx="1"/>
              </p:nvPr>
            </p:nvSpPr>
            <p:spPr>
              <a:xfrm>
                <a:off x="838200" y="976538"/>
                <a:ext cx="10515600" cy="5881461"/>
              </a:xfrm>
              <a:blipFill>
                <a:blip r:embed="rId2"/>
                <a:stretch>
                  <a:fillRect l="-724" t="-1293" b="-15302"/>
                </a:stretch>
              </a:blipFill>
            </p:spPr>
            <p:txBody>
              <a:bodyPr/>
              <a:lstStyle/>
              <a:p>
                <a:r>
                  <a:rPr lang="en-US">
                    <a:noFill/>
                  </a:rPr>
                  <a:t> </a:t>
                </a:r>
              </a:p>
            </p:txBody>
          </p:sp>
        </mc:Fallback>
      </mc:AlternateContent>
    </p:spTree>
    <p:extLst>
      <p:ext uri="{BB962C8B-B14F-4D97-AF65-F5344CB8AC3E}">
        <p14:creationId xmlns:p14="http://schemas.microsoft.com/office/powerpoint/2010/main" val="351800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A58B-C2DC-B783-8C38-2DC531C829B3}"/>
              </a:ext>
            </a:extLst>
          </p:cNvPr>
          <p:cNvSpPr>
            <a:spLocks noGrp="1"/>
          </p:cNvSpPr>
          <p:nvPr>
            <p:ph type="title"/>
          </p:nvPr>
        </p:nvSpPr>
        <p:spPr>
          <a:xfrm>
            <a:off x="0" y="18255"/>
            <a:ext cx="10515600" cy="1325563"/>
          </a:xfrm>
        </p:spPr>
        <p:txBody>
          <a:bodyPr/>
          <a:lstStyle/>
          <a:p>
            <a:r>
              <a:rPr lang="en-US" dirty="0" err="1"/>
              <a:t>实验设计</a:t>
            </a:r>
            <a:endParaRPr lang="en-US" dirty="0"/>
          </a:p>
        </p:txBody>
      </p:sp>
      <p:sp>
        <p:nvSpPr>
          <p:cNvPr id="5" name="Content Placeholder 4">
            <a:extLst>
              <a:ext uri="{FF2B5EF4-FFF2-40B4-BE49-F238E27FC236}">
                <a16:creationId xmlns:a16="http://schemas.microsoft.com/office/drawing/2014/main" id="{67D5CFCC-4941-4A87-9D59-28EB9B7C0D36}"/>
              </a:ext>
            </a:extLst>
          </p:cNvPr>
          <p:cNvSpPr>
            <a:spLocks noGrp="1"/>
          </p:cNvSpPr>
          <p:nvPr>
            <p:ph idx="1"/>
          </p:nvPr>
        </p:nvSpPr>
        <p:spPr>
          <a:xfrm>
            <a:off x="140778" y="1343818"/>
            <a:ext cx="6120538" cy="3040843"/>
          </a:xfrm>
        </p:spPr>
        <p:txBody>
          <a:bodyPr/>
          <a:lstStyle/>
          <a:p>
            <a:pPr marL="0" indent="0">
              <a:buNone/>
            </a:pPr>
            <a:r>
              <a:rPr lang="zh-CN" altLang="en-US" b="1" dirty="0"/>
              <a:t>数据基础</a:t>
            </a:r>
            <a:endParaRPr lang="zh-CN" altLang="en-US" dirty="0"/>
          </a:p>
          <a:p>
            <a:pPr marL="0" indent="0">
              <a:buNone/>
            </a:pPr>
            <a:r>
              <a:rPr lang="zh-CN" altLang="en-US" dirty="0"/>
              <a:t>原始交易行数：</a:t>
            </a:r>
            <a:r>
              <a:rPr lang="en-US" altLang="zh-CN" dirty="0"/>
              <a:t>131,706</a:t>
            </a:r>
            <a:endParaRPr lang="zh-CN" altLang="en-US" dirty="0"/>
          </a:p>
          <a:p>
            <a:pPr marL="0" indent="0">
              <a:buNone/>
            </a:pPr>
            <a:r>
              <a:rPr lang="zh-CN" altLang="en-US" dirty="0"/>
              <a:t>订单数：</a:t>
            </a:r>
            <a:r>
              <a:rPr lang="en-US" altLang="zh-CN" dirty="0"/>
              <a:t>64,682</a:t>
            </a:r>
            <a:endParaRPr lang="zh-CN" altLang="en-US" dirty="0"/>
          </a:p>
          <a:p>
            <a:pPr marL="0" indent="0">
              <a:buNone/>
            </a:pPr>
            <a:r>
              <a:rPr lang="zh-CN" altLang="en-US" dirty="0"/>
              <a:t>原始 </a:t>
            </a:r>
            <a:r>
              <a:rPr lang="en-US" dirty="0"/>
              <a:t>SKU </a:t>
            </a:r>
            <a:r>
              <a:rPr lang="zh-CN" altLang="en-US" dirty="0"/>
              <a:t>数：</a:t>
            </a:r>
            <a:r>
              <a:rPr lang="en-US" altLang="zh-CN" dirty="0"/>
              <a:t>5,242</a:t>
            </a:r>
            <a:endParaRPr lang="zh-CN" altLang="en-US" dirty="0"/>
          </a:p>
          <a:p>
            <a:pPr marL="0" indent="0">
              <a:buNone/>
            </a:pPr>
            <a:r>
              <a:rPr lang="zh-CN" altLang="en-US" dirty="0"/>
              <a:t>样本时间：</a:t>
            </a:r>
            <a:r>
              <a:rPr lang="en-US" altLang="zh-CN" dirty="0"/>
              <a:t>2016-01-02</a:t>
            </a:r>
            <a:r>
              <a:rPr lang="zh-CN" altLang="en-US" dirty="0"/>
              <a:t> 至 </a:t>
            </a:r>
            <a:r>
              <a:rPr lang="en-US" altLang="zh-CN" dirty="0"/>
              <a:t>2016-12-31</a:t>
            </a:r>
            <a:endParaRPr lang="zh-CN" altLang="en-US" dirty="0"/>
          </a:p>
          <a:p>
            <a:pPr marL="0" indent="0">
              <a:buNone/>
            </a:pPr>
            <a:r>
              <a:rPr lang="zh-CN" altLang="en-US" dirty="0"/>
              <a:t>处理后候选 </a:t>
            </a:r>
            <a:r>
              <a:rPr lang="en-US" dirty="0"/>
              <a:t>SKU：500</a:t>
            </a:r>
          </a:p>
        </p:txBody>
      </p:sp>
      <p:sp>
        <p:nvSpPr>
          <p:cNvPr id="8" name="TextBox 7">
            <a:extLst>
              <a:ext uri="{FF2B5EF4-FFF2-40B4-BE49-F238E27FC236}">
                <a16:creationId xmlns:a16="http://schemas.microsoft.com/office/drawing/2014/main" id="{AE0953CC-F837-218C-C81E-AF23522797E5}"/>
              </a:ext>
            </a:extLst>
          </p:cNvPr>
          <p:cNvSpPr txBox="1"/>
          <p:nvPr/>
        </p:nvSpPr>
        <p:spPr>
          <a:xfrm>
            <a:off x="6688812" y="1343818"/>
            <a:ext cx="5120896" cy="2545890"/>
          </a:xfrm>
          <a:prstGeom prst="rect">
            <a:avLst/>
          </a:prstGeom>
          <a:noFill/>
        </p:spPr>
        <p:txBody>
          <a:bodyPr wrap="square" rtlCol="0">
            <a:spAutoFit/>
          </a:bodyPr>
          <a:lstStyle/>
          <a:p>
            <a:pPr>
              <a:lnSpc>
                <a:spcPct val="90000"/>
              </a:lnSpc>
              <a:spcBef>
                <a:spcPts val="1000"/>
              </a:spcBef>
            </a:pPr>
            <a:r>
              <a:rPr lang="zh-CN" altLang="en-US" sz="2800" b="1" dirty="0"/>
              <a:t>实验设计</a:t>
            </a:r>
          </a:p>
          <a:p>
            <a:pPr>
              <a:lnSpc>
                <a:spcPct val="90000"/>
              </a:lnSpc>
              <a:spcBef>
                <a:spcPts val="1000"/>
              </a:spcBef>
            </a:pPr>
            <a:r>
              <a:rPr lang="en-US" altLang="zh-CN" sz="2800" dirty="0"/>
              <a:t>365 </a:t>
            </a:r>
            <a:r>
              <a:rPr lang="zh-CN" altLang="en-US" sz="2800" dirty="0"/>
              <a:t>天日需求数据</a:t>
            </a:r>
          </a:p>
          <a:p>
            <a:pPr>
              <a:lnSpc>
                <a:spcPct val="90000"/>
              </a:lnSpc>
              <a:spcBef>
                <a:spcPts val="1000"/>
              </a:spcBef>
            </a:pPr>
            <a:r>
              <a:rPr lang="zh-CN" altLang="en-US" sz="2800" dirty="0"/>
              <a:t>按周聚合形成 </a:t>
            </a:r>
            <a:r>
              <a:rPr lang="en-US" altLang="zh-CN" sz="2800" dirty="0"/>
              <a:t>53 </a:t>
            </a:r>
            <a:r>
              <a:rPr lang="zh-CN" altLang="en-US" sz="2800" dirty="0"/>
              <a:t>个周样本</a:t>
            </a:r>
          </a:p>
          <a:p>
            <a:pPr>
              <a:lnSpc>
                <a:spcPct val="90000"/>
              </a:lnSpc>
              <a:spcBef>
                <a:spcPts val="1000"/>
              </a:spcBef>
            </a:pPr>
            <a:r>
              <a:rPr lang="en-US" altLang="zh-CN" sz="2800" dirty="0"/>
              <a:t>8 </a:t>
            </a:r>
            <a:r>
              <a:rPr lang="zh-CN" altLang="en-US" sz="2800" dirty="0"/>
              <a:t>周训练 </a:t>
            </a:r>
            <a:r>
              <a:rPr lang="en-US" altLang="zh-CN" sz="2800" dirty="0"/>
              <a:t>+ 1 </a:t>
            </a:r>
            <a:r>
              <a:rPr lang="zh-CN" altLang="en-US" sz="2800" dirty="0"/>
              <a:t>周测试</a:t>
            </a:r>
          </a:p>
          <a:p>
            <a:pPr>
              <a:lnSpc>
                <a:spcPct val="90000"/>
              </a:lnSpc>
              <a:spcBef>
                <a:spcPts val="1000"/>
              </a:spcBef>
            </a:pPr>
            <a:r>
              <a:rPr lang="zh-CN" altLang="en-US" sz="2800" dirty="0"/>
              <a:t>共 </a:t>
            </a:r>
            <a:r>
              <a:rPr lang="en-US" altLang="zh-CN" sz="2800" dirty="0"/>
              <a:t>45</a:t>
            </a:r>
            <a:r>
              <a:rPr lang="zh-CN" altLang="en-US" sz="2800" dirty="0"/>
              <a:t> 个滚动窗口</a:t>
            </a:r>
          </a:p>
        </p:txBody>
      </p:sp>
      <p:sp>
        <p:nvSpPr>
          <p:cNvPr id="9" name="TextBox 8">
            <a:extLst>
              <a:ext uri="{FF2B5EF4-FFF2-40B4-BE49-F238E27FC236}">
                <a16:creationId xmlns:a16="http://schemas.microsoft.com/office/drawing/2014/main" id="{09E1E866-1F2E-5FDD-54EE-64EEBDE1F218}"/>
              </a:ext>
            </a:extLst>
          </p:cNvPr>
          <p:cNvSpPr txBox="1"/>
          <p:nvPr/>
        </p:nvSpPr>
        <p:spPr>
          <a:xfrm>
            <a:off x="140778" y="4830550"/>
            <a:ext cx="11711552" cy="584775"/>
          </a:xfrm>
          <a:prstGeom prst="rect">
            <a:avLst/>
          </a:prstGeom>
          <a:noFill/>
        </p:spPr>
        <p:txBody>
          <a:bodyPr wrap="square" rtlCol="0">
            <a:spAutoFit/>
          </a:bodyPr>
          <a:lstStyle/>
          <a:p>
            <a:r>
              <a:rPr lang="zh-CN" altLang="en-US" sz="3200" b="1" dirty="0"/>
              <a:t>三类场景</a:t>
            </a:r>
            <a:r>
              <a:rPr lang="en-US" sz="3200" dirty="0"/>
              <a:t>baseline</a:t>
            </a:r>
            <a:r>
              <a:rPr lang="zh-CN" altLang="en-US" sz="3200" dirty="0"/>
              <a:t>， </a:t>
            </a:r>
            <a:r>
              <a:rPr lang="en-US" sz="3200" dirty="0"/>
              <a:t>high volatility</a:t>
            </a:r>
            <a:r>
              <a:rPr lang="zh-CN" altLang="en-US" sz="3200" dirty="0"/>
              <a:t>， </a:t>
            </a:r>
            <a:r>
              <a:rPr lang="en-US" sz="3200" dirty="0"/>
              <a:t>large scale</a:t>
            </a:r>
          </a:p>
        </p:txBody>
      </p:sp>
    </p:spTree>
    <p:extLst>
      <p:ext uri="{BB962C8B-B14F-4D97-AF65-F5344CB8AC3E}">
        <p14:creationId xmlns:p14="http://schemas.microsoft.com/office/powerpoint/2010/main" val="839058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D841AD-DA63-06E0-574B-33A6415E1B90}"/>
              </a:ext>
            </a:extLst>
          </p:cNvPr>
          <p:cNvPicPr>
            <a:picLocks noChangeAspect="1"/>
          </p:cNvPicPr>
          <p:nvPr/>
        </p:nvPicPr>
        <p:blipFill>
          <a:blip r:embed="rId3"/>
          <a:stretch>
            <a:fillRect/>
          </a:stretch>
        </p:blipFill>
        <p:spPr>
          <a:xfrm>
            <a:off x="236537" y="1079044"/>
            <a:ext cx="10621964" cy="5593219"/>
          </a:xfrm>
          <a:prstGeom prst="rect">
            <a:avLst/>
          </a:prstGeom>
        </p:spPr>
      </p:pic>
      <p:sp>
        <p:nvSpPr>
          <p:cNvPr id="5" name="TextBox 4">
            <a:extLst>
              <a:ext uri="{FF2B5EF4-FFF2-40B4-BE49-F238E27FC236}">
                <a16:creationId xmlns:a16="http://schemas.microsoft.com/office/drawing/2014/main" id="{CA504CBF-F0C2-F943-1156-C890A7F90766}"/>
              </a:ext>
            </a:extLst>
          </p:cNvPr>
          <p:cNvSpPr txBox="1"/>
          <p:nvPr/>
        </p:nvSpPr>
        <p:spPr>
          <a:xfrm>
            <a:off x="0" y="0"/>
            <a:ext cx="8648521" cy="769441"/>
          </a:xfrm>
          <a:prstGeom prst="rect">
            <a:avLst/>
          </a:prstGeom>
          <a:noFill/>
        </p:spPr>
        <p:txBody>
          <a:bodyPr wrap="none" rtlCol="0">
            <a:spAutoFit/>
          </a:bodyPr>
          <a:lstStyle/>
          <a:p>
            <a:r>
              <a:rPr lang="en-US" sz="4400" dirty="0" err="1">
                <a:latin typeface="+mj-lt"/>
                <a:ea typeface="+mj-ea"/>
                <a:cs typeface="+mj-cs"/>
              </a:rPr>
              <a:t>各类解法与文献启发算法对比对比</a:t>
            </a:r>
            <a:endParaRPr lang="en-US" sz="4400" dirty="0">
              <a:latin typeface="+mj-lt"/>
              <a:ea typeface="+mj-ea"/>
              <a:cs typeface="+mj-cs"/>
            </a:endParaRPr>
          </a:p>
        </p:txBody>
      </p:sp>
    </p:spTree>
    <p:extLst>
      <p:ext uri="{BB962C8B-B14F-4D97-AF65-F5344CB8AC3E}">
        <p14:creationId xmlns:p14="http://schemas.microsoft.com/office/powerpoint/2010/main" val="403049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4F9A7A-AC43-8E0B-40F9-DF5DF068D635}"/>
              </a:ext>
            </a:extLst>
          </p:cNvPr>
          <p:cNvSpPr>
            <a:spLocks noGrp="1"/>
          </p:cNvSpPr>
          <p:nvPr>
            <p:ph type="title"/>
          </p:nvPr>
        </p:nvSpPr>
        <p:spPr>
          <a:xfrm>
            <a:off x="630936" y="502920"/>
            <a:ext cx="3419856" cy="1463040"/>
          </a:xfrm>
        </p:spPr>
        <p:txBody>
          <a:bodyPr anchor="ctr">
            <a:normAutofit/>
          </a:bodyPr>
          <a:lstStyle/>
          <a:p>
            <a:r>
              <a:rPr lang="zh-CN" altLang="en-US" sz="3000"/>
              <a:t>聚合需求层结果：</a:t>
            </a:r>
            <a:r>
              <a:rPr lang="en-US" sz="3000"/>
              <a:t>DP-Lagrangian </a:t>
            </a:r>
            <a:r>
              <a:rPr lang="zh-CN" altLang="en-US" sz="3000"/>
              <a:t>在三类场景中表现最强</a:t>
            </a:r>
            <a:endParaRPr lang="en-US" sz="3000"/>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31B970-1856-61CE-9932-88F780CA1564}"/>
              </a:ext>
            </a:extLst>
          </p:cNvPr>
          <p:cNvSpPr>
            <a:spLocks noGrp="1"/>
          </p:cNvSpPr>
          <p:nvPr>
            <p:ph idx="1"/>
          </p:nvPr>
        </p:nvSpPr>
        <p:spPr>
          <a:xfrm>
            <a:off x="4654295" y="502920"/>
            <a:ext cx="6894576" cy="1463040"/>
          </a:xfrm>
        </p:spPr>
        <p:txBody>
          <a:bodyPr anchor="ctr">
            <a:normAutofit/>
          </a:bodyPr>
          <a:lstStyle/>
          <a:p>
            <a:pPr marL="0" indent="0">
              <a:buNone/>
            </a:pPr>
            <a:r>
              <a:rPr lang="zh-CN" altLang="en-US" sz="1200" dirty="0"/>
              <a:t>在主方法比较中，</a:t>
            </a:r>
            <a:r>
              <a:rPr lang="en-US" sz="1200" dirty="0"/>
              <a:t>DP-</a:t>
            </a:r>
            <a:r>
              <a:rPr lang="en-US" sz="1200" dirty="0" err="1"/>
              <a:t>Lagrangian</a:t>
            </a:r>
            <a:r>
              <a:rPr lang="en-US" sz="1200" dirty="0"/>
              <a:t> </a:t>
            </a:r>
            <a:r>
              <a:rPr lang="zh-CN" altLang="en-US" sz="1200" dirty="0"/>
              <a:t>的平均 </a:t>
            </a:r>
            <a:r>
              <a:rPr lang="en-US" sz="1200" dirty="0"/>
              <a:t>line fill rate </a:t>
            </a:r>
            <a:r>
              <a:rPr lang="zh-CN" altLang="en-US" sz="1200" dirty="0"/>
              <a:t>在三类场景下均最高：</a:t>
            </a:r>
          </a:p>
          <a:p>
            <a:pPr marL="0" indent="0">
              <a:buNone/>
            </a:pPr>
            <a:r>
              <a:rPr lang="en-US" sz="1200" dirty="0"/>
              <a:t>baseline：0.204</a:t>
            </a:r>
          </a:p>
          <a:p>
            <a:pPr marL="0" indent="0">
              <a:buNone/>
            </a:pPr>
            <a:r>
              <a:rPr lang="en-US" sz="1200" dirty="0"/>
              <a:t>high volatility：0.203</a:t>
            </a:r>
          </a:p>
          <a:p>
            <a:pPr marL="0" indent="0">
              <a:buNone/>
            </a:pPr>
            <a:r>
              <a:rPr lang="en-US" sz="1200" dirty="0"/>
              <a:t>large scale：0.091</a:t>
            </a:r>
          </a:p>
          <a:p>
            <a:pPr marL="0" indent="0">
              <a:buNone/>
            </a:pPr>
            <a:r>
              <a:rPr lang="zh-CN" altLang="en-US" sz="1200" dirty="0"/>
              <a:t>同时，</a:t>
            </a:r>
            <a:r>
              <a:rPr lang="en-US" sz="1200" dirty="0"/>
              <a:t>Greedy </a:t>
            </a:r>
            <a:r>
              <a:rPr lang="zh-CN" altLang="en-US" sz="1200" dirty="0"/>
              <a:t>虽然效果最弱，但运行速度最快；</a:t>
            </a:r>
            <a:r>
              <a:rPr lang="en-US" sz="1200" dirty="0"/>
              <a:t>CP-SAT </a:t>
            </a:r>
            <a:r>
              <a:rPr lang="zh-CN" altLang="en-US" sz="1200" dirty="0"/>
              <a:t>提供了高质量参考解。</a:t>
            </a:r>
          </a:p>
          <a:p>
            <a:pPr marL="0" indent="0">
              <a:buNone/>
            </a:pPr>
            <a:endParaRPr lang="en-US" sz="1200" dirty="0"/>
          </a:p>
        </p:txBody>
      </p:sp>
      <p:pic>
        <p:nvPicPr>
          <p:cNvPr id="4" name="Picture 3">
            <a:extLst>
              <a:ext uri="{FF2B5EF4-FFF2-40B4-BE49-F238E27FC236}">
                <a16:creationId xmlns:a16="http://schemas.microsoft.com/office/drawing/2014/main" id="{C359C40F-F7D0-3D41-B1F6-8C3B451F6763}"/>
              </a:ext>
            </a:extLst>
          </p:cNvPr>
          <p:cNvPicPr>
            <a:picLocks noChangeAspect="1"/>
          </p:cNvPicPr>
          <p:nvPr/>
        </p:nvPicPr>
        <p:blipFill>
          <a:blip r:embed="rId2"/>
          <a:stretch>
            <a:fillRect/>
          </a:stretch>
        </p:blipFill>
        <p:spPr>
          <a:xfrm>
            <a:off x="1319599" y="2290936"/>
            <a:ext cx="9540609" cy="3959352"/>
          </a:xfrm>
          <a:prstGeom prst="rect">
            <a:avLst/>
          </a:prstGeom>
        </p:spPr>
      </p:pic>
    </p:spTree>
    <p:extLst>
      <p:ext uri="{BB962C8B-B14F-4D97-AF65-F5344CB8AC3E}">
        <p14:creationId xmlns:p14="http://schemas.microsoft.com/office/powerpoint/2010/main" val="650436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4F2153-A492-1EAF-10B5-CBECBC7CE4FF}"/>
              </a:ext>
            </a:extLst>
          </p:cNvPr>
          <p:cNvSpPr>
            <a:spLocks noGrp="1"/>
          </p:cNvSpPr>
          <p:nvPr>
            <p:ph idx="1"/>
          </p:nvPr>
        </p:nvSpPr>
        <p:spPr>
          <a:xfrm>
            <a:off x="64234" y="1550990"/>
            <a:ext cx="10515600" cy="4351338"/>
          </a:xfrm>
        </p:spPr>
        <p:txBody>
          <a:bodyPr/>
          <a:lstStyle/>
          <a:p>
            <a:pPr marL="0" indent="0">
              <a:buNone/>
            </a:pPr>
            <a:r>
              <a:rPr lang="zh-CN" altLang="en-US" dirty="0"/>
              <a:t>在统一容量口径后：</a:t>
            </a:r>
          </a:p>
          <a:p>
            <a:pPr marL="0" indent="0">
              <a:buNone/>
            </a:pPr>
            <a:r>
              <a:rPr lang="en-US" dirty="0"/>
              <a:t>hybrid_v2 </a:t>
            </a:r>
            <a:r>
              <a:rPr lang="zh-CN" altLang="en-US" dirty="0"/>
              <a:t>的聚合 </a:t>
            </a:r>
            <a:r>
              <a:rPr lang="en-US" dirty="0"/>
              <a:t>LFR </a:t>
            </a:r>
            <a:r>
              <a:rPr lang="zh-CN" altLang="en-US" dirty="0"/>
              <a:t>约为 </a:t>
            </a:r>
            <a:r>
              <a:rPr lang="en-US" altLang="zh-CN" dirty="0"/>
              <a:t>0.285</a:t>
            </a:r>
            <a:endParaRPr lang="zh-CN" altLang="en-US" dirty="0"/>
          </a:p>
          <a:p>
            <a:pPr marL="0" indent="0">
              <a:buNone/>
            </a:pPr>
            <a:r>
              <a:rPr lang="en-US" dirty="0"/>
              <a:t>DP-</a:t>
            </a:r>
            <a:r>
              <a:rPr lang="en-US" dirty="0" err="1"/>
              <a:t>Lagrangian</a:t>
            </a:r>
            <a:r>
              <a:rPr lang="en-US" dirty="0"/>
              <a:t> </a:t>
            </a:r>
            <a:r>
              <a:rPr lang="zh-CN" altLang="en-US" dirty="0"/>
              <a:t>仍然是主方法中最强</a:t>
            </a:r>
          </a:p>
          <a:p>
            <a:pPr marL="0" indent="0">
              <a:buNone/>
            </a:pPr>
            <a:r>
              <a:rPr lang="zh-CN" altLang="en-US" dirty="0"/>
              <a:t>但不同方法内部若使用不同容量核算方式，则 </a:t>
            </a:r>
            <a:r>
              <a:rPr lang="en-US" dirty="0"/>
              <a:t>proxy </a:t>
            </a:r>
            <a:r>
              <a:rPr lang="zh-CN" altLang="en-US" dirty="0"/>
              <a:t>层数值不宜直接横向比较</a:t>
            </a:r>
          </a:p>
          <a:p>
            <a:pPr marL="0" indent="0">
              <a:buNone/>
            </a:pPr>
            <a:r>
              <a:rPr lang="zh-CN" altLang="en-US" b="1" dirty="0"/>
              <a:t>解释</a:t>
            </a:r>
            <a:endParaRPr lang="zh-CN" altLang="en-US" dirty="0"/>
          </a:p>
          <a:p>
            <a:pPr marL="0" indent="0">
              <a:buNone/>
            </a:pPr>
            <a:r>
              <a:rPr lang="zh-CN" altLang="en-US" dirty="0"/>
              <a:t>聚合层结果：看各方法在自身 </a:t>
            </a:r>
            <a:r>
              <a:rPr lang="en-US" dirty="0"/>
              <a:t>proxy </a:t>
            </a:r>
            <a:r>
              <a:rPr lang="zh-CN" altLang="en-US" dirty="0"/>
              <a:t>框架下的稳定性</a:t>
            </a:r>
          </a:p>
          <a:p>
            <a:pPr marL="0" indent="0">
              <a:buNone/>
            </a:pPr>
            <a:r>
              <a:rPr lang="zh-CN" altLang="en-US" dirty="0"/>
              <a:t>共同窗口 </a:t>
            </a:r>
            <a:r>
              <a:rPr lang="en-US" dirty="0"/>
              <a:t>replay：</a:t>
            </a:r>
            <a:r>
              <a:rPr lang="zh-CN" altLang="en-US" dirty="0"/>
              <a:t>看更贴近业务 </a:t>
            </a:r>
            <a:r>
              <a:rPr lang="en-US" dirty="0"/>
              <a:t>KPI </a:t>
            </a:r>
            <a:r>
              <a:rPr lang="zh-CN" altLang="en-US" dirty="0"/>
              <a:t>的真实履约表现</a:t>
            </a:r>
          </a:p>
          <a:p>
            <a:pPr marL="0" indent="0">
              <a:buNone/>
            </a:pPr>
            <a:endParaRPr lang="en-US" dirty="0"/>
          </a:p>
        </p:txBody>
      </p:sp>
      <p:sp>
        <p:nvSpPr>
          <p:cNvPr id="4" name="TextBox 3">
            <a:extLst>
              <a:ext uri="{FF2B5EF4-FFF2-40B4-BE49-F238E27FC236}">
                <a16:creationId xmlns:a16="http://schemas.microsoft.com/office/drawing/2014/main" id="{A01B673D-1C3B-3946-32B9-6DD0CA8BA136}"/>
              </a:ext>
            </a:extLst>
          </p:cNvPr>
          <p:cNvSpPr txBox="1"/>
          <p:nvPr/>
        </p:nvSpPr>
        <p:spPr>
          <a:xfrm>
            <a:off x="0" y="126997"/>
            <a:ext cx="10644068" cy="584775"/>
          </a:xfrm>
          <a:prstGeom prst="rect">
            <a:avLst/>
          </a:prstGeom>
          <a:noFill/>
        </p:spPr>
        <p:txBody>
          <a:bodyPr wrap="none" rtlCol="0">
            <a:spAutoFit/>
          </a:bodyPr>
          <a:lstStyle/>
          <a:p>
            <a:r>
              <a:rPr lang="zh-CN" altLang="en-US" sz="3200" dirty="0"/>
              <a:t>为什么不能只看一个 </a:t>
            </a:r>
            <a:r>
              <a:rPr lang="en-US" sz="3200" dirty="0"/>
              <a:t>summary </a:t>
            </a:r>
            <a:r>
              <a:rPr lang="zh-CN" altLang="en-US" sz="3200" dirty="0"/>
              <a:t>表：统一容量口径的重要性</a:t>
            </a:r>
            <a:endParaRPr lang="en-US" sz="3200" dirty="0"/>
          </a:p>
        </p:txBody>
      </p:sp>
    </p:spTree>
    <p:extLst>
      <p:ext uri="{BB962C8B-B14F-4D97-AF65-F5344CB8AC3E}">
        <p14:creationId xmlns:p14="http://schemas.microsoft.com/office/powerpoint/2010/main" val="3504996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75D4CD-2631-068E-BD06-DFBF47190E98}"/>
              </a:ext>
            </a:extLst>
          </p:cNvPr>
          <p:cNvSpPr>
            <a:spLocks noGrp="1"/>
          </p:cNvSpPr>
          <p:nvPr>
            <p:ph idx="1"/>
          </p:nvPr>
        </p:nvSpPr>
        <p:spPr>
          <a:xfrm>
            <a:off x="0" y="383183"/>
            <a:ext cx="9677400" cy="588963"/>
          </a:xfrm>
        </p:spPr>
        <p:txBody>
          <a:bodyPr>
            <a:normAutofit/>
          </a:bodyPr>
          <a:lstStyle/>
          <a:p>
            <a:pPr marL="0" indent="0">
              <a:buNone/>
            </a:pPr>
            <a:r>
              <a:rPr lang="zh-CN" altLang="en-US" dirty="0"/>
              <a:t>在 </a:t>
            </a:r>
            <a:r>
              <a:rPr lang="en-US" dirty="0"/>
              <a:t>baseline </a:t>
            </a:r>
            <a:r>
              <a:rPr lang="zh-CN" altLang="en-US" dirty="0"/>
              <a:t>场景下，对齐 </a:t>
            </a:r>
            <a:r>
              <a:rPr lang="en-US" altLang="zh-CN" dirty="0"/>
              <a:t>43</a:t>
            </a:r>
            <a:r>
              <a:rPr lang="zh-CN" altLang="en-US" dirty="0"/>
              <a:t> 个共同窗口，进行两类 </a:t>
            </a:r>
            <a:r>
              <a:rPr lang="en-US" dirty="0"/>
              <a:t>replay：</a:t>
            </a:r>
          </a:p>
        </p:txBody>
      </p:sp>
      <p:sp>
        <p:nvSpPr>
          <p:cNvPr id="9" name="TextBox 8">
            <a:extLst>
              <a:ext uri="{FF2B5EF4-FFF2-40B4-BE49-F238E27FC236}">
                <a16:creationId xmlns:a16="http://schemas.microsoft.com/office/drawing/2014/main" id="{20BCE09C-BF6A-D685-D31B-4C298DC7FBE5}"/>
              </a:ext>
            </a:extLst>
          </p:cNvPr>
          <p:cNvSpPr txBox="1"/>
          <p:nvPr/>
        </p:nvSpPr>
        <p:spPr>
          <a:xfrm>
            <a:off x="499895" y="2052056"/>
            <a:ext cx="5260182" cy="3108543"/>
          </a:xfrm>
          <a:prstGeom prst="rect">
            <a:avLst/>
          </a:prstGeom>
          <a:noFill/>
        </p:spPr>
        <p:txBody>
          <a:bodyPr wrap="square">
            <a:spAutoFit/>
          </a:bodyPr>
          <a:lstStyle/>
          <a:p>
            <a:pPr marL="0" indent="0">
              <a:buNone/>
            </a:pPr>
            <a:r>
              <a:rPr lang="en-US" sz="2800" b="1" dirty="0"/>
              <a:t>1. </a:t>
            </a:r>
            <a:r>
              <a:rPr lang="en-US" sz="2800" b="1" dirty="0" err="1"/>
              <a:t>整单履约Whole</a:t>
            </a:r>
            <a:r>
              <a:rPr lang="en-US" sz="2800" b="1" dirty="0"/>
              <a:t>-order replay</a:t>
            </a:r>
          </a:p>
          <a:p>
            <a:pPr marL="0" indent="0">
              <a:buNone/>
            </a:pPr>
            <a:r>
              <a:rPr lang="en-US" sz="2800" dirty="0"/>
              <a:t>hybrid_v2：</a:t>
            </a:r>
          </a:p>
          <a:p>
            <a:pPr marL="457200" lvl="1" indent="0">
              <a:buNone/>
            </a:pPr>
            <a:r>
              <a:rPr lang="en-US" sz="2800" dirty="0"/>
              <a:t>basket LFR = 0.0632</a:t>
            </a:r>
          </a:p>
          <a:p>
            <a:pPr marL="457200" lvl="1" indent="0">
              <a:buNone/>
            </a:pPr>
            <a:r>
              <a:rPr lang="en-US" sz="2800" dirty="0"/>
              <a:t>basket OFR = 0.1071</a:t>
            </a:r>
          </a:p>
          <a:p>
            <a:pPr marL="0" indent="0">
              <a:buNone/>
            </a:pPr>
            <a:r>
              <a:rPr lang="en-US" sz="2800" dirty="0" err="1"/>
              <a:t>dp_nominal</a:t>
            </a:r>
            <a:r>
              <a:rPr lang="en-US" sz="2800" dirty="0"/>
              <a:t>：</a:t>
            </a:r>
          </a:p>
          <a:p>
            <a:pPr marL="457200" lvl="1" indent="0">
              <a:buNone/>
            </a:pPr>
            <a:r>
              <a:rPr lang="en-US" sz="2800" dirty="0"/>
              <a:t>basket LFR = 0.0416</a:t>
            </a:r>
          </a:p>
          <a:p>
            <a:pPr marL="457200" lvl="1" indent="0">
              <a:buNone/>
            </a:pPr>
            <a:r>
              <a:rPr lang="en-US" sz="2800" dirty="0"/>
              <a:t>basket OFR = 0.0754</a:t>
            </a:r>
          </a:p>
        </p:txBody>
      </p:sp>
      <p:graphicFrame>
        <p:nvGraphicFramePr>
          <p:cNvPr id="11" name="Table 10">
            <a:extLst>
              <a:ext uri="{FF2B5EF4-FFF2-40B4-BE49-F238E27FC236}">
                <a16:creationId xmlns:a16="http://schemas.microsoft.com/office/drawing/2014/main" id="{89E90B01-D5F9-58A8-3C5D-9671487F981C}"/>
              </a:ext>
            </a:extLst>
          </p:cNvPr>
          <p:cNvGraphicFramePr>
            <a:graphicFrameLocks noGrp="1"/>
          </p:cNvGraphicFramePr>
          <p:nvPr>
            <p:extLst>
              <p:ext uri="{D42A27DB-BD31-4B8C-83A1-F6EECF244321}">
                <p14:modId xmlns:p14="http://schemas.microsoft.com/office/powerpoint/2010/main" val="864267905"/>
              </p:ext>
            </p:extLst>
          </p:nvPr>
        </p:nvGraphicFramePr>
        <p:xfrm>
          <a:off x="5786605" y="1408720"/>
          <a:ext cx="5905500" cy="4395728"/>
        </p:xfrm>
        <a:graphic>
          <a:graphicData uri="http://schemas.openxmlformats.org/drawingml/2006/table">
            <a:tbl>
              <a:tblPr firstRow="1" firstCol="1" bandRow="1">
                <a:tableStyleId>{5C22544A-7EE6-4342-B048-85BDC9FD1C3A}</a:tableStyleId>
              </a:tblPr>
              <a:tblGrid>
                <a:gridCol w="1181100">
                  <a:extLst>
                    <a:ext uri="{9D8B030D-6E8A-4147-A177-3AD203B41FA5}">
                      <a16:colId xmlns:a16="http://schemas.microsoft.com/office/drawing/2014/main" val="718147405"/>
                    </a:ext>
                  </a:extLst>
                </a:gridCol>
                <a:gridCol w="1181100">
                  <a:extLst>
                    <a:ext uri="{9D8B030D-6E8A-4147-A177-3AD203B41FA5}">
                      <a16:colId xmlns:a16="http://schemas.microsoft.com/office/drawing/2014/main" val="1025155790"/>
                    </a:ext>
                  </a:extLst>
                </a:gridCol>
                <a:gridCol w="1181100">
                  <a:extLst>
                    <a:ext uri="{9D8B030D-6E8A-4147-A177-3AD203B41FA5}">
                      <a16:colId xmlns:a16="http://schemas.microsoft.com/office/drawing/2014/main" val="1860629182"/>
                    </a:ext>
                  </a:extLst>
                </a:gridCol>
                <a:gridCol w="1181100">
                  <a:extLst>
                    <a:ext uri="{9D8B030D-6E8A-4147-A177-3AD203B41FA5}">
                      <a16:colId xmlns:a16="http://schemas.microsoft.com/office/drawing/2014/main" val="3824860691"/>
                    </a:ext>
                  </a:extLst>
                </a:gridCol>
                <a:gridCol w="1181100">
                  <a:extLst>
                    <a:ext uri="{9D8B030D-6E8A-4147-A177-3AD203B41FA5}">
                      <a16:colId xmlns:a16="http://schemas.microsoft.com/office/drawing/2014/main" val="451694655"/>
                    </a:ext>
                  </a:extLst>
                </a:gridCol>
              </a:tblGrid>
              <a:tr h="0">
                <a:tc>
                  <a:txBody>
                    <a:bodyPr/>
                    <a:lstStyle/>
                    <a:p>
                      <a:pPr>
                        <a:lnSpc>
                          <a:spcPct val="135000"/>
                        </a:lnSpc>
                        <a:spcAft>
                          <a:spcPts val="600"/>
                        </a:spcAft>
                        <a:buNone/>
                      </a:pPr>
                      <a:r>
                        <a:rPr lang="en-US" sz="1600">
                          <a:effectLst/>
                        </a:rPr>
                        <a:t>算法</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basket OFR</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basket LFR</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aggregated LFR</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平均时间(s)</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862152514"/>
                  </a:ext>
                </a:extLst>
              </a:tr>
              <a:tr h="0">
                <a:tc>
                  <a:txBody>
                    <a:bodyPr/>
                    <a:lstStyle/>
                    <a:p>
                      <a:pPr>
                        <a:lnSpc>
                          <a:spcPct val="135000"/>
                        </a:lnSpc>
                        <a:spcAft>
                          <a:spcPts val="600"/>
                        </a:spcAft>
                        <a:buNone/>
                      </a:pPr>
                      <a:r>
                        <a:rPr lang="en-US" sz="1600">
                          <a:effectLst/>
                        </a:rPr>
                        <a:t>hybrid_v2</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0.1071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0.0632</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0.2836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13.00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459886324"/>
                  </a:ext>
                </a:extLst>
              </a:tr>
              <a:tr h="0">
                <a:tc>
                  <a:txBody>
                    <a:bodyPr/>
                    <a:lstStyle/>
                    <a:p>
                      <a:pPr>
                        <a:lnSpc>
                          <a:spcPct val="135000"/>
                        </a:lnSpc>
                        <a:spcAft>
                          <a:spcPts val="600"/>
                        </a:spcAft>
                        <a:buNone/>
                      </a:pPr>
                      <a:r>
                        <a:rPr lang="en-US" sz="1600">
                          <a:effectLst/>
                        </a:rPr>
                        <a:t>dp_nominal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0.0754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0.0416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0.2025</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17.13</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504661896"/>
                  </a:ext>
                </a:extLst>
              </a:tr>
              <a:tr h="0">
                <a:tc>
                  <a:txBody>
                    <a:bodyPr/>
                    <a:lstStyle/>
                    <a:p>
                      <a:pPr>
                        <a:lnSpc>
                          <a:spcPct val="135000"/>
                        </a:lnSpc>
                        <a:spcAft>
                          <a:spcPts val="600"/>
                        </a:spcAft>
                        <a:buNone/>
                      </a:pPr>
                      <a:r>
                        <a:rPr lang="en-US" sz="1600">
                          <a:effectLst/>
                        </a:rPr>
                        <a:t>cpsat_nominal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0.0705</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0.0386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0.1934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059543432"/>
                  </a:ext>
                </a:extLst>
              </a:tr>
              <a:tr h="0">
                <a:tc>
                  <a:txBody>
                    <a:bodyPr/>
                    <a:lstStyle/>
                    <a:p>
                      <a:pPr>
                        <a:lnSpc>
                          <a:spcPct val="135000"/>
                        </a:lnSpc>
                        <a:spcAft>
                          <a:spcPts val="600"/>
                        </a:spcAft>
                        <a:buNone/>
                      </a:pPr>
                      <a:r>
                        <a:rPr lang="en-US" sz="1600">
                          <a:effectLst/>
                        </a:rPr>
                        <a:t>dp_robust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0.0659</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0.0359</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0.1877</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16.81</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1520563898"/>
                  </a:ext>
                </a:extLst>
              </a:tr>
              <a:tr h="0">
                <a:tc>
                  <a:txBody>
                    <a:bodyPr/>
                    <a:lstStyle/>
                    <a:p>
                      <a:pPr>
                        <a:lnSpc>
                          <a:spcPct val="135000"/>
                        </a:lnSpc>
                        <a:spcAft>
                          <a:spcPts val="600"/>
                        </a:spcAft>
                        <a:buNone/>
                      </a:pPr>
                      <a:r>
                        <a:rPr lang="en-US" sz="1600">
                          <a:effectLst/>
                        </a:rPr>
                        <a:t>cpsat_robust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0.0618</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0.0335</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0.1798</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0.24</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1186927384"/>
                  </a:ext>
                </a:extLst>
              </a:tr>
              <a:tr h="0">
                <a:tc>
                  <a:txBody>
                    <a:bodyPr/>
                    <a:lstStyle/>
                    <a:p>
                      <a:pPr>
                        <a:lnSpc>
                          <a:spcPct val="135000"/>
                        </a:lnSpc>
                        <a:spcAft>
                          <a:spcPts val="600"/>
                        </a:spcAft>
                        <a:buNone/>
                      </a:pPr>
                      <a:r>
                        <a:rPr lang="en-US" sz="1600">
                          <a:effectLst/>
                        </a:rPr>
                        <a:t>greedy_nominal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0.0614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0.0333</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0.1831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512872889"/>
                  </a:ext>
                </a:extLst>
              </a:tr>
              <a:tr h="0">
                <a:tc>
                  <a:txBody>
                    <a:bodyPr/>
                    <a:lstStyle/>
                    <a:p>
                      <a:pPr>
                        <a:lnSpc>
                          <a:spcPct val="135000"/>
                        </a:lnSpc>
                        <a:spcAft>
                          <a:spcPts val="600"/>
                        </a:spcAft>
                        <a:buNone/>
                      </a:pPr>
                      <a:r>
                        <a:rPr lang="en-US" sz="1600">
                          <a:effectLst/>
                        </a:rPr>
                        <a:t>greedy_robust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0.0546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0.0292</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0.1679</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dirty="0">
                          <a:effectLst/>
                        </a:rPr>
                        <a:t>0.00</a:t>
                      </a:r>
                      <a:endParaRPr lang="en-US" sz="1100" dirty="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4107807534"/>
                  </a:ext>
                </a:extLst>
              </a:tr>
            </a:tbl>
          </a:graphicData>
        </a:graphic>
      </p:graphicFrame>
    </p:spTree>
    <p:extLst>
      <p:ext uri="{BB962C8B-B14F-4D97-AF65-F5344CB8AC3E}">
        <p14:creationId xmlns:p14="http://schemas.microsoft.com/office/powerpoint/2010/main" val="1504744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200E1E-0324-6F0F-D56F-7069BDEA8276}"/>
              </a:ext>
            </a:extLst>
          </p:cNvPr>
          <p:cNvSpPr txBox="1"/>
          <p:nvPr/>
        </p:nvSpPr>
        <p:spPr>
          <a:xfrm>
            <a:off x="396251" y="1536317"/>
            <a:ext cx="5465135" cy="1815882"/>
          </a:xfrm>
          <a:prstGeom prst="rect">
            <a:avLst/>
          </a:prstGeom>
          <a:noFill/>
        </p:spPr>
        <p:txBody>
          <a:bodyPr wrap="square">
            <a:spAutoFit/>
          </a:bodyPr>
          <a:lstStyle/>
          <a:p>
            <a:pPr marL="0" indent="0">
              <a:buNone/>
            </a:pPr>
            <a:r>
              <a:rPr lang="en-US" sz="2800" b="1" dirty="0"/>
              <a:t>2. </a:t>
            </a:r>
            <a:r>
              <a:rPr lang="en-US" sz="2800" b="1" dirty="0" err="1"/>
              <a:t>部分履约Partial</a:t>
            </a:r>
            <a:r>
              <a:rPr lang="en-US" sz="2800" b="1" dirty="0"/>
              <a:t>-order replay</a:t>
            </a:r>
          </a:p>
          <a:p>
            <a:pPr marL="0" indent="0">
              <a:buNone/>
            </a:pPr>
            <a:r>
              <a:rPr lang="en-US" sz="2800" dirty="0"/>
              <a:t>hybrid_v2：basket LFR = 0.1244</a:t>
            </a:r>
            <a:r>
              <a:rPr lang="zh-CN" altLang="en-US" sz="2800" dirty="0"/>
              <a:t> </a:t>
            </a:r>
            <a:r>
              <a:rPr lang="en-US" sz="2800" dirty="0" err="1"/>
              <a:t>dp_nominal：basket</a:t>
            </a:r>
            <a:r>
              <a:rPr lang="en-US" sz="2800" dirty="0"/>
              <a:t> LFR = 0.1211</a:t>
            </a:r>
            <a:r>
              <a:rPr lang="zh-CN" altLang="en-US" sz="2800" dirty="0"/>
              <a:t> 二者差距仅约 </a:t>
            </a:r>
            <a:r>
              <a:rPr lang="en-US" altLang="zh-CN" sz="2800" dirty="0"/>
              <a:t>0.0033</a:t>
            </a:r>
            <a:endParaRPr lang="zh-CN" altLang="en-US" sz="2800" dirty="0"/>
          </a:p>
        </p:txBody>
      </p:sp>
      <p:graphicFrame>
        <p:nvGraphicFramePr>
          <p:cNvPr id="5" name="Table 4">
            <a:extLst>
              <a:ext uri="{FF2B5EF4-FFF2-40B4-BE49-F238E27FC236}">
                <a16:creationId xmlns:a16="http://schemas.microsoft.com/office/drawing/2014/main" id="{B12F7F55-BBFC-C1C0-0A79-827746F449A5}"/>
              </a:ext>
            </a:extLst>
          </p:cNvPr>
          <p:cNvGraphicFramePr>
            <a:graphicFrameLocks noGrp="1"/>
          </p:cNvGraphicFramePr>
          <p:nvPr>
            <p:extLst>
              <p:ext uri="{D42A27DB-BD31-4B8C-83A1-F6EECF244321}">
                <p14:modId xmlns:p14="http://schemas.microsoft.com/office/powerpoint/2010/main" val="3751637283"/>
              </p:ext>
            </p:extLst>
          </p:nvPr>
        </p:nvGraphicFramePr>
        <p:xfrm>
          <a:off x="6096000" y="1231392"/>
          <a:ext cx="5905500" cy="4395728"/>
        </p:xfrm>
        <a:graphic>
          <a:graphicData uri="http://schemas.openxmlformats.org/drawingml/2006/table">
            <a:tbl>
              <a:tblPr firstRow="1" firstCol="1" bandRow="1">
                <a:tableStyleId>{5C22544A-7EE6-4342-B048-85BDC9FD1C3A}</a:tableStyleId>
              </a:tblPr>
              <a:tblGrid>
                <a:gridCol w="1181100">
                  <a:extLst>
                    <a:ext uri="{9D8B030D-6E8A-4147-A177-3AD203B41FA5}">
                      <a16:colId xmlns:a16="http://schemas.microsoft.com/office/drawing/2014/main" val="3121058193"/>
                    </a:ext>
                  </a:extLst>
                </a:gridCol>
                <a:gridCol w="1181100">
                  <a:extLst>
                    <a:ext uri="{9D8B030D-6E8A-4147-A177-3AD203B41FA5}">
                      <a16:colId xmlns:a16="http://schemas.microsoft.com/office/drawing/2014/main" val="1096151197"/>
                    </a:ext>
                  </a:extLst>
                </a:gridCol>
                <a:gridCol w="1181100">
                  <a:extLst>
                    <a:ext uri="{9D8B030D-6E8A-4147-A177-3AD203B41FA5}">
                      <a16:colId xmlns:a16="http://schemas.microsoft.com/office/drawing/2014/main" val="333521245"/>
                    </a:ext>
                  </a:extLst>
                </a:gridCol>
                <a:gridCol w="1181100">
                  <a:extLst>
                    <a:ext uri="{9D8B030D-6E8A-4147-A177-3AD203B41FA5}">
                      <a16:colId xmlns:a16="http://schemas.microsoft.com/office/drawing/2014/main" val="2518672826"/>
                    </a:ext>
                  </a:extLst>
                </a:gridCol>
                <a:gridCol w="1181100">
                  <a:extLst>
                    <a:ext uri="{9D8B030D-6E8A-4147-A177-3AD203B41FA5}">
                      <a16:colId xmlns:a16="http://schemas.microsoft.com/office/drawing/2014/main" val="1977775458"/>
                    </a:ext>
                  </a:extLst>
                </a:gridCol>
              </a:tblGrid>
              <a:tr h="0">
                <a:tc>
                  <a:txBody>
                    <a:bodyPr/>
                    <a:lstStyle/>
                    <a:p>
                      <a:pPr>
                        <a:lnSpc>
                          <a:spcPct val="135000"/>
                        </a:lnSpc>
                        <a:spcAft>
                          <a:spcPts val="600"/>
                        </a:spcAft>
                        <a:buNone/>
                      </a:pPr>
                      <a:r>
                        <a:rPr lang="en-US" sz="1600" dirty="0" err="1">
                          <a:effectLst/>
                        </a:rPr>
                        <a:t>算法</a:t>
                      </a:r>
                      <a:endParaRPr lang="en-US" sz="1100" dirty="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dirty="0">
                          <a:effectLst/>
                        </a:rPr>
                        <a:t>basket OFR</a:t>
                      </a:r>
                      <a:endParaRPr lang="en-US" sz="1100" dirty="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basket LFR</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basket QFR</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平均时间(s)</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954516231"/>
                  </a:ext>
                </a:extLst>
              </a:tr>
              <a:tr h="0">
                <a:tc>
                  <a:txBody>
                    <a:bodyPr/>
                    <a:lstStyle/>
                    <a:p>
                      <a:pPr>
                        <a:lnSpc>
                          <a:spcPct val="135000"/>
                        </a:lnSpc>
                        <a:spcAft>
                          <a:spcPts val="600"/>
                        </a:spcAft>
                        <a:buNone/>
                      </a:pPr>
                      <a:r>
                        <a:rPr lang="en-US" sz="1600" dirty="0">
                          <a:effectLst/>
                        </a:rPr>
                        <a:t>hybrid_v2</a:t>
                      </a:r>
                      <a:endParaRPr lang="en-US" sz="1100" dirty="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0.0584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0.1244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0.1072</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13.00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95819531"/>
                  </a:ext>
                </a:extLst>
              </a:tr>
              <a:tr h="0">
                <a:tc>
                  <a:txBody>
                    <a:bodyPr/>
                    <a:lstStyle/>
                    <a:p>
                      <a:pPr>
                        <a:lnSpc>
                          <a:spcPct val="135000"/>
                        </a:lnSpc>
                        <a:spcAft>
                          <a:spcPts val="600"/>
                        </a:spcAft>
                        <a:buNone/>
                      </a:pPr>
                      <a:r>
                        <a:rPr lang="en-US" sz="1600">
                          <a:effectLst/>
                        </a:rPr>
                        <a:t>dp_nominal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0.0648</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0.1211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0.0914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17.13</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524007840"/>
                  </a:ext>
                </a:extLst>
              </a:tr>
              <a:tr h="0">
                <a:tc>
                  <a:txBody>
                    <a:bodyPr/>
                    <a:lstStyle/>
                    <a:p>
                      <a:pPr>
                        <a:lnSpc>
                          <a:spcPct val="135000"/>
                        </a:lnSpc>
                        <a:spcAft>
                          <a:spcPts val="600"/>
                        </a:spcAft>
                        <a:buNone/>
                      </a:pPr>
                      <a:r>
                        <a:rPr lang="en-US" sz="1600">
                          <a:effectLst/>
                        </a:rPr>
                        <a:t>cpsat_nominal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0.0609</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0.1156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0.0873</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4107685492"/>
                  </a:ext>
                </a:extLst>
              </a:tr>
              <a:tr h="0">
                <a:tc>
                  <a:txBody>
                    <a:bodyPr/>
                    <a:lstStyle/>
                    <a:p>
                      <a:pPr>
                        <a:lnSpc>
                          <a:spcPct val="135000"/>
                        </a:lnSpc>
                        <a:spcAft>
                          <a:spcPts val="600"/>
                        </a:spcAft>
                        <a:buNone/>
                      </a:pPr>
                      <a:r>
                        <a:rPr lang="en-US" sz="1600">
                          <a:effectLst/>
                        </a:rPr>
                        <a:t>dp_robust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0.0596</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0.1113</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0.0827</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16.81</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040361631"/>
                  </a:ext>
                </a:extLst>
              </a:tr>
              <a:tr h="0">
                <a:tc>
                  <a:txBody>
                    <a:bodyPr/>
                    <a:lstStyle/>
                    <a:p>
                      <a:pPr>
                        <a:lnSpc>
                          <a:spcPct val="135000"/>
                        </a:lnSpc>
                        <a:spcAft>
                          <a:spcPts val="600"/>
                        </a:spcAft>
                        <a:buNone/>
                      </a:pPr>
                      <a:r>
                        <a:rPr lang="en-US" sz="1600">
                          <a:effectLst/>
                        </a:rPr>
                        <a:t>greedy_nominal</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0.0561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0.1074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0.0808</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0.00</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3996276275"/>
                  </a:ext>
                </a:extLst>
              </a:tr>
              <a:tr h="0">
                <a:tc>
                  <a:txBody>
                    <a:bodyPr/>
                    <a:lstStyle/>
                    <a:p>
                      <a:pPr>
                        <a:lnSpc>
                          <a:spcPct val="135000"/>
                        </a:lnSpc>
                        <a:spcAft>
                          <a:spcPts val="600"/>
                        </a:spcAft>
                        <a:buNone/>
                      </a:pPr>
                      <a:r>
                        <a:rPr lang="en-US" sz="1600">
                          <a:effectLst/>
                        </a:rPr>
                        <a:t>cpsat_robust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0.0559</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0.1063</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0.0791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0.24</a:t>
                      </a:r>
                      <a:endParaRPr lang="en-US" sz="110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1364693951"/>
                  </a:ext>
                </a:extLst>
              </a:tr>
              <a:tr h="0">
                <a:tc>
                  <a:txBody>
                    <a:bodyPr/>
                    <a:lstStyle/>
                    <a:p>
                      <a:pPr>
                        <a:lnSpc>
                          <a:spcPct val="135000"/>
                        </a:lnSpc>
                        <a:spcAft>
                          <a:spcPts val="600"/>
                        </a:spcAft>
                        <a:buNone/>
                      </a:pPr>
                      <a:r>
                        <a:rPr lang="en-US" sz="1600">
                          <a:effectLst/>
                        </a:rPr>
                        <a:t>greedy_robust</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0.0514</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0.0971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a:effectLst/>
                        </a:rPr>
                        <a:t>0.0721</a:t>
                      </a:r>
                      <a:endParaRPr lang="en-US" sz="1100">
                        <a:effectLst/>
                        <a:latin typeface="Noto Serif CJK SC"/>
                        <a:ea typeface="Noto Serif CJK SC"/>
                        <a:cs typeface="Times New Roman" panose="02020603050405020304" pitchFamily="18" charset="0"/>
                      </a:endParaRPr>
                    </a:p>
                  </a:txBody>
                  <a:tcPr marL="68580" marR="68580" marT="0" marB="0"/>
                </a:tc>
                <a:tc>
                  <a:txBody>
                    <a:bodyPr/>
                    <a:lstStyle/>
                    <a:p>
                      <a:pPr>
                        <a:lnSpc>
                          <a:spcPct val="135000"/>
                        </a:lnSpc>
                        <a:spcAft>
                          <a:spcPts val="600"/>
                        </a:spcAft>
                        <a:buNone/>
                      </a:pPr>
                      <a:r>
                        <a:rPr lang="en-US" sz="1600" dirty="0">
                          <a:effectLst/>
                        </a:rPr>
                        <a:t>0.00</a:t>
                      </a:r>
                      <a:endParaRPr lang="en-US" sz="1100" dirty="0">
                        <a:effectLst/>
                        <a:latin typeface="Noto Serif CJK SC"/>
                        <a:ea typeface="Noto Serif CJK SC"/>
                        <a:cs typeface="Times New Roman" panose="02020603050405020304" pitchFamily="18" charset="0"/>
                      </a:endParaRPr>
                    </a:p>
                  </a:txBody>
                  <a:tcPr marL="68580" marR="68580" marT="0" marB="0"/>
                </a:tc>
                <a:extLst>
                  <a:ext uri="{0D108BD9-81ED-4DB2-BD59-A6C34878D82A}">
                    <a16:rowId xmlns:a16="http://schemas.microsoft.com/office/drawing/2014/main" val="2540781522"/>
                  </a:ext>
                </a:extLst>
              </a:tr>
            </a:tbl>
          </a:graphicData>
        </a:graphic>
      </p:graphicFrame>
      <p:sp>
        <p:nvSpPr>
          <p:cNvPr id="6" name="TextBox 5">
            <a:extLst>
              <a:ext uri="{FF2B5EF4-FFF2-40B4-BE49-F238E27FC236}">
                <a16:creationId xmlns:a16="http://schemas.microsoft.com/office/drawing/2014/main" id="{FCF71B43-C29F-F11E-F138-E4994A847268}"/>
              </a:ext>
            </a:extLst>
          </p:cNvPr>
          <p:cNvSpPr txBox="1"/>
          <p:nvPr/>
        </p:nvSpPr>
        <p:spPr>
          <a:xfrm>
            <a:off x="190500" y="5321683"/>
            <a:ext cx="10150077" cy="1384995"/>
          </a:xfrm>
          <a:prstGeom prst="rect">
            <a:avLst/>
          </a:prstGeom>
          <a:noFill/>
        </p:spPr>
        <p:txBody>
          <a:bodyPr wrap="square">
            <a:spAutoFit/>
          </a:bodyPr>
          <a:lstStyle/>
          <a:p>
            <a:pPr marL="0" indent="0">
              <a:buNone/>
            </a:pPr>
            <a:r>
              <a:rPr lang="zh-CN" altLang="en-US" sz="2800" b="1" dirty="0"/>
              <a:t>结论</a:t>
            </a:r>
            <a:endParaRPr lang="zh-CN" altLang="en-US" sz="2800" dirty="0"/>
          </a:p>
          <a:p>
            <a:pPr marL="0" indent="0">
              <a:buNone/>
            </a:pPr>
            <a:r>
              <a:rPr lang="en-US" sz="2800" dirty="0"/>
              <a:t>hybrid_v2 </a:t>
            </a:r>
            <a:r>
              <a:rPr lang="zh-CN" altLang="en-US" sz="2800" dirty="0"/>
              <a:t>在整单履约口径下优势更明显</a:t>
            </a:r>
          </a:p>
          <a:p>
            <a:pPr marL="0" indent="0">
              <a:buNone/>
            </a:pPr>
            <a:r>
              <a:rPr lang="zh-CN" altLang="en-US" sz="2800" dirty="0"/>
              <a:t>在部分履约口径下，主方法与 </a:t>
            </a:r>
            <a:r>
              <a:rPr lang="en-US" sz="2800" dirty="0"/>
              <a:t>benchmark </a:t>
            </a:r>
            <a:r>
              <a:rPr lang="zh-CN" altLang="en-US" sz="2800" dirty="0"/>
              <a:t>的差距显著收窄</a:t>
            </a:r>
          </a:p>
        </p:txBody>
      </p:sp>
    </p:spTree>
    <p:extLst>
      <p:ext uri="{BB962C8B-B14F-4D97-AF65-F5344CB8AC3E}">
        <p14:creationId xmlns:p14="http://schemas.microsoft.com/office/powerpoint/2010/main" val="3955666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5F81C-F3C3-A5A3-2807-8D2D2911C9D4}"/>
              </a:ext>
            </a:extLst>
          </p:cNvPr>
          <p:cNvSpPr>
            <a:spLocks noGrp="1"/>
          </p:cNvSpPr>
          <p:nvPr>
            <p:ph type="title"/>
          </p:nvPr>
        </p:nvSpPr>
        <p:spPr>
          <a:xfrm>
            <a:off x="0" y="18255"/>
            <a:ext cx="2528888" cy="681833"/>
          </a:xfrm>
        </p:spPr>
        <p:txBody>
          <a:bodyPr>
            <a:normAutofit fontScale="90000"/>
          </a:bodyPr>
          <a:lstStyle/>
          <a:p>
            <a:r>
              <a:rPr lang="en-US" dirty="0" err="1"/>
              <a:t>管理启示</a:t>
            </a:r>
            <a:endParaRPr lang="en-US" dirty="0"/>
          </a:p>
        </p:txBody>
      </p:sp>
      <p:graphicFrame>
        <p:nvGraphicFramePr>
          <p:cNvPr id="9" name="Content Placeholder 2">
            <a:extLst>
              <a:ext uri="{FF2B5EF4-FFF2-40B4-BE49-F238E27FC236}">
                <a16:creationId xmlns:a16="http://schemas.microsoft.com/office/drawing/2014/main" id="{DCD48937-382F-CFBF-513C-E9A0EA1AC6BE}"/>
              </a:ext>
            </a:extLst>
          </p:cNvPr>
          <p:cNvGraphicFramePr>
            <a:graphicFrameLocks noGrp="1"/>
          </p:cNvGraphicFramePr>
          <p:nvPr>
            <p:ph idx="1"/>
            <p:extLst>
              <p:ext uri="{D42A27DB-BD31-4B8C-83A1-F6EECF244321}">
                <p14:modId xmlns:p14="http://schemas.microsoft.com/office/powerpoint/2010/main" val="277302622"/>
              </p:ext>
            </p:extLst>
          </p:nvPr>
        </p:nvGraphicFramePr>
        <p:xfrm>
          <a:off x="-586977" y="125730"/>
          <a:ext cx="12318205" cy="4351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81240681-BF71-2A99-BA93-1201FC91010A}"/>
              </a:ext>
            </a:extLst>
          </p:cNvPr>
          <p:cNvSpPr txBox="1"/>
          <p:nvPr/>
        </p:nvSpPr>
        <p:spPr>
          <a:xfrm>
            <a:off x="-76199" y="3873460"/>
            <a:ext cx="5567363" cy="2893100"/>
          </a:xfrm>
          <a:prstGeom prst="rect">
            <a:avLst/>
          </a:prstGeom>
          <a:noFill/>
        </p:spPr>
        <p:txBody>
          <a:bodyPr wrap="square">
            <a:spAutoFit/>
          </a:bodyPr>
          <a:lstStyle/>
          <a:p>
            <a:pPr marL="0" indent="0">
              <a:buNone/>
            </a:pPr>
            <a:r>
              <a:rPr lang="zh-CN" altLang="en-US" sz="2800" b="1" dirty="0"/>
              <a:t>管理启示</a:t>
            </a:r>
            <a:endParaRPr lang="zh-CN" altLang="en-US" sz="2800" dirty="0"/>
          </a:p>
          <a:p>
            <a:pPr marL="0" indent="0">
              <a:buNone/>
            </a:pPr>
            <a:r>
              <a:rPr lang="zh-CN" altLang="en-US" sz="2200" dirty="0"/>
              <a:t>前置仓算法选型必须以业务 </a:t>
            </a:r>
            <a:r>
              <a:rPr lang="en-US" sz="2200" dirty="0"/>
              <a:t>KPI </a:t>
            </a:r>
            <a:r>
              <a:rPr lang="zh-CN" altLang="en-US" sz="2200" dirty="0"/>
              <a:t>为前提</a:t>
            </a:r>
          </a:p>
          <a:p>
            <a:pPr marL="0" indent="0">
              <a:buNone/>
            </a:pPr>
            <a:r>
              <a:rPr lang="zh-CN" altLang="en-US" sz="2200" dirty="0"/>
              <a:t>不能只看 </a:t>
            </a:r>
            <a:r>
              <a:rPr lang="en-US" sz="2200" dirty="0"/>
              <a:t>SKU </a:t>
            </a:r>
            <a:r>
              <a:rPr lang="zh-CN" altLang="en-US" sz="2200" dirty="0"/>
              <a:t>级 </a:t>
            </a:r>
            <a:r>
              <a:rPr lang="en-US" sz="2200" dirty="0"/>
              <a:t>fill rate，</a:t>
            </a:r>
            <a:r>
              <a:rPr lang="zh-CN" altLang="en-US" sz="2200" dirty="0"/>
              <a:t>还要看整单</a:t>
            </a:r>
            <a:r>
              <a:rPr lang="en-US" altLang="zh-CN" sz="2200" dirty="0"/>
              <a:t>/</a:t>
            </a:r>
            <a:r>
              <a:rPr lang="zh-CN" altLang="en-US" sz="2200" dirty="0"/>
              <a:t>部分履约</a:t>
            </a:r>
          </a:p>
          <a:p>
            <a:pPr marL="0" indent="0">
              <a:buNone/>
            </a:pPr>
            <a:r>
              <a:rPr lang="zh-CN" altLang="en-US" sz="2200" dirty="0"/>
              <a:t>联合优化适合提升聚合覆盖效率与方案稳定性</a:t>
            </a:r>
          </a:p>
          <a:p>
            <a:pPr marL="0" indent="0">
              <a:buNone/>
            </a:pPr>
            <a:r>
              <a:rPr lang="zh-CN" altLang="en-US" sz="2200" dirty="0"/>
              <a:t>强 </a:t>
            </a:r>
            <a:r>
              <a:rPr lang="en-US" sz="2200" dirty="0"/>
              <a:t>benchmark </a:t>
            </a:r>
            <a:r>
              <a:rPr lang="zh-CN" altLang="en-US" sz="2200" dirty="0"/>
              <a:t>在真实订单体验维度仍有重要参考价值</a:t>
            </a:r>
          </a:p>
        </p:txBody>
      </p:sp>
      <p:sp>
        <p:nvSpPr>
          <p:cNvPr id="7" name="TextBox 6">
            <a:extLst>
              <a:ext uri="{FF2B5EF4-FFF2-40B4-BE49-F238E27FC236}">
                <a16:creationId xmlns:a16="http://schemas.microsoft.com/office/drawing/2014/main" id="{E37FAB76-6004-46E9-FF6C-C6D9373A1C6A}"/>
              </a:ext>
            </a:extLst>
          </p:cNvPr>
          <p:cNvSpPr txBox="1"/>
          <p:nvPr/>
        </p:nvSpPr>
        <p:spPr>
          <a:xfrm>
            <a:off x="6360318" y="3873460"/>
            <a:ext cx="5831682" cy="2215991"/>
          </a:xfrm>
          <a:prstGeom prst="rect">
            <a:avLst/>
          </a:prstGeom>
          <a:noFill/>
        </p:spPr>
        <p:txBody>
          <a:bodyPr wrap="square">
            <a:spAutoFit/>
          </a:bodyPr>
          <a:lstStyle/>
          <a:p>
            <a:pPr marL="0" indent="0">
              <a:buNone/>
            </a:pPr>
            <a:r>
              <a:rPr lang="zh-CN" altLang="en-US" sz="2800" b="1" dirty="0"/>
              <a:t>局限与展望</a:t>
            </a:r>
            <a:endParaRPr lang="zh-CN" altLang="en-US" sz="2800" dirty="0"/>
          </a:p>
          <a:p>
            <a:pPr marL="0" indent="0">
              <a:buNone/>
            </a:pPr>
            <a:r>
              <a:rPr lang="zh-CN" altLang="en-US" sz="2200" dirty="0"/>
              <a:t>参数中存在代理构造</a:t>
            </a:r>
          </a:p>
          <a:p>
            <a:pPr marL="0" indent="0">
              <a:buNone/>
            </a:pPr>
            <a:r>
              <a:rPr lang="en-US" sz="2200" dirty="0"/>
              <a:t>high volatility </a:t>
            </a:r>
            <a:r>
              <a:rPr lang="zh-CN" altLang="en-US" sz="2200" dirty="0"/>
              <a:t>与 </a:t>
            </a:r>
            <a:r>
              <a:rPr lang="en-US" sz="2200" dirty="0"/>
              <a:t>large scale </a:t>
            </a:r>
            <a:r>
              <a:rPr lang="zh-CN" altLang="en-US" sz="2200" dirty="0"/>
              <a:t>尚未扩展到同样严格的订单级 </a:t>
            </a:r>
            <a:r>
              <a:rPr lang="en-US" sz="2200" dirty="0"/>
              <a:t>benchmark</a:t>
            </a:r>
          </a:p>
          <a:p>
            <a:pPr marL="0" indent="0">
              <a:buNone/>
            </a:pPr>
            <a:r>
              <a:rPr lang="zh-CN" altLang="en-US" sz="2200" dirty="0"/>
              <a:t>后续可扩展到更细粒度替代建模、多仓协同和动态补货</a:t>
            </a:r>
          </a:p>
        </p:txBody>
      </p:sp>
    </p:spTree>
    <p:extLst>
      <p:ext uri="{BB962C8B-B14F-4D97-AF65-F5344CB8AC3E}">
        <p14:creationId xmlns:p14="http://schemas.microsoft.com/office/powerpoint/2010/main" val="2707294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2616</TotalTime>
  <Words>1527</Words>
  <Application>Microsoft Macintosh PowerPoint</Application>
  <PresentationFormat>Widescreen</PresentationFormat>
  <Paragraphs>231</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-apple-system</vt:lpstr>
      <vt:lpstr>Noto Serif CJK SC</vt:lpstr>
      <vt:lpstr>Aptos</vt:lpstr>
      <vt:lpstr>Aptos Display</vt:lpstr>
      <vt:lpstr>Arial</vt:lpstr>
      <vt:lpstr>Cambria Math</vt:lpstr>
      <vt:lpstr>Office Theme</vt:lpstr>
      <vt:lpstr>即时零售前置仓 SKU 选品与库存配置联合优化研究</vt:lpstr>
      <vt:lpstr>研究背景：前置仓运营中的核心矛盾</vt:lpstr>
      <vt:lpstr>目标</vt:lpstr>
      <vt:lpstr>PowerPoint Presentation</vt:lpstr>
      <vt:lpstr>研究框架</vt:lpstr>
      <vt:lpstr>PowerPoint Presentation</vt:lpstr>
      <vt:lpstr>PowerPoint Presentation</vt:lpstr>
      <vt:lpstr>PowerPoint Presentation</vt:lpstr>
      <vt:lpstr>求解方法设计：Greedy、DP-Lagrangian 与 CP-SAT</vt:lpstr>
      <vt:lpstr>PowerPoint Presentation</vt:lpstr>
      <vt:lpstr>文献启发(hybrid_v2)</vt:lpstr>
      <vt:lpstr>实验设计</vt:lpstr>
      <vt:lpstr>PowerPoint Presentation</vt:lpstr>
      <vt:lpstr>聚合需求层结果：DP-Lagrangian 在三类场景中表现最强</vt:lpstr>
      <vt:lpstr>PowerPoint Presentation</vt:lpstr>
      <vt:lpstr>PowerPoint Presentation</vt:lpstr>
      <vt:lpstr>PowerPoint Presentation</vt:lpstr>
      <vt:lpstr>管理启示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牧天 王</dc:creator>
  <cp:lastModifiedBy>牧天 王</cp:lastModifiedBy>
  <cp:revision>9</cp:revision>
  <dcterms:created xsi:type="dcterms:W3CDTF">2026-04-20T05:08:06Z</dcterms:created>
  <dcterms:modified xsi:type="dcterms:W3CDTF">2026-04-26T13:50:15Z</dcterms:modified>
</cp:coreProperties>
</file>