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81"/>
    <p:restoredTop sz="94684"/>
  </p:normalViewPr>
  <p:slideViewPr>
    <p:cSldViewPr snapToGrid="0">
      <p:cViewPr varScale="1">
        <p:scale>
          <a:sx n="61" d="100"/>
          <a:sy n="61" d="100"/>
        </p:scale>
        <p:origin x="216" y="2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A8AA-E150-317C-C1A9-72A750EC3F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E101D4-E1E1-B3AD-1B53-BE1E68252D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C51C1D-7DC3-5033-0419-5D24AA00B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10069-D10A-0740-91CB-CD7096934637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06B33C-940F-9D79-03B0-4B812883A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1F5F37-1082-2A1B-A1F9-31B04A5CA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6D4F9-7609-5648-99E0-DEB5C06025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905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682E4-1128-9868-2E2B-11EF5D83E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01E353-15C9-597F-AB86-09578FD00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C547B-01A0-EB84-7621-7D5E270AF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10069-D10A-0740-91CB-CD7096934637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BB6A7-D959-1E73-408F-6A8ACA2E6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1A470-153D-3F78-4B98-CE370E350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6D4F9-7609-5648-99E0-DEB5C06025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634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41E95-B72F-7F71-F000-89195FB66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0F4630-E8F1-35C1-F023-2ACA9703DA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6F79A6-5EAD-7B79-5615-1F1F5E29E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10069-D10A-0740-91CB-CD7096934637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48C37A-6EB3-AA91-4EF1-2D7E20BE5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9ED89-5135-EF82-998D-67A9FF996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6D4F9-7609-5648-99E0-DEB5C06025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403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B02BB-29C8-AEB0-3236-C92721E58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2EAE0-3CBC-8181-69F6-039294DF85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330D61-6882-FB2E-7196-527FEB194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C3CBFA-797A-A3BB-C063-2F24D187A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10069-D10A-0740-91CB-CD7096934637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60670-83D7-80CA-2EF7-F101474B1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7B2B96-E096-E7C8-D9A4-F4769FE54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6D4F9-7609-5648-99E0-DEB5C06025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089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A7EA7-389A-F268-CECB-EFA39E7C1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5AFE2A-CD60-3350-20E0-E4F6FAA36E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3E6059-F0CA-19E0-2F2B-57A17801F2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2F9E93-A088-EAFD-2F8A-C167750276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4D3D77-8F51-FB0A-70EA-6185D9DFBB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BBD0A4-2181-C179-D24F-9E14C1CD6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10069-D10A-0740-91CB-CD7096934637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6E59DA5-EF66-EAFD-29FD-1A5CAA45E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E3DFFF-97A0-D68C-C7EC-E7B0E8FEC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6D4F9-7609-5648-99E0-DEB5C06025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156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C05BE-2591-3705-B18C-75788268D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B6A254-7C4A-5833-D635-AC76A47F4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10069-D10A-0740-91CB-CD7096934637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C3DA50-8CF3-7306-5982-757171083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C2B259-206A-4CDA-23F8-5032AC077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6D4F9-7609-5648-99E0-DEB5C06025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903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7B0996-59BC-6537-055E-ACBCE2D8D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10069-D10A-0740-91CB-CD7096934637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676792-2299-AECC-0DD3-65875EE32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85627-E902-66AA-3F39-A106D1A4C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6D4F9-7609-5648-99E0-DEB5C06025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641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B7D71-2917-D90D-E9F1-7D9D5C223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1A1EF-DC79-2198-EA8F-9D7767253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5DA33E-B331-06DC-A99E-1EED1EB7C2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C96527-9EBC-B976-7C99-E0A2C2C68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10069-D10A-0740-91CB-CD7096934637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B4715-9504-8EBF-F92F-AB30040DD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FBE65C-E18C-0A8A-E48B-E7C21B661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6D4F9-7609-5648-99E0-DEB5C06025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850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4A43F-A72A-A81A-BFFC-8BC56A709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B17767-DF0E-37F9-40C0-BD4BB3E41B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F6E17F-6B3F-D310-718F-7D6D6479C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2E65D9-E257-9E9B-0D68-E25AC8F7E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10069-D10A-0740-91CB-CD7096934637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3BFB3-BBE7-4E99-8815-BFFC5DA8D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A330C-DA8A-B7EC-0589-3ED4C5DBC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6D4F9-7609-5648-99E0-DEB5C06025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9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9ACAF-16F9-E251-38A7-48ACF6500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4A24C5-881A-E42C-1193-3435C8091D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0AF2E-326A-25D2-16E1-71EA65E16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10069-D10A-0740-91CB-CD7096934637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2851A2-EF69-680D-0B92-0142D90F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0140E-893D-A444-5746-3FB847900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6D4F9-7609-5648-99E0-DEB5C06025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570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42391-8375-7BF7-BCE5-430C3E15EC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FBB9F3-6528-2DE3-9CCA-38116DA11F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6ECA79-4042-5786-9C91-0E5093232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10069-D10A-0740-91CB-CD7096934637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B69742-FD5D-B78C-1489-01189F238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8FA61-1A92-83A0-E6C9-B7EA8E0B1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6D4F9-7609-5648-99E0-DEB5C06025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443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C443BA-8FE9-4627-CBD9-69EAB8C1C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17F193-35B0-22D0-D7C7-0F04EEC75B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9012B-B4B4-C65E-B6F2-0814D49B99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710069-D10A-0740-91CB-CD7096934637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082F8D-6C2D-44B1-703A-9B968A1FE7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75AAD-8344-8F12-90E8-84FBE05A58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46D4F9-7609-5648-99E0-DEB5C06025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116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4A8D4-BCCB-17E8-1157-805E6AE9DE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>
                <a:solidFill>
                  <a:schemeClr val="tx2">
                    <a:lumMod val="90000"/>
                    <a:lumOff val="10000"/>
                  </a:schemeClr>
                </a:solidFill>
              </a:rPr>
              <a:t>即时零售前置仓 </a:t>
            </a:r>
            <a:r>
              <a:rPr lang="en-US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SKU </a:t>
            </a:r>
            <a:r>
              <a:rPr lang="zh-CN" altLang="en-US" dirty="0">
                <a:solidFill>
                  <a:schemeClr val="tx2">
                    <a:lumMod val="90000"/>
                    <a:lumOff val="10000"/>
                  </a:schemeClr>
                </a:solidFill>
              </a:rPr>
              <a:t>选品与库存配置联合优化研究</a:t>
            </a:r>
            <a:endParaRPr lang="en-US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95287C-483E-3943-639D-D576E4CA26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60362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汇报人</a:t>
            </a:r>
            <a:r>
              <a:rPr lang="zh-CN" altLang="en-US" dirty="0"/>
              <a:t>：王牧天</a:t>
            </a:r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0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43455-E88E-65A5-AB79-DE233CC6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0802679" cy="910782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研究背景</a:t>
            </a:r>
            <a:r>
              <a:rPr lang="zh-CN" altLang="en-US" dirty="0">
                <a:solidFill>
                  <a:schemeClr val="tx2">
                    <a:lumMod val="90000"/>
                    <a:lumOff val="10000"/>
                  </a:schemeClr>
                </a:solidFill>
              </a:rPr>
              <a:t>：前置仓运营中的核心矛盾</a:t>
            </a:r>
            <a:endParaRPr lang="en-US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1F6DD-A702-8ABA-CCE9-3E7D794A4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4269" y="1720243"/>
            <a:ext cx="10453577" cy="2518219"/>
          </a:xfrm>
        </p:spPr>
        <p:txBody>
          <a:bodyPr>
            <a:normAutofit lnSpcReduction="10000"/>
          </a:bodyPr>
          <a:lstStyle/>
          <a:p>
            <a:r>
              <a:rPr lang="zh-CN" altLang="en-US" dirty="0"/>
              <a:t>即时零售要求高时效、低缺货和较丰富的 </a:t>
            </a:r>
            <a:r>
              <a:rPr lang="en-US" dirty="0"/>
              <a:t>SKU </a:t>
            </a:r>
            <a:r>
              <a:rPr lang="zh-CN" altLang="en-US" dirty="0"/>
              <a:t>覆盖</a:t>
            </a:r>
          </a:p>
          <a:p>
            <a:r>
              <a:rPr lang="zh-CN" altLang="en-US" dirty="0"/>
              <a:t>前置仓面积有限，无法实现“全品全量”</a:t>
            </a:r>
          </a:p>
          <a:p>
            <a:r>
              <a:rPr lang="en-US" dirty="0"/>
              <a:t>SKU </a:t>
            </a:r>
            <a:r>
              <a:rPr lang="zh-CN" altLang="en-US" dirty="0"/>
              <a:t>太多会占用仓容并提高管理复杂度</a:t>
            </a:r>
          </a:p>
          <a:p>
            <a:r>
              <a:rPr lang="en-US" dirty="0"/>
              <a:t>SKU </a:t>
            </a:r>
            <a:r>
              <a:rPr lang="zh-CN" altLang="en-US" dirty="0"/>
              <a:t>太少会降低需求覆盖率并损害顾客体验</a:t>
            </a:r>
          </a:p>
          <a:p>
            <a:r>
              <a:rPr lang="zh-CN" altLang="en-US" dirty="0"/>
              <a:t>因此，前置仓必须在</a:t>
            </a:r>
            <a:r>
              <a:rPr lang="zh-CN" altLang="en-US" b="1" dirty="0"/>
              <a:t>选品广度</a:t>
            </a:r>
            <a:r>
              <a:rPr lang="zh-CN" altLang="en-US" dirty="0"/>
              <a:t>与</a:t>
            </a:r>
            <a:r>
              <a:rPr lang="zh-CN" altLang="en-US" b="1" dirty="0"/>
              <a:t>备货深度</a:t>
            </a:r>
            <a:r>
              <a:rPr lang="zh-CN" altLang="en-US" dirty="0"/>
              <a:t>之间做联合决策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81FBE0-EB3C-049D-D38B-601E390F75B1}"/>
              </a:ext>
            </a:extLst>
          </p:cNvPr>
          <p:cNvSpPr txBox="1"/>
          <p:nvPr/>
        </p:nvSpPr>
        <p:spPr>
          <a:xfrm>
            <a:off x="170119" y="5137757"/>
            <a:ext cx="1202187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0" dirty="0" err="1">
                <a:solidFill>
                  <a:srgbClr val="FF0000"/>
                </a:solidFill>
              </a:rPr>
              <a:t>消费者需求</a:t>
            </a:r>
            <a:r>
              <a:rPr lang="zh-CN" altLang="en-US" sz="5000" dirty="0">
                <a:solidFill>
                  <a:srgbClr val="FF0000"/>
                </a:solidFill>
              </a:rPr>
              <a:t> </a:t>
            </a:r>
            <a:r>
              <a:rPr lang="en-US" altLang="zh-CN" sz="5000" dirty="0">
                <a:solidFill>
                  <a:srgbClr val="FF0000"/>
                </a:solidFill>
              </a:rPr>
              <a:t>VS</a:t>
            </a:r>
            <a:r>
              <a:rPr lang="zh-CN" altLang="en-US" sz="5000" dirty="0">
                <a:solidFill>
                  <a:srgbClr val="FF0000"/>
                </a:solidFill>
              </a:rPr>
              <a:t> 仓容有限 </a:t>
            </a:r>
            <a:r>
              <a:rPr lang="en-US" altLang="zh-CN" sz="5000" dirty="0">
                <a:solidFill>
                  <a:srgbClr val="FF0000"/>
                </a:solidFill>
              </a:rPr>
              <a:t>VS</a:t>
            </a:r>
            <a:r>
              <a:rPr lang="zh-CN" altLang="en-US" sz="5000" dirty="0">
                <a:solidFill>
                  <a:srgbClr val="FF0000"/>
                </a:solidFill>
              </a:rPr>
              <a:t> 缺货</a:t>
            </a:r>
            <a:r>
              <a:rPr lang="en-US" altLang="zh-CN" sz="5000" dirty="0">
                <a:solidFill>
                  <a:srgbClr val="FF0000"/>
                </a:solidFill>
              </a:rPr>
              <a:t>/</a:t>
            </a:r>
            <a:r>
              <a:rPr lang="zh-CN" altLang="en-US" sz="5000" dirty="0">
                <a:solidFill>
                  <a:srgbClr val="FF0000"/>
                </a:solidFill>
              </a:rPr>
              <a:t>滞销风险</a:t>
            </a:r>
            <a:endParaRPr lang="en-US" sz="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8360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E2D20-BC4A-D1A3-A26E-CD240D204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6"/>
            <a:ext cx="1947530" cy="662782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目标</a:t>
            </a:r>
            <a:endParaRPr lang="en-US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2687E-5039-DF42-C2BB-A341A1B3B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53754"/>
            <a:ext cx="10515600" cy="555337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5400" b="1" dirty="0" err="1"/>
              <a:t>三个问题</a:t>
            </a:r>
            <a:r>
              <a:rPr lang="zh-CN" altLang="en-US" sz="5400" b="1" dirty="0"/>
              <a:t>：</a:t>
            </a:r>
            <a:endParaRPr lang="en-US" altLang="zh-CN" sz="5400" b="1" dirty="0"/>
          </a:p>
          <a:p>
            <a:endParaRPr lang="en-US" altLang="zh-CN" dirty="0"/>
          </a:p>
          <a:p>
            <a:r>
              <a:rPr lang="en-US" altLang="zh-CN" dirty="0"/>
              <a:t>1.</a:t>
            </a:r>
            <a:r>
              <a:rPr lang="zh-CN" altLang="en-US" dirty="0"/>
              <a:t> 在双资源约束下，联合优化是否优于简单局部启发式方法？</a:t>
            </a:r>
            <a:endParaRPr lang="en-US" altLang="zh-CN" dirty="0"/>
          </a:p>
          <a:p>
            <a:r>
              <a:rPr lang="en-US" dirty="0"/>
              <a:t>2. </a:t>
            </a:r>
            <a:r>
              <a:rPr lang="zh-CN" altLang="en-US" dirty="0"/>
              <a:t>将文献启发式 </a:t>
            </a:r>
            <a:r>
              <a:rPr lang="en-US" dirty="0"/>
              <a:t>baseline </a:t>
            </a:r>
            <a:r>
              <a:rPr lang="zh-CN" altLang="en-US" dirty="0"/>
              <a:t>纳入统一 </a:t>
            </a:r>
            <a:r>
              <a:rPr lang="en-US" dirty="0"/>
              <a:t>benchmark </a:t>
            </a:r>
            <a:r>
              <a:rPr lang="zh-CN" altLang="en-US" dirty="0"/>
              <a:t>后，主方法与基线方法的排序是否一致？</a:t>
            </a:r>
            <a:endParaRPr lang="en-US" dirty="0"/>
          </a:p>
          <a:p>
            <a:r>
              <a:rPr lang="en-US" dirty="0"/>
              <a:t>3. </a:t>
            </a:r>
            <a:r>
              <a:rPr lang="zh-CN" altLang="en-US" dirty="0"/>
              <a:t>当评价口径从 </a:t>
            </a:r>
            <a:r>
              <a:rPr lang="en-US" dirty="0"/>
              <a:t>SKU </a:t>
            </a:r>
            <a:r>
              <a:rPr lang="zh-CN" altLang="en-US" dirty="0"/>
              <a:t>级 </a:t>
            </a:r>
            <a:r>
              <a:rPr lang="en-US" dirty="0"/>
              <a:t>fill rate </a:t>
            </a:r>
            <a:r>
              <a:rPr lang="zh-CN" altLang="en-US" dirty="0"/>
              <a:t>转向整单</a:t>
            </a:r>
            <a:r>
              <a:rPr lang="en-US" altLang="zh-CN" dirty="0"/>
              <a:t>/</a:t>
            </a:r>
            <a:r>
              <a:rPr lang="zh-CN" altLang="en-US" dirty="0"/>
              <a:t>部分履约时，结论是否会发生变化？</a:t>
            </a:r>
            <a:endParaRPr lang="en-US" altLang="zh-CN" dirty="0"/>
          </a:p>
          <a:p>
            <a:endParaRPr lang="en-US" dirty="0"/>
          </a:p>
          <a:p>
            <a:endParaRPr lang="en-US" dirty="0"/>
          </a:p>
          <a:p>
            <a:r>
              <a:rPr lang="zh-CN" altLang="en-US" b="1" dirty="0"/>
              <a:t>核心目标</a:t>
            </a:r>
            <a:r>
              <a:rPr lang="zh-CN" altLang="en-US" dirty="0"/>
              <a:t>：在有限仓容下提升服务水平，并用更贴近业务 </a:t>
            </a:r>
            <a:r>
              <a:rPr lang="en-US" dirty="0"/>
              <a:t>KPI </a:t>
            </a:r>
            <a:r>
              <a:rPr lang="zh-CN" altLang="en-US" dirty="0"/>
              <a:t>的方式评价算法优劣。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0190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556E1-48FE-B73A-6795-C48C55366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48871"/>
            <a:ext cx="12192000" cy="54433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现有研究主要分为三类：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Assortment optimization</a:t>
            </a:r>
            <a:r>
              <a:rPr lang="en-US" dirty="0"/>
              <a:t>：</a:t>
            </a:r>
            <a:r>
              <a:rPr lang="zh-CN" altLang="en-US" dirty="0"/>
              <a:t>关注“放哪些商品”，较少同时处理库存深度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Inventory planning</a:t>
            </a:r>
            <a:r>
              <a:rPr lang="en-US" dirty="0"/>
              <a:t>：</a:t>
            </a:r>
            <a:r>
              <a:rPr lang="zh-CN" altLang="en-US" dirty="0"/>
              <a:t>关注“给定商品后放多少”，通常不处理 </a:t>
            </a:r>
            <a:r>
              <a:rPr lang="en-US" dirty="0"/>
              <a:t>SKU </a:t>
            </a:r>
            <a:r>
              <a:rPr lang="zh-CN" altLang="en-US" dirty="0"/>
              <a:t>进入决策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Joint assortment-inventory optimization</a:t>
            </a:r>
            <a:r>
              <a:rPr lang="en-US" dirty="0"/>
              <a:t>：</a:t>
            </a:r>
            <a:r>
              <a:rPr lang="zh-CN" altLang="en-US" dirty="0"/>
              <a:t>更接近本文问题，但往往依赖更强的数据条件或替代行为建模</a:t>
            </a:r>
          </a:p>
          <a:p>
            <a:pPr marL="0" indent="0">
              <a:buNone/>
            </a:pPr>
            <a:r>
              <a:rPr lang="zh-CN" altLang="en-US" b="1" dirty="0"/>
              <a:t>本文定位</a:t>
            </a:r>
            <a:endParaRPr lang="zh-CN" altLang="en-US" dirty="0"/>
          </a:p>
          <a:p>
            <a:r>
              <a:rPr lang="zh-CN" altLang="en-US" dirty="0"/>
              <a:t>研究对象：前置仓、小仓、双资源约束场景</a:t>
            </a:r>
          </a:p>
          <a:p>
            <a:r>
              <a:rPr lang="zh-CN" altLang="en-US" dirty="0"/>
              <a:t>研究问题：</a:t>
            </a:r>
            <a:r>
              <a:rPr lang="en-US" dirty="0"/>
              <a:t>SKU </a:t>
            </a:r>
            <a:r>
              <a:rPr lang="zh-CN" altLang="en-US" dirty="0"/>
              <a:t>是否进入 </a:t>
            </a:r>
            <a:r>
              <a:rPr lang="en-US" altLang="zh-CN" dirty="0"/>
              <a:t>+ </a:t>
            </a:r>
            <a:r>
              <a:rPr lang="zh-CN" altLang="en-US" dirty="0"/>
              <a:t>进入后备多少</a:t>
            </a:r>
          </a:p>
          <a:p>
            <a:r>
              <a:rPr lang="zh-CN" altLang="en-US" dirty="0"/>
              <a:t>研究特征：真实历史需求、滚动窗口、订单级 </a:t>
            </a:r>
            <a:r>
              <a:rPr lang="en-US" dirty="0"/>
              <a:t>replay</a:t>
            </a:r>
            <a:r>
              <a:rPr lang="zh-CN" altLang="en-US" dirty="0"/>
              <a:t>、</a:t>
            </a:r>
            <a:r>
              <a:rPr lang="en-US" dirty="0"/>
              <a:t>literature-inspired benchmark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C1F0ED1-C03D-DE31-C13A-99734CE52DB0}"/>
              </a:ext>
            </a:extLst>
          </p:cNvPr>
          <p:cNvSpPr txBox="1">
            <a:spLocks/>
          </p:cNvSpPr>
          <p:nvPr/>
        </p:nvSpPr>
        <p:spPr>
          <a:xfrm>
            <a:off x="0" y="18256"/>
            <a:ext cx="1947530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文献综述</a:t>
            </a:r>
            <a:endParaRPr lang="en-US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484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293</Words>
  <Application>Microsoft Macintosh PowerPoint</Application>
  <PresentationFormat>Widescreen</PresentationFormat>
  <Paragraphs>27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即时零售前置仓 SKU 选品与库存配置联合优化研究</vt:lpstr>
      <vt:lpstr>研究背景：前置仓运营中的核心矛盾</vt:lpstr>
      <vt:lpstr>目标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牧天 王</dc:creator>
  <cp:lastModifiedBy>牧天 王</cp:lastModifiedBy>
  <cp:revision>1</cp:revision>
  <dcterms:created xsi:type="dcterms:W3CDTF">2026-04-20T05:08:06Z</dcterms:created>
  <dcterms:modified xsi:type="dcterms:W3CDTF">2026-04-20T06:25:14Z</dcterms:modified>
</cp:coreProperties>
</file>