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2" r:id="rId11"/>
    <p:sldId id="265" r:id="rId12"/>
    <p:sldId id="270" r:id="rId13"/>
    <p:sldId id="266" r:id="rId14"/>
    <p:sldId id="267" r:id="rId15"/>
    <p:sldId id="268" r:id="rId16"/>
    <p:sldId id="271" r:id="rId17"/>
    <p:sldId id="26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9677"/>
    <p:restoredTop sz="94659"/>
  </p:normalViewPr>
  <p:slideViewPr>
    <p:cSldViewPr snapToGrid="0">
      <p:cViewPr varScale="1">
        <p:scale>
          <a:sx n="86" d="100"/>
          <a:sy n="86" d="100"/>
        </p:scale>
        <p:origin x="224" y="14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1EAFCF-C1A7-4C8D-94B0-EBBF674099D9}" type="doc">
      <dgm:prSet loTypeId="urn:microsoft.com/office/officeart/2018/layout/CircleProcess" loCatId="simpleprocesssa" qsTypeId="urn:microsoft.com/office/officeart/2005/8/quickstyle/simple1" qsCatId="simple" csTypeId="urn:microsoft.com/office/officeart/2005/8/colors/accent1_2" csCatId="accent1" phldr="1"/>
      <dgm:spPr/>
      <dgm:t>
        <a:bodyPr/>
        <a:lstStyle/>
        <a:p>
          <a:endParaRPr lang="en-US"/>
        </a:p>
      </dgm:t>
    </dgm:pt>
    <dgm:pt modelId="{D0F8724D-6226-4C75-9239-11E2AEFAB802}">
      <dgm:prSet/>
      <dgm:spPr/>
      <dgm:t>
        <a:bodyPr/>
        <a:lstStyle/>
        <a:p>
          <a:r>
            <a:rPr lang="zh-CN" b="1"/>
            <a:t>对研究问题的回答</a:t>
          </a:r>
          <a:endParaRPr lang="en-US"/>
        </a:p>
      </dgm:t>
    </dgm:pt>
    <dgm:pt modelId="{80119605-EE82-456C-8C72-C73B57995719}" type="parTrans" cxnId="{AC5E88EA-0807-4622-8FEE-E1285EB95B09}">
      <dgm:prSet/>
      <dgm:spPr/>
      <dgm:t>
        <a:bodyPr/>
        <a:lstStyle/>
        <a:p>
          <a:endParaRPr lang="en-US"/>
        </a:p>
      </dgm:t>
    </dgm:pt>
    <dgm:pt modelId="{AB1FAD00-C43D-4D8E-8D5F-9B7833EC5D5C}" type="sibTrans" cxnId="{AC5E88EA-0807-4622-8FEE-E1285EB95B09}">
      <dgm:prSet/>
      <dgm:spPr/>
      <dgm:t>
        <a:bodyPr/>
        <a:lstStyle/>
        <a:p>
          <a:endParaRPr lang="en-US"/>
        </a:p>
      </dgm:t>
    </dgm:pt>
    <dgm:pt modelId="{21195A5E-2D43-4271-9628-B3C082958ED9}">
      <dgm:prSet/>
      <dgm:spPr/>
      <dgm:t>
        <a:bodyPr/>
        <a:lstStyle/>
        <a:p>
          <a:r>
            <a:rPr lang="en-US"/>
            <a:t>RQ1：</a:t>
          </a:r>
          <a:r>
            <a:rPr lang="zh-CN"/>
            <a:t>联合优化总体优于简单局部启发式</a:t>
          </a:r>
          <a:endParaRPr lang="en-US"/>
        </a:p>
      </dgm:t>
    </dgm:pt>
    <dgm:pt modelId="{8AE7528D-03A7-452E-BE13-0860129C3BBB}" type="parTrans" cxnId="{2E5E4E9D-6ED8-47F8-A09B-6B23018E57C2}">
      <dgm:prSet/>
      <dgm:spPr/>
      <dgm:t>
        <a:bodyPr/>
        <a:lstStyle/>
        <a:p>
          <a:endParaRPr lang="en-US"/>
        </a:p>
      </dgm:t>
    </dgm:pt>
    <dgm:pt modelId="{0A49AF74-5A6D-45D0-8203-5C94904F59F2}" type="sibTrans" cxnId="{2E5E4E9D-6ED8-47F8-A09B-6B23018E57C2}">
      <dgm:prSet/>
      <dgm:spPr/>
      <dgm:t>
        <a:bodyPr/>
        <a:lstStyle/>
        <a:p>
          <a:endParaRPr lang="en-US"/>
        </a:p>
      </dgm:t>
    </dgm:pt>
    <dgm:pt modelId="{466B336D-1BFD-40D9-B82B-1BF2CF498068}">
      <dgm:prSet/>
      <dgm:spPr/>
      <dgm:t>
        <a:bodyPr/>
        <a:lstStyle/>
        <a:p>
          <a:r>
            <a:rPr lang="en-US"/>
            <a:t>RQ2：</a:t>
          </a:r>
          <a:r>
            <a:rPr lang="zh-CN"/>
            <a:t>文献启发式 </a:t>
          </a:r>
          <a:r>
            <a:rPr lang="en-US"/>
            <a:t>baseline </a:t>
          </a:r>
          <a:r>
            <a:rPr lang="zh-CN"/>
            <a:t>是一个强 </a:t>
          </a:r>
          <a:r>
            <a:rPr lang="en-US"/>
            <a:t>benchmark，</a:t>
          </a:r>
          <a:r>
            <a:rPr lang="zh-CN"/>
            <a:t>但其优势依赖于评价口径</a:t>
          </a:r>
          <a:endParaRPr lang="en-US"/>
        </a:p>
      </dgm:t>
    </dgm:pt>
    <dgm:pt modelId="{5B47ADDA-F51E-4ABF-9518-33E1633053D4}" type="parTrans" cxnId="{C565F7B6-924E-4B24-A9FA-9104FBC9747A}">
      <dgm:prSet/>
      <dgm:spPr/>
      <dgm:t>
        <a:bodyPr/>
        <a:lstStyle/>
        <a:p>
          <a:endParaRPr lang="en-US"/>
        </a:p>
      </dgm:t>
    </dgm:pt>
    <dgm:pt modelId="{3D563E80-C399-49D6-B23C-A77CAF597504}" type="sibTrans" cxnId="{C565F7B6-924E-4B24-A9FA-9104FBC9747A}">
      <dgm:prSet/>
      <dgm:spPr/>
      <dgm:t>
        <a:bodyPr/>
        <a:lstStyle/>
        <a:p>
          <a:endParaRPr lang="en-US"/>
        </a:p>
      </dgm:t>
    </dgm:pt>
    <dgm:pt modelId="{E1F5FDD6-68D1-4F94-948E-57CA3159BE4B}">
      <dgm:prSet/>
      <dgm:spPr/>
      <dgm:t>
        <a:bodyPr/>
        <a:lstStyle/>
        <a:p>
          <a:r>
            <a:rPr lang="en-US" dirty="0"/>
            <a:t>RQ3：</a:t>
          </a:r>
          <a:r>
            <a:rPr lang="zh-CN" dirty="0"/>
            <a:t>聚合 </a:t>
          </a:r>
          <a:r>
            <a:rPr lang="en-US" dirty="0"/>
            <a:t>proxy </a:t>
          </a:r>
          <a:r>
            <a:rPr lang="zh-CN" dirty="0"/>
            <a:t>指标与订单级指标之间存在系统性差异</a:t>
          </a:r>
          <a:endParaRPr lang="en-US" dirty="0"/>
        </a:p>
      </dgm:t>
    </dgm:pt>
    <dgm:pt modelId="{86A0CFC2-C54E-42CE-A5BE-1521559DAC11}" type="parTrans" cxnId="{2560E9CE-AEA3-4936-BD73-744DD7ED2298}">
      <dgm:prSet/>
      <dgm:spPr/>
      <dgm:t>
        <a:bodyPr/>
        <a:lstStyle/>
        <a:p>
          <a:endParaRPr lang="en-US"/>
        </a:p>
      </dgm:t>
    </dgm:pt>
    <dgm:pt modelId="{3941C9A3-7D5C-4101-9295-0855D0441208}" type="sibTrans" cxnId="{2560E9CE-AEA3-4936-BD73-744DD7ED2298}">
      <dgm:prSet/>
      <dgm:spPr/>
      <dgm:t>
        <a:bodyPr/>
        <a:lstStyle/>
        <a:p>
          <a:endParaRPr lang="en-US"/>
        </a:p>
      </dgm:t>
    </dgm:pt>
    <dgm:pt modelId="{42B2D011-2867-CB4F-8529-2599B24E7673}" type="pres">
      <dgm:prSet presAssocID="{AD1EAFCF-C1A7-4C8D-94B0-EBBF674099D9}" presName="Name0" presStyleCnt="0">
        <dgm:presLayoutVars>
          <dgm:chMax val="11"/>
          <dgm:chPref val="11"/>
          <dgm:dir/>
          <dgm:resizeHandles/>
        </dgm:presLayoutVars>
      </dgm:prSet>
      <dgm:spPr/>
    </dgm:pt>
    <dgm:pt modelId="{E0E6045F-5DFB-8542-8871-522A7523AC7D}" type="pres">
      <dgm:prSet presAssocID="{E1F5FDD6-68D1-4F94-948E-57CA3159BE4B}" presName="Accent4" presStyleCnt="0"/>
      <dgm:spPr/>
    </dgm:pt>
    <dgm:pt modelId="{6B25579E-536A-6F47-B5F7-BBD5CBCAD21C}" type="pres">
      <dgm:prSet presAssocID="{E1F5FDD6-68D1-4F94-948E-57CA3159BE4B}" presName="Accent" presStyleLbl="node1" presStyleIdx="0" presStyleCnt="8"/>
      <dgm:spPr/>
    </dgm:pt>
    <dgm:pt modelId="{1662E20B-9164-6946-BA07-C7E48DD46FB0}" type="pres">
      <dgm:prSet presAssocID="{E1F5FDD6-68D1-4F94-948E-57CA3159BE4B}" presName="ParentBackground4" presStyleCnt="0"/>
      <dgm:spPr/>
    </dgm:pt>
    <dgm:pt modelId="{D621AE29-D0D0-D34B-B6C0-5F889E1EE981}" type="pres">
      <dgm:prSet presAssocID="{E1F5FDD6-68D1-4F94-948E-57CA3159BE4B}" presName="ParentBackground" presStyleLbl="node1" presStyleIdx="1" presStyleCnt="8"/>
      <dgm:spPr/>
    </dgm:pt>
    <dgm:pt modelId="{20C32BAB-32D6-764A-9DB1-781D9BD96C0C}" type="pres">
      <dgm:prSet presAssocID="{E1F5FDD6-68D1-4F94-948E-57CA3159BE4B}" presName="Parent4" presStyleLbl="fgAcc0" presStyleIdx="0" presStyleCnt="0">
        <dgm:presLayoutVars>
          <dgm:chMax val="1"/>
          <dgm:chPref val="1"/>
          <dgm:bulletEnabled val="1"/>
        </dgm:presLayoutVars>
      </dgm:prSet>
      <dgm:spPr/>
    </dgm:pt>
    <dgm:pt modelId="{C63B59C4-7CF7-604E-92FB-1C3475B1EB49}" type="pres">
      <dgm:prSet presAssocID="{466B336D-1BFD-40D9-B82B-1BF2CF498068}" presName="Accent3" presStyleCnt="0"/>
      <dgm:spPr/>
    </dgm:pt>
    <dgm:pt modelId="{495AB936-1D44-D240-AF24-9CBAFD686384}" type="pres">
      <dgm:prSet presAssocID="{466B336D-1BFD-40D9-B82B-1BF2CF498068}" presName="Accent" presStyleLbl="node1" presStyleIdx="2" presStyleCnt="8"/>
      <dgm:spPr/>
    </dgm:pt>
    <dgm:pt modelId="{74116165-C1F6-5D4E-8D6B-554B53D5A376}" type="pres">
      <dgm:prSet presAssocID="{466B336D-1BFD-40D9-B82B-1BF2CF498068}" presName="ParentBackground3" presStyleCnt="0"/>
      <dgm:spPr/>
    </dgm:pt>
    <dgm:pt modelId="{A9047363-620F-2F4D-8604-7AA17949E0CE}" type="pres">
      <dgm:prSet presAssocID="{466B336D-1BFD-40D9-B82B-1BF2CF498068}" presName="ParentBackground" presStyleLbl="node1" presStyleIdx="3" presStyleCnt="8" custLinFactNeighborX="-604" custLinFactNeighborY="449"/>
      <dgm:spPr/>
    </dgm:pt>
    <dgm:pt modelId="{D877030F-66F7-1341-A269-BFFB50FA8995}" type="pres">
      <dgm:prSet presAssocID="{466B336D-1BFD-40D9-B82B-1BF2CF498068}" presName="Parent3" presStyleLbl="fgAcc0" presStyleIdx="0" presStyleCnt="0">
        <dgm:presLayoutVars>
          <dgm:chMax val="1"/>
          <dgm:chPref val="1"/>
          <dgm:bulletEnabled val="1"/>
        </dgm:presLayoutVars>
      </dgm:prSet>
      <dgm:spPr/>
    </dgm:pt>
    <dgm:pt modelId="{0A81FB97-6267-A243-8422-AA7AC63E9AEA}" type="pres">
      <dgm:prSet presAssocID="{21195A5E-2D43-4271-9628-B3C082958ED9}" presName="Accent2" presStyleCnt="0"/>
      <dgm:spPr/>
    </dgm:pt>
    <dgm:pt modelId="{C9510006-7CE5-2B4F-8217-5D800F1CDD8C}" type="pres">
      <dgm:prSet presAssocID="{21195A5E-2D43-4271-9628-B3C082958ED9}" presName="Accent" presStyleLbl="node1" presStyleIdx="4" presStyleCnt="8"/>
      <dgm:spPr/>
    </dgm:pt>
    <dgm:pt modelId="{043EBC55-17E6-BE4E-91CE-AAE513D50126}" type="pres">
      <dgm:prSet presAssocID="{21195A5E-2D43-4271-9628-B3C082958ED9}" presName="ParentBackground2" presStyleCnt="0"/>
      <dgm:spPr/>
    </dgm:pt>
    <dgm:pt modelId="{21B68B5F-A8D0-8E47-81C7-07A3746B13C7}" type="pres">
      <dgm:prSet presAssocID="{21195A5E-2D43-4271-9628-B3C082958ED9}" presName="ParentBackground" presStyleLbl="node1" presStyleIdx="5" presStyleCnt="8"/>
      <dgm:spPr/>
    </dgm:pt>
    <dgm:pt modelId="{2C108ABC-639D-104C-A04B-B9642BAE2A79}" type="pres">
      <dgm:prSet presAssocID="{21195A5E-2D43-4271-9628-B3C082958ED9}" presName="Parent2" presStyleLbl="fgAcc0" presStyleIdx="0" presStyleCnt="0">
        <dgm:presLayoutVars>
          <dgm:chMax val="1"/>
          <dgm:chPref val="1"/>
          <dgm:bulletEnabled val="1"/>
        </dgm:presLayoutVars>
      </dgm:prSet>
      <dgm:spPr/>
    </dgm:pt>
    <dgm:pt modelId="{F49C1AE3-CE71-4B4A-AA1D-0A381D560B59}" type="pres">
      <dgm:prSet presAssocID="{D0F8724D-6226-4C75-9239-11E2AEFAB802}" presName="Accent1" presStyleCnt="0"/>
      <dgm:spPr/>
    </dgm:pt>
    <dgm:pt modelId="{B19B6A78-DD58-FB42-964C-399AE3AF40B2}" type="pres">
      <dgm:prSet presAssocID="{D0F8724D-6226-4C75-9239-11E2AEFAB802}" presName="Accent" presStyleLbl="node1" presStyleIdx="6" presStyleCnt="8"/>
      <dgm:spPr/>
    </dgm:pt>
    <dgm:pt modelId="{D7691A9C-B7AC-8E41-8034-3AC0BA019C08}" type="pres">
      <dgm:prSet presAssocID="{D0F8724D-6226-4C75-9239-11E2AEFAB802}" presName="ParentBackground1" presStyleCnt="0"/>
      <dgm:spPr/>
    </dgm:pt>
    <dgm:pt modelId="{F7709294-4F7C-5D45-86A2-44183EAE077B}" type="pres">
      <dgm:prSet presAssocID="{D0F8724D-6226-4C75-9239-11E2AEFAB802}" presName="ParentBackground" presStyleLbl="node1" presStyleIdx="7" presStyleCnt="8"/>
      <dgm:spPr/>
    </dgm:pt>
    <dgm:pt modelId="{BD882358-5F8F-2247-A691-38533FA1B464}" type="pres">
      <dgm:prSet presAssocID="{D0F8724D-6226-4C75-9239-11E2AEFAB802}" presName="Parent1" presStyleLbl="fgAcc0" presStyleIdx="0" presStyleCnt="0">
        <dgm:presLayoutVars>
          <dgm:chMax val="1"/>
          <dgm:chPref val="1"/>
          <dgm:bulletEnabled val="1"/>
        </dgm:presLayoutVars>
      </dgm:prSet>
      <dgm:spPr/>
    </dgm:pt>
  </dgm:ptLst>
  <dgm:cxnLst>
    <dgm:cxn modelId="{3D3F3F08-BCDB-0848-9154-C44F30EDED12}" type="presOf" srcId="{21195A5E-2D43-4271-9628-B3C082958ED9}" destId="{2C108ABC-639D-104C-A04B-B9642BAE2A79}" srcOrd="1" destOrd="0" presId="urn:microsoft.com/office/officeart/2018/layout/CircleProcess"/>
    <dgm:cxn modelId="{796EED0E-B97E-E04B-8C25-73E2D9FA289B}" type="presOf" srcId="{AD1EAFCF-C1A7-4C8D-94B0-EBBF674099D9}" destId="{42B2D011-2867-CB4F-8529-2599B24E7673}" srcOrd="0" destOrd="0" presId="urn:microsoft.com/office/officeart/2018/layout/CircleProcess"/>
    <dgm:cxn modelId="{8E7E9828-D816-534B-A300-DEC48F63F59F}" type="presOf" srcId="{D0F8724D-6226-4C75-9239-11E2AEFAB802}" destId="{F7709294-4F7C-5D45-86A2-44183EAE077B}" srcOrd="0" destOrd="0" presId="urn:microsoft.com/office/officeart/2018/layout/CircleProcess"/>
    <dgm:cxn modelId="{A0E08257-C08C-D947-A22B-F31216016F82}" type="presOf" srcId="{E1F5FDD6-68D1-4F94-948E-57CA3159BE4B}" destId="{D621AE29-D0D0-D34B-B6C0-5F889E1EE981}" srcOrd="0" destOrd="0" presId="urn:microsoft.com/office/officeart/2018/layout/CircleProcess"/>
    <dgm:cxn modelId="{38199D63-F1BA-824A-B4C4-91072F77C85C}" type="presOf" srcId="{466B336D-1BFD-40D9-B82B-1BF2CF498068}" destId="{A9047363-620F-2F4D-8604-7AA17949E0CE}" srcOrd="0" destOrd="0" presId="urn:microsoft.com/office/officeart/2018/layout/CircleProcess"/>
    <dgm:cxn modelId="{B2422B70-CBF8-134D-B040-B1C94D9A7C81}" type="presOf" srcId="{21195A5E-2D43-4271-9628-B3C082958ED9}" destId="{21B68B5F-A8D0-8E47-81C7-07A3746B13C7}" srcOrd="0" destOrd="0" presId="urn:microsoft.com/office/officeart/2018/layout/CircleProcess"/>
    <dgm:cxn modelId="{86EB359B-8A6C-F942-9CC5-C241B8F8A204}" type="presOf" srcId="{E1F5FDD6-68D1-4F94-948E-57CA3159BE4B}" destId="{20C32BAB-32D6-764A-9DB1-781D9BD96C0C}" srcOrd="1" destOrd="0" presId="urn:microsoft.com/office/officeart/2018/layout/CircleProcess"/>
    <dgm:cxn modelId="{2E5E4E9D-6ED8-47F8-A09B-6B23018E57C2}" srcId="{AD1EAFCF-C1A7-4C8D-94B0-EBBF674099D9}" destId="{21195A5E-2D43-4271-9628-B3C082958ED9}" srcOrd="1" destOrd="0" parTransId="{8AE7528D-03A7-452E-BE13-0860129C3BBB}" sibTransId="{0A49AF74-5A6D-45D0-8203-5C94904F59F2}"/>
    <dgm:cxn modelId="{C565F7B6-924E-4B24-A9FA-9104FBC9747A}" srcId="{AD1EAFCF-C1A7-4C8D-94B0-EBBF674099D9}" destId="{466B336D-1BFD-40D9-B82B-1BF2CF498068}" srcOrd="2" destOrd="0" parTransId="{5B47ADDA-F51E-4ABF-9518-33E1633053D4}" sibTransId="{3D563E80-C399-49D6-B23C-A77CAF597504}"/>
    <dgm:cxn modelId="{0888F6B8-FF96-0448-B884-C05FE66BAF4B}" type="presOf" srcId="{D0F8724D-6226-4C75-9239-11E2AEFAB802}" destId="{BD882358-5F8F-2247-A691-38533FA1B464}" srcOrd="1" destOrd="0" presId="urn:microsoft.com/office/officeart/2018/layout/CircleProcess"/>
    <dgm:cxn modelId="{2560E9CE-AEA3-4936-BD73-744DD7ED2298}" srcId="{AD1EAFCF-C1A7-4C8D-94B0-EBBF674099D9}" destId="{E1F5FDD6-68D1-4F94-948E-57CA3159BE4B}" srcOrd="3" destOrd="0" parTransId="{86A0CFC2-C54E-42CE-A5BE-1521559DAC11}" sibTransId="{3941C9A3-7D5C-4101-9295-0855D0441208}"/>
    <dgm:cxn modelId="{AC5E88EA-0807-4622-8FEE-E1285EB95B09}" srcId="{AD1EAFCF-C1A7-4C8D-94B0-EBBF674099D9}" destId="{D0F8724D-6226-4C75-9239-11E2AEFAB802}" srcOrd="0" destOrd="0" parTransId="{80119605-EE82-456C-8C72-C73B57995719}" sibTransId="{AB1FAD00-C43D-4D8E-8D5F-9B7833EC5D5C}"/>
    <dgm:cxn modelId="{C240F7FC-577D-4542-B3A2-61EA8BB28A60}" type="presOf" srcId="{466B336D-1BFD-40D9-B82B-1BF2CF498068}" destId="{D877030F-66F7-1341-A269-BFFB50FA8995}" srcOrd="1" destOrd="0" presId="urn:microsoft.com/office/officeart/2018/layout/CircleProcess"/>
    <dgm:cxn modelId="{B14E5501-95BF-2D47-8960-718ECF363A6D}" type="presParOf" srcId="{42B2D011-2867-CB4F-8529-2599B24E7673}" destId="{E0E6045F-5DFB-8542-8871-522A7523AC7D}" srcOrd="0" destOrd="0" presId="urn:microsoft.com/office/officeart/2018/layout/CircleProcess"/>
    <dgm:cxn modelId="{6E507498-6C4C-D543-94BB-A06DFF910258}" type="presParOf" srcId="{E0E6045F-5DFB-8542-8871-522A7523AC7D}" destId="{6B25579E-536A-6F47-B5F7-BBD5CBCAD21C}" srcOrd="0" destOrd="0" presId="urn:microsoft.com/office/officeart/2018/layout/CircleProcess"/>
    <dgm:cxn modelId="{967FF131-E978-E74D-8CE6-731252DEA1CF}" type="presParOf" srcId="{42B2D011-2867-CB4F-8529-2599B24E7673}" destId="{1662E20B-9164-6946-BA07-C7E48DD46FB0}" srcOrd="1" destOrd="0" presId="urn:microsoft.com/office/officeart/2018/layout/CircleProcess"/>
    <dgm:cxn modelId="{A18C4BB3-D7AF-974C-97CC-99A997DE494B}" type="presParOf" srcId="{1662E20B-9164-6946-BA07-C7E48DD46FB0}" destId="{D621AE29-D0D0-D34B-B6C0-5F889E1EE981}" srcOrd="0" destOrd="0" presId="urn:microsoft.com/office/officeart/2018/layout/CircleProcess"/>
    <dgm:cxn modelId="{D259BBA8-9483-1E4D-AAE3-582CE9103645}" type="presParOf" srcId="{42B2D011-2867-CB4F-8529-2599B24E7673}" destId="{20C32BAB-32D6-764A-9DB1-781D9BD96C0C}" srcOrd="2" destOrd="0" presId="urn:microsoft.com/office/officeart/2018/layout/CircleProcess"/>
    <dgm:cxn modelId="{CAEE1F06-8FFF-6E4C-8352-0841BE470731}" type="presParOf" srcId="{42B2D011-2867-CB4F-8529-2599B24E7673}" destId="{C63B59C4-7CF7-604E-92FB-1C3475B1EB49}" srcOrd="3" destOrd="0" presId="urn:microsoft.com/office/officeart/2018/layout/CircleProcess"/>
    <dgm:cxn modelId="{EB3171A1-A6E6-DF46-B6C8-988D12CB9AE0}" type="presParOf" srcId="{C63B59C4-7CF7-604E-92FB-1C3475B1EB49}" destId="{495AB936-1D44-D240-AF24-9CBAFD686384}" srcOrd="0" destOrd="0" presId="urn:microsoft.com/office/officeart/2018/layout/CircleProcess"/>
    <dgm:cxn modelId="{E9F42F15-AC56-3448-B35C-002A32C75736}" type="presParOf" srcId="{42B2D011-2867-CB4F-8529-2599B24E7673}" destId="{74116165-C1F6-5D4E-8D6B-554B53D5A376}" srcOrd="4" destOrd="0" presId="urn:microsoft.com/office/officeart/2018/layout/CircleProcess"/>
    <dgm:cxn modelId="{1E1C4096-3AF6-0246-BC5D-FA312220CDFC}" type="presParOf" srcId="{74116165-C1F6-5D4E-8D6B-554B53D5A376}" destId="{A9047363-620F-2F4D-8604-7AA17949E0CE}" srcOrd="0" destOrd="0" presId="urn:microsoft.com/office/officeart/2018/layout/CircleProcess"/>
    <dgm:cxn modelId="{B0F9D2A1-FEC3-424F-950E-F845BD226054}" type="presParOf" srcId="{42B2D011-2867-CB4F-8529-2599B24E7673}" destId="{D877030F-66F7-1341-A269-BFFB50FA8995}" srcOrd="5" destOrd="0" presId="urn:microsoft.com/office/officeart/2018/layout/CircleProcess"/>
    <dgm:cxn modelId="{B486F722-8445-F24E-BAF7-27FA77034B3D}" type="presParOf" srcId="{42B2D011-2867-CB4F-8529-2599B24E7673}" destId="{0A81FB97-6267-A243-8422-AA7AC63E9AEA}" srcOrd="6" destOrd="0" presId="urn:microsoft.com/office/officeart/2018/layout/CircleProcess"/>
    <dgm:cxn modelId="{F162919A-B1CD-D940-A71E-5E0F6FEB5FE8}" type="presParOf" srcId="{0A81FB97-6267-A243-8422-AA7AC63E9AEA}" destId="{C9510006-7CE5-2B4F-8217-5D800F1CDD8C}" srcOrd="0" destOrd="0" presId="urn:microsoft.com/office/officeart/2018/layout/CircleProcess"/>
    <dgm:cxn modelId="{6E1F0937-5DEB-8341-8592-0AA30023BD50}" type="presParOf" srcId="{42B2D011-2867-CB4F-8529-2599B24E7673}" destId="{043EBC55-17E6-BE4E-91CE-AAE513D50126}" srcOrd="7" destOrd="0" presId="urn:microsoft.com/office/officeart/2018/layout/CircleProcess"/>
    <dgm:cxn modelId="{9C2C226E-96F1-2942-BBB3-08F4194360A2}" type="presParOf" srcId="{043EBC55-17E6-BE4E-91CE-AAE513D50126}" destId="{21B68B5F-A8D0-8E47-81C7-07A3746B13C7}" srcOrd="0" destOrd="0" presId="urn:microsoft.com/office/officeart/2018/layout/CircleProcess"/>
    <dgm:cxn modelId="{7F4C4BEA-FE52-4B41-8A77-AA7853DAE7D1}" type="presParOf" srcId="{42B2D011-2867-CB4F-8529-2599B24E7673}" destId="{2C108ABC-639D-104C-A04B-B9642BAE2A79}" srcOrd="8" destOrd="0" presId="urn:microsoft.com/office/officeart/2018/layout/CircleProcess"/>
    <dgm:cxn modelId="{1CAC014E-0B94-E340-B1E7-783A5D555A62}" type="presParOf" srcId="{42B2D011-2867-CB4F-8529-2599B24E7673}" destId="{F49C1AE3-CE71-4B4A-AA1D-0A381D560B59}" srcOrd="9" destOrd="0" presId="urn:microsoft.com/office/officeart/2018/layout/CircleProcess"/>
    <dgm:cxn modelId="{4D993C39-3630-3943-9464-0DC93E5EDAC3}" type="presParOf" srcId="{F49C1AE3-CE71-4B4A-AA1D-0A381D560B59}" destId="{B19B6A78-DD58-FB42-964C-399AE3AF40B2}" srcOrd="0" destOrd="0" presId="urn:microsoft.com/office/officeart/2018/layout/CircleProcess"/>
    <dgm:cxn modelId="{1A2B2ABE-6B24-4146-85B5-ACADFB012E13}" type="presParOf" srcId="{42B2D011-2867-CB4F-8529-2599B24E7673}" destId="{D7691A9C-B7AC-8E41-8034-3AC0BA019C08}" srcOrd="10" destOrd="0" presId="urn:microsoft.com/office/officeart/2018/layout/CircleProcess"/>
    <dgm:cxn modelId="{E362E5C5-9072-9E4E-A5EB-A99AE78161FE}" type="presParOf" srcId="{D7691A9C-B7AC-8E41-8034-3AC0BA019C08}" destId="{F7709294-4F7C-5D45-86A2-44183EAE077B}" srcOrd="0" destOrd="0" presId="urn:microsoft.com/office/officeart/2018/layout/CircleProcess"/>
    <dgm:cxn modelId="{55133541-1E03-784C-8D5A-AD8D8F6BD27D}" type="presParOf" srcId="{42B2D011-2867-CB4F-8529-2599B24E7673}" destId="{BD882358-5F8F-2247-A691-38533FA1B464}" srcOrd="11" destOrd="0" presId="urn:microsoft.com/office/officeart/2018/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25579E-536A-6F47-B5F7-BBD5CBCAD21C}">
      <dsp:nvSpPr>
        <dsp:cNvPr id="0" name=""/>
        <dsp:cNvSpPr/>
      </dsp:nvSpPr>
      <dsp:spPr>
        <a:xfrm>
          <a:off x="9020426" y="936109"/>
          <a:ext cx="2480062" cy="2480189"/>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21AE29-D0D0-D34B-B6C0-5F889E1EE981}">
      <dsp:nvSpPr>
        <dsp:cNvPr id="0" name=""/>
        <dsp:cNvSpPr/>
      </dsp:nvSpPr>
      <dsp:spPr>
        <a:xfrm>
          <a:off x="9103379" y="1018796"/>
          <a:ext cx="2315221" cy="2314814"/>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US" sz="1700" kern="1200" dirty="0"/>
            <a:t>RQ3：</a:t>
          </a:r>
          <a:r>
            <a:rPr lang="zh-CN" sz="1700" kern="1200" dirty="0"/>
            <a:t>聚合 </a:t>
          </a:r>
          <a:r>
            <a:rPr lang="en-US" sz="1700" kern="1200" dirty="0"/>
            <a:t>proxy </a:t>
          </a:r>
          <a:r>
            <a:rPr lang="zh-CN" sz="1700" kern="1200" dirty="0"/>
            <a:t>指标与订单级指标之间存在系统性差异</a:t>
          </a:r>
          <a:endParaRPr lang="en-US" sz="1700" kern="1200" dirty="0"/>
        </a:p>
      </dsp:txBody>
      <dsp:txXfrm>
        <a:off x="9434125" y="1349546"/>
        <a:ext cx="1653729" cy="1653314"/>
      </dsp:txXfrm>
    </dsp:sp>
    <dsp:sp modelId="{495AB936-1D44-D240-AF24-9CBAFD686384}">
      <dsp:nvSpPr>
        <dsp:cNvPr id="0" name=""/>
        <dsp:cNvSpPr/>
      </dsp:nvSpPr>
      <dsp:spPr>
        <a:xfrm rot="2700000">
          <a:off x="6446756" y="935934"/>
          <a:ext cx="2480103" cy="2480103"/>
        </a:xfrm>
        <a:prstGeom prst="teardrop">
          <a:avLst>
            <a:gd name="adj" fmla="val 10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9047363-620F-2F4D-8604-7AA17949E0CE}">
      <dsp:nvSpPr>
        <dsp:cNvPr id="0" name=""/>
        <dsp:cNvSpPr/>
      </dsp:nvSpPr>
      <dsp:spPr>
        <a:xfrm>
          <a:off x="6526380" y="1029190"/>
          <a:ext cx="2315221" cy="2314814"/>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US" sz="1700" kern="1200"/>
            <a:t>RQ2：</a:t>
          </a:r>
          <a:r>
            <a:rPr lang="zh-CN" sz="1700" kern="1200"/>
            <a:t>文献启发式 </a:t>
          </a:r>
          <a:r>
            <a:rPr lang="en-US" sz="1700" kern="1200"/>
            <a:t>baseline </a:t>
          </a:r>
          <a:r>
            <a:rPr lang="zh-CN" sz="1700" kern="1200"/>
            <a:t>是一个强 </a:t>
          </a:r>
          <a:r>
            <a:rPr lang="en-US" sz="1700" kern="1200"/>
            <a:t>benchmark，</a:t>
          </a:r>
          <a:r>
            <a:rPr lang="zh-CN" sz="1700" kern="1200"/>
            <a:t>但其优势依赖于评价口径</a:t>
          </a:r>
          <a:endParaRPr lang="en-US" sz="1700" kern="1200"/>
        </a:p>
      </dsp:txBody>
      <dsp:txXfrm>
        <a:off x="6857126" y="1359940"/>
        <a:ext cx="1653729" cy="1653314"/>
      </dsp:txXfrm>
    </dsp:sp>
    <dsp:sp modelId="{C9510006-7CE5-2B4F-8217-5D800F1CDD8C}">
      <dsp:nvSpPr>
        <dsp:cNvPr id="0" name=""/>
        <dsp:cNvSpPr/>
      </dsp:nvSpPr>
      <dsp:spPr>
        <a:xfrm rot="2700000">
          <a:off x="3894376" y="935934"/>
          <a:ext cx="2480103" cy="2480103"/>
        </a:xfrm>
        <a:prstGeom prst="teardrop">
          <a:avLst>
            <a:gd name="adj" fmla="val 10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1B68B5F-A8D0-8E47-81C7-07A3746B13C7}">
      <dsp:nvSpPr>
        <dsp:cNvPr id="0" name=""/>
        <dsp:cNvSpPr/>
      </dsp:nvSpPr>
      <dsp:spPr>
        <a:xfrm>
          <a:off x="3977349" y="1018796"/>
          <a:ext cx="2315221" cy="2314814"/>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en-US" sz="1700" kern="1200"/>
            <a:t>RQ1：</a:t>
          </a:r>
          <a:r>
            <a:rPr lang="zh-CN" sz="1700" kern="1200"/>
            <a:t>联合优化总体优于简单局部启发式</a:t>
          </a:r>
          <a:endParaRPr lang="en-US" sz="1700" kern="1200"/>
        </a:p>
      </dsp:txBody>
      <dsp:txXfrm>
        <a:off x="4308095" y="1349546"/>
        <a:ext cx="1653729" cy="1653314"/>
      </dsp:txXfrm>
    </dsp:sp>
    <dsp:sp modelId="{B19B6A78-DD58-FB42-964C-399AE3AF40B2}">
      <dsp:nvSpPr>
        <dsp:cNvPr id="0" name=""/>
        <dsp:cNvSpPr/>
      </dsp:nvSpPr>
      <dsp:spPr>
        <a:xfrm rot="2700000">
          <a:off x="1331361" y="935934"/>
          <a:ext cx="2480103" cy="2480103"/>
        </a:xfrm>
        <a:prstGeom prst="teardrop">
          <a:avLst>
            <a:gd name="adj" fmla="val 10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7709294-4F7C-5D45-86A2-44183EAE077B}">
      <dsp:nvSpPr>
        <dsp:cNvPr id="0" name=""/>
        <dsp:cNvSpPr/>
      </dsp:nvSpPr>
      <dsp:spPr>
        <a:xfrm>
          <a:off x="1414334" y="1018796"/>
          <a:ext cx="2315221" cy="2314814"/>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90" tIns="21590" rIns="21590" bIns="21590" numCol="1" spcCol="1270" anchor="ctr" anchorCtr="0">
          <a:noAutofit/>
        </a:bodyPr>
        <a:lstStyle/>
        <a:p>
          <a:pPr marL="0" lvl="0" indent="0" algn="ctr" defTabSz="755650">
            <a:lnSpc>
              <a:spcPct val="90000"/>
            </a:lnSpc>
            <a:spcBef>
              <a:spcPct val="0"/>
            </a:spcBef>
            <a:spcAft>
              <a:spcPct val="35000"/>
            </a:spcAft>
            <a:buNone/>
          </a:pPr>
          <a:r>
            <a:rPr lang="zh-CN" sz="1700" b="1" kern="1200"/>
            <a:t>对研究问题的回答</a:t>
          </a:r>
          <a:endParaRPr lang="en-US" sz="1700" kern="1200"/>
        </a:p>
      </dsp:txBody>
      <dsp:txXfrm>
        <a:off x="1745080" y="1349546"/>
        <a:ext cx="1653729" cy="1653314"/>
      </dsp:txXfrm>
    </dsp:sp>
  </dsp:spTree>
</dsp:drawing>
</file>

<file path=ppt/diagrams/layout1.xml><?xml version="1.0" encoding="utf-8"?>
<dgm:layoutDef xmlns:dgm="http://schemas.openxmlformats.org/drawingml/2006/diagram" xmlns:a="http://schemas.openxmlformats.org/drawingml/2006/main" uniqueId="urn:microsoft.com/office/officeart/2018/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node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fgAcc0">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515219-B545-F742-ACDE-C58DAFED9D20}" type="datetimeFigureOut">
              <a:rPr lang="en-US" smtClean="0"/>
              <a:t>4/22/26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387E80-DC82-DB4E-8ABE-54E600188643}" type="slidenum">
              <a:rPr lang="en-US" smtClean="0"/>
              <a:t>‹#›</a:t>
            </a:fld>
            <a:endParaRPr lang="en-US"/>
          </a:p>
        </p:txBody>
      </p:sp>
    </p:spTree>
    <p:extLst>
      <p:ext uri="{BB962C8B-B14F-4D97-AF65-F5344CB8AC3E}">
        <p14:creationId xmlns:p14="http://schemas.microsoft.com/office/powerpoint/2010/main" val="367797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387E80-DC82-DB4E-8ABE-54E600188643}" type="slidenum">
              <a:rPr lang="en-US" smtClean="0"/>
              <a:t>12</a:t>
            </a:fld>
            <a:endParaRPr lang="en-US"/>
          </a:p>
        </p:txBody>
      </p:sp>
    </p:spTree>
    <p:extLst>
      <p:ext uri="{BB962C8B-B14F-4D97-AF65-F5344CB8AC3E}">
        <p14:creationId xmlns:p14="http://schemas.microsoft.com/office/powerpoint/2010/main" val="349265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7A8AA-E150-317C-C1A9-72A750EC3FA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E101D4-E1E1-B3AD-1B53-BE1E68252DF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1C51C1D-7DC3-5033-0419-5D24AA00BD94}"/>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5" name="Footer Placeholder 4">
            <a:extLst>
              <a:ext uri="{FF2B5EF4-FFF2-40B4-BE49-F238E27FC236}">
                <a16:creationId xmlns:a16="http://schemas.microsoft.com/office/drawing/2014/main" id="{E506B33C-940F-9D79-03B0-4B812883AA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1F5F37-1082-2A1B-A1F9-31B04A5CA2B5}"/>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269990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682E4-1128-9868-2E2B-11EF5D83EA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01E353-15C9-597F-AB86-09578FD008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FC547B-01A0-EB84-7621-7D5E270AF544}"/>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5" name="Footer Placeholder 4">
            <a:extLst>
              <a:ext uri="{FF2B5EF4-FFF2-40B4-BE49-F238E27FC236}">
                <a16:creationId xmlns:a16="http://schemas.microsoft.com/office/drawing/2014/main" id="{AC1BB6A7-D959-1E73-408F-6A8ACA2E67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71A470-153D-3F78-4B98-CE370E35073A}"/>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30896342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41E95-B72F-7F71-F000-89195FB66F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00F4630-E8F1-35C1-F023-2ACA9703DA1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6F79A6-5EAD-7B79-5615-1F1F5E29E627}"/>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5" name="Footer Placeholder 4">
            <a:extLst>
              <a:ext uri="{FF2B5EF4-FFF2-40B4-BE49-F238E27FC236}">
                <a16:creationId xmlns:a16="http://schemas.microsoft.com/office/drawing/2014/main" id="{C048C37A-6EB3-AA91-4EF1-2D7E20BE59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D9ED89-5135-EF82-998D-67A9FF996B50}"/>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1906403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B02BB-29C8-AEB0-3236-C92721E58C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C2EAE0-3CBC-8181-69F6-039294DF859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330D61-6882-FB2E-7196-527FEB194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DC3CBFA-797A-A3BB-C063-2F24D187A301}"/>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6" name="Footer Placeholder 5">
            <a:extLst>
              <a:ext uri="{FF2B5EF4-FFF2-40B4-BE49-F238E27FC236}">
                <a16:creationId xmlns:a16="http://schemas.microsoft.com/office/drawing/2014/main" id="{C7460670-83D7-80CA-2EF7-F101474B12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7B2B96-E096-E7C8-D9A4-F4769FE5413C}"/>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2737089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7EA7-389A-F268-CECB-EFA39E7C106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B5AFE2A-CD60-3350-20E0-E4F6FAA36EC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3E6059-F0CA-19E0-2F2B-57A17801F21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2F9E93-A088-EAFD-2F8A-C167750276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4D3D77-8F51-FB0A-70EA-6185D9DFBB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BBD0A4-2181-C179-D24F-9E14C1CD64ED}"/>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8" name="Footer Placeholder 7">
            <a:extLst>
              <a:ext uri="{FF2B5EF4-FFF2-40B4-BE49-F238E27FC236}">
                <a16:creationId xmlns:a16="http://schemas.microsoft.com/office/drawing/2014/main" id="{C6E59DA5-EF66-EAFD-29FD-1A5CAA45EB2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8E3DFFF-97A0-D68C-C7EC-E7B0E8FECF77}"/>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186615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C05BE-2591-3705-B18C-75788268D2C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0B6A254-7C4A-5833-D635-AC76A47F4E26}"/>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4" name="Footer Placeholder 3">
            <a:extLst>
              <a:ext uri="{FF2B5EF4-FFF2-40B4-BE49-F238E27FC236}">
                <a16:creationId xmlns:a16="http://schemas.microsoft.com/office/drawing/2014/main" id="{48C3DA50-8CF3-7306-5982-7571710830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DC2B259-206A-4CDA-23F8-5032AC077998}"/>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2270903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7B0996-59BC-6537-055E-ACBCE2D8DF9D}"/>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3" name="Footer Placeholder 2">
            <a:extLst>
              <a:ext uri="{FF2B5EF4-FFF2-40B4-BE49-F238E27FC236}">
                <a16:creationId xmlns:a16="http://schemas.microsoft.com/office/drawing/2014/main" id="{82676792-2299-AECC-0DD3-65875EE32BD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5F85627-E902-66AA-3F39-A106D1A4C027}"/>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3702641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B7D71-2917-D90D-E9F1-7D9D5C223F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71A1EF-DC79-2198-EA8F-9D77672530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E5DA33E-B331-06DC-A99E-1EED1EB7C2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C96527-9EBC-B976-7C99-E0A2C2C68654}"/>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6" name="Footer Placeholder 5">
            <a:extLst>
              <a:ext uri="{FF2B5EF4-FFF2-40B4-BE49-F238E27FC236}">
                <a16:creationId xmlns:a16="http://schemas.microsoft.com/office/drawing/2014/main" id="{278B4715-9504-8EBF-F92F-AB30040DDE1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FBE65C-E18C-0A8A-E48B-E7C21B6613FA}"/>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20888507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4A43F-A72A-A81A-BFFC-8BC56A709F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AB17767-DF0E-37F9-40C0-BD4BB3E41B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AF6E17F-6B3F-D310-718F-7D6D6479C9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2E65D9-E257-9E9B-0D68-E25AC8F7E570}"/>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6" name="Footer Placeholder 5">
            <a:extLst>
              <a:ext uri="{FF2B5EF4-FFF2-40B4-BE49-F238E27FC236}">
                <a16:creationId xmlns:a16="http://schemas.microsoft.com/office/drawing/2014/main" id="{5CD3BFB3-BBE7-4E99-8815-BFFC5DA8DF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BA330C-DA8A-B7EC-0589-3ED4C5DBC5FB}"/>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289149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9ACAF-16F9-E251-38A7-48ACF65001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54A24C5-881A-E42C-1193-3435C8091D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60AF2E-326A-25D2-16E1-71EA65E16A97}"/>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5" name="Footer Placeholder 4">
            <a:extLst>
              <a:ext uri="{FF2B5EF4-FFF2-40B4-BE49-F238E27FC236}">
                <a16:creationId xmlns:a16="http://schemas.microsoft.com/office/drawing/2014/main" id="{A52851A2-EF69-680D-0B92-0142D90F09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70140E-893D-A444-5746-3FB847900D92}"/>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3437570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E42391-8375-7BF7-BCE5-430C3E15EC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1FBB9F3-6528-2DE3-9CCA-38116DA11F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6ECA79-4042-5786-9C91-0E5093232D28}"/>
              </a:ext>
            </a:extLst>
          </p:cNvPr>
          <p:cNvSpPr>
            <a:spLocks noGrp="1"/>
          </p:cNvSpPr>
          <p:nvPr>
            <p:ph type="dt" sz="half" idx="10"/>
          </p:nvPr>
        </p:nvSpPr>
        <p:spPr/>
        <p:txBody>
          <a:bodyPr/>
          <a:lstStyle/>
          <a:p>
            <a:fld id="{6E710069-D10A-0740-91CB-CD7096934637}" type="datetimeFigureOut">
              <a:rPr lang="en-US" smtClean="0"/>
              <a:t>4/22/26</a:t>
            </a:fld>
            <a:endParaRPr lang="en-US"/>
          </a:p>
        </p:txBody>
      </p:sp>
      <p:sp>
        <p:nvSpPr>
          <p:cNvPr id="5" name="Footer Placeholder 4">
            <a:extLst>
              <a:ext uri="{FF2B5EF4-FFF2-40B4-BE49-F238E27FC236}">
                <a16:creationId xmlns:a16="http://schemas.microsoft.com/office/drawing/2014/main" id="{18B69742-FD5D-B78C-1489-01189F2381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8FA61-1A92-83A0-E6C9-B7EA8E0B1E87}"/>
              </a:ext>
            </a:extLst>
          </p:cNvPr>
          <p:cNvSpPr>
            <a:spLocks noGrp="1"/>
          </p:cNvSpPr>
          <p:nvPr>
            <p:ph type="sldNum" sz="quarter" idx="12"/>
          </p:nvPr>
        </p:nvSpPr>
        <p:spPr/>
        <p:txBody>
          <a:bodyPr/>
          <a:lstStyle/>
          <a:p>
            <a:fld id="{1046D4F9-7609-5648-99E0-DEB5C060252E}" type="slidenum">
              <a:rPr lang="en-US" smtClean="0"/>
              <a:t>‹#›</a:t>
            </a:fld>
            <a:endParaRPr lang="en-US"/>
          </a:p>
        </p:txBody>
      </p:sp>
    </p:spTree>
    <p:extLst>
      <p:ext uri="{BB962C8B-B14F-4D97-AF65-F5344CB8AC3E}">
        <p14:creationId xmlns:p14="http://schemas.microsoft.com/office/powerpoint/2010/main" val="28434433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C443BA-8FE9-4627-CBD9-69EAB8C1CF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317F193-35B0-22D0-D7C7-0F04EEC75B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29012B-B4B4-C65E-B6F2-0814D49B99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E710069-D10A-0740-91CB-CD7096934637}" type="datetimeFigureOut">
              <a:rPr lang="en-US" smtClean="0"/>
              <a:t>4/22/26</a:t>
            </a:fld>
            <a:endParaRPr lang="en-US"/>
          </a:p>
        </p:txBody>
      </p:sp>
      <p:sp>
        <p:nvSpPr>
          <p:cNvPr id="5" name="Footer Placeholder 4">
            <a:extLst>
              <a:ext uri="{FF2B5EF4-FFF2-40B4-BE49-F238E27FC236}">
                <a16:creationId xmlns:a16="http://schemas.microsoft.com/office/drawing/2014/main" id="{45082F8D-6C2D-44B1-703A-9B968A1FE7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3D75AAD-8344-8F12-90E8-84FBE05A58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46D4F9-7609-5648-99E0-DEB5C060252E}" type="slidenum">
              <a:rPr lang="en-US" smtClean="0"/>
              <a:t>‹#›</a:t>
            </a:fld>
            <a:endParaRPr lang="en-US"/>
          </a:p>
        </p:txBody>
      </p:sp>
    </p:spTree>
    <p:extLst>
      <p:ext uri="{BB962C8B-B14F-4D97-AF65-F5344CB8AC3E}">
        <p14:creationId xmlns:p14="http://schemas.microsoft.com/office/powerpoint/2010/main" val="23101163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4A8D4-BCCB-17E8-1157-805E6AE9DECF}"/>
              </a:ext>
            </a:extLst>
          </p:cNvPr>
          <p:cNvSpPr>
            <a:spLocks noGrp="1"/>
          </p:cNvSpPr>
          <p:nvPr>
            <p:ph type="ctrTitle"/>
          </p:nvPr>
        </p:nvSpPr>
        <p:spPr/>
        <p:txBody>
          <a:bodyPr/>
          <a:lstStyle/>
          <a:p>
            <a:r>
              <a:rPr lang="zh-CN" altLang="en-US" dirty="0">
                <a:solidFill>
                  <a:schemeClr val="tx2">
                    <a:lumMod val="90000"/>
                    <a:lumOff val="10000"/>
                  </a:schemeClr>
                </a:solidFill>
              </a:rPr>
              <a:t>即时零售前置仓 </a:t>
            </a:r>
            <a:r>
              <a:rPr lang="en-US" dirty="0">
                <a:solidFill>
                  <a:schemeClr val="tx2">
                    <a:lumMod val="90000"/>
                    <a:lumOff val="10000"/>
                  </a:schemeClr>
                </a:solidFill>
              </a:rPr>
              <a:t>SKU </a:t>
            </a:r>
            <a:r>
              <a:rPr lang="zh-CN" altLang="en-US" dirty="0">
                <a:solidFill>
                  <a:schemeClr val="tx2">
                    <a:lumMod val="90000"/>
                    <a:lumOff val="10000"/>
                  </a:schemeClr>
                </a:solidFill>
              </a:rPr>
              <a:t>选品与库存配置联合优化研究</a:t>
            </a:r>
            <a:endParaRPr lang="en-US" dirty="0">
              <a:solidFill>
                <a:schemeClr val="tx2">
                  <a:lumMod val="90000"/>
                  <a:lumOff val="10000"/>
                </a:schemeClr>
              </a:solidFill>
            </a:endParaRPr>
          </a:p>
        </p:txBody>
      </p:sp>
      <p:sp>
        <p:nvSpPr>
          <p:cNvPr id="3" name="Subtitle 2">
            <a:extLst>
              <a:ext uri="{FF2B5EF4-FFF2-40B4-BE49-F238E27FC236}">
                <a16:creationId xmlns:a16="http://schemas.microsoft.com/office/drawing/2014/main" id="{3295287C-483E-3943-639D-D576E4CA26B0}"/>
              </a:ext>
            </a:extLst>
          </p:cNvPr>
          <p:cNvSpPr>
            <a:spLocks noGrp="1"/>
          </p:cNvSpPr>
          <p:nvPr>
            <p:ph type="subTitle" idx="1"/>
          </p:nvPr>
        </p:nvSpPr>
        <p:spPr>
          <a:xfrm>
            <a:off x="1524000" y="3602038"/>
            <a:ext cx="9144000" cy="360362"/>
          </a:xfrm>
        </p:spPr>
        <p:txBody>
          <a:bodyPr>
            <a:normAutofit fontScale="92500" lnSpcReduction="10000"/>
          </a:bodyPr>
          <a:lstStyle/>
          <a:p>
            <a:r>
              <a:rPr lang="en-US" dirty="0" err="1"/>
              <a:t>汇报人</a:t>
            </a:r>
            <a:r>
              <a:rPr lang="zh-CN" altLang="en-US" dirty="0"/>
              <a:t>：王牧天</a:t>
            </a:r>
            <a:endParaRPr lang="en-US" altLang="zh-CN" dirty="0"/>
          </a:p>
          <a:p>
            <a:endParaRPr lang="en-US" dirty="0"/>
          </a:p>
        </p:txBody>
      </p:sp>
    </p:spTree>
    <p:extLst>
      <p:ext uri="{BB962C8B-B14F-4D97-AF65-F5344CB8AC3E}">
        <p14:creationId xmlns:p14="http://schemas.microsoft.com/office/powerpoint/2010/main" val="290007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43455-E88E-65A5-AB79-DE233CC622B3}"/>
              </a:ext>
            </a:extLst>
          </p:cNvPr>
          <p:cNvSpPr>
            <a:spLocks noGrp="1"/>
          </p:cNvSpPr>
          <p:nvPr>
            <p:ph type="title"/>
          </p:nvPr>
        </p:nvSpPr>
        <p:spPr>
          <a:xfrm>
            <a:off x="-1" y="0"/>
            <a:ext cx="10802679" cy="910782"/>
          </a:xfrm>
        </p:spPr>
        <p:txBody>
          <a:bodyPr>
            <a:normAutofit/>
          </a:bodyPr>
          <a:lstStyle/>
          <a:p>
            <a:r>
              <a:rPr lang="en-US" dirty="0" err="1">
                <a:solidFill>
                  <a:schemeClr val="tx2">
                    <a:lumMod val="90000"/>
                    <a:lumOff val="10000"/>
                  </a:schemeClr>
                </a:solidFill>
              </a:rPr>
              <a:t>研究背景</a:t>
            </a:r>
            <a:r>
              <a:rPr lang="zh-CN" altLang="en-US" dirty="0">
                <a:solidFill>
                  <a:schemeClr val="tx2">
                    <a:lumMod val="90000"/>
                    <a:lumOff val="10000"/>
                  </a:schemeClr>
                </a:solidFill>
              </a:rPr>
              <a:t>：前置仓运营中的核心矛盾</a:t>
            </a:r>
            <a:endParaRPr lang="en-US" dirty="0">
              <a:solidFill>
                <a:schemeClr val="tx2">
                  <a:lumMod val="90000"/>
                  <a:lumOff val="10000"/>
                </a:schemeClr>
              </a:solidFill>
            </a:endParaRPr>
          </a:p>
        </p:txBody>
      </p:sp>
      <p:sp>
        <p:nvSpPr>
          <p:cNvPr id="3" name="Content Placeholder 2">
            <a:extLst>
              <a:ext uri="{FF2B5EF4-FFF2-40B4-BE49-F238E27FC236}">
                <a16:creationId xmlns:a16="http://schemas.microsoft.com/office/drawing/2014/main" id="{3781F6DD-A702-8ABA-CCE9-3E7D794A4496}"/>
              </a:ext>
            </a:extLst>
          </p:cNvPr>
          <p:cNvSpPr>
            <a:spLocks noGrp="1"/>
          </p:cNvSpPr>
          <p:nvPr>
            <p:ph idx="1"/>
          </p:nvPr>
        </p:nvSpPr>
        <p:spPr>
          <a:xfrm>
            <a:off x="954269" y="1720243"/>
            <a:ext cx="10453577" cy="2518219"/>
          </a:xfrm>
        </p:spPr>
        <p:txBody>
          <a:bodyPr>
            <a:normAutofit lnSpcReduction="10000"/>
          </a:bodyPr>
          <a:lstStyle/>
          <a:p>
            <a:r>
              <a:rPr lang="zh-CN" altLang="en-US" dirty="0"/>
              <a:t>即时零售要求高时效、低缺货和较丰富的 </a:t>
            </a:r>
            <a:r>
              <a:rPr lang="en-US" dirty="0"/>
              <a:t>SKU </a:t>
            </a:r>
            <a:r>
              <a:rPr lang="zh-CN" altLang="en-US" dirty="0"/>
              <a:t>覆盖</a:t>
            </a:r>
          </a:p>
          <a:p>
            <a:r>
              <a:rPr lang="zh-CN" altLang="en-US" dirty="0"/>
              <a:t>前置仓面积有限，无法实现“全品全量”</a:t>
            </a:r>
          </a:p>
          <a:p>
            <a:r>
              <a:rPr lang="en-US" dirty="0"/>
              <a:t>SKU </a:t>
            </a:r>
            <a:r>
              <a:rPr lang="zh-CN" altLang="en-US" dirty="0"/>
              <a:t>太多会占用仓容并提高管理复杂度</a:t>
            </a:r>
          </a:p>
          <a:p>
            <a:r>
              <a:rPr lang="en-US" dirty="0"/>
              <a:t>SKU </a:t>
            </a:r>
            <a:r>
              <a:rPr lang="zh-CN" altLang="en-US" dirty="0"/>
              <a:t>太少会降低需求覆盖率并损害顾客体验</a:t>
            </a:r>
          </a:p>
          <a:p>
            <a:r>
              <a:rPr lang="zh-CN" altLang="en-US" dirty="0"/>
              <a:t>因此，前置仓必须在</a:t>
            </a:r>
            <a:r>
              <a:rPr lang="zh-CN" altLang="en-US" b="1" dirty="0"/>
              <a:t>选品广度</a:t>
            </a:r>
            <a:r>
              <a:rPr lang="zh-CN" altLang="en-US" dirty="0"/>
              <a:t>与</a:t>
            </a:r>
            <a:r>
              <a:rPr lang="zh-CN" altLang="en-US" b="1" dirty="0"/>
              <a:t>备货深度</a:t>
            </a:r>
            <a:r>
              <a:rPr lang="zh-CN" altLang="en-US" dirty="0"/>
              <a:t>之间做联合决策</a:t>
            </a:r>
          </a:p>
          <a:p>
            <a:pPr marL="0" indent="0">
              <a:buNone/>
            </a:pPr>
            <a:endParaRPr lang="en-US" dirty="0"/>
          </a:p>
        </p:txBody>
      </p:sp>
      <p:sp>
        <p:nvSpPr>
          <p:cNvPr id="4" name="TextBox 3">
            <a:extLst>
              <a:ext uri="{FF2B5EF4-FFF2-40B4-BE49-F238E27FC236}">
                <a16:creationId xmlns:a16="http://schemas.microsoft.com/office/drawing/2014/main" id="{A581FBE0-EB3C-049D-D38B-601E390F75B1}"/>
              </a:ext>
            </a:extLst>
          </p:cNvPr>
          <p:cNvSpPr txBox="1"/>
          <p:nvPr/>
        </p:nvSpPr>
        <p:spPr>
          <a:xfrm>
            <a:off x="170119" y="5137757"/>
            <a:ext cx="12021879" cy="861774"/>
          </a:xfrm>
          <a:prstGeom prst="rect">
            <a:avLst/>
          </a:prstGeom>
          <a:noFill/>
        </p:spPr>
        <p:txBody>
          <a:bodyPr wrap="square" rtlCol="0">
            <a:spAutoFit/>
          </a:bodyPr>
          <a:lstStyle/>
          <a:p>
            <a:r>
              <a:rPr lang="en-US" sz="5000" dirty="0" err="1">
                <a:solidFill>
                  <a:srgbClr val="FF0000"/>
                </a:solidFill>
              </a:rPr>
              <a:t>消费者需求</a:t>
            </a:r>
            <a:r>
              <a:rPr lang="zh-CN" altLang="en-US" sz="5000" dirty="0">
                <a:solidFill>
                  <a:srgbClr val="FF0000"/>
                </a:solidFill>
              </a:rPr>
              <a:t> </a:t>
            </a:r>
            <a:r>
              <a:rPr lang="en-US" altLang="zh-CN" sz="5000" dirty="0">
                <a:solidFill>
                  <a:srgbClr val="FF0000"/>
                </a:solidFill>
              </a:rPr>
              <a:t>VS</a:t>
            </a:r>
            <a:r>
              <a:rPr lang="zh-CN" altLang="en-US" sz="5000" dirty="0">
                <a:solidFill>
                  <a:srgbClr val="FF0000"/>
                </a:solidFill>
              </a:rPr>
              <a:t> 仓容有限 </a:t>
            </a:r>
            <a:r>
              <a:rPr lang="en-US" altLang="zh-CN" sz="5000" dirty="0">
                <a:solidFill>
                  <a:srgbClr val="FF0000"/>
                </a:solidFill>
              </a:rPr>
              <a:t>VS</a:t>
            </a:r>
            <a:r>
              <a:rPr lang="zh-CN" altLang="en-US" sz="5000" dirty="0">
                <a:solidFill>
                  <a:srgbClr val="FF0000"/>
                </a:solidFill>
              </a:rPr>
              <a:t> 缺货</a:t>
            </a:r>
            <a:r>
              <a:rPr lang="en-US" altLang="zh-CN" sz="5000" dirty="0">
                <a:solidFill>
                  <a:srgbClr val="FF0000"/>
                </a:solidFill>
              </a:rPr>
              <a:t>/</a:t>
            </a:r>
            <a:r>
              <a:rPr lang="zh-CN" altLang="en-US" sz="5000" dirty="0">
                <a:solidFill>
                  <a:srgbClr val="FF0000"/>
                </a:solidFill>
              </a:rPr>
              <a:t>滞销风险</a:t>
            </a:r>
            <a:endParaRPr lang="en-US" sz="5000" dirty="0">
              <a:solidFill>
                <a:srgbClr val="FF0000"/>
              </a:solidFill>
            </a:endParaRPr>
          </a:p>
        </p:txBody>
      </p:sp>
    </p:spTree>
    <p:extLst>
      <p:ext uri="{BB962C8B-B14F-4D97-AF65-F5344CB8AC3E}">
        <p14:creationId xmlns:p14="http://schemas.microsoft.com/office/powerpoint/2010/main" val="28583600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E2D20-BC4A-D1A3-A26E-CD240D204A37}"/>
              </a:ext>
            </a:extLst>
          </p:cNvPr>
          <p:cNvSpPr>
            <a:spLocks noGrp="1"/>
          </p:cNvSpPr>
          <p:nvPr>
            <p:ph type="title"/>
          </p:nvPr>
        </p:nvSpPr>
        <p:spPr>
          <a:xfrm>
            <a:off x="0" y="18256"/>
            <a:ext cx="1947530" cy="662782"/>
          </a:xfrm>
        </p:spPr>
        <p:txBody>
          <a:bodyPr vert="horz" lIns="91440" tIns="45720" rIns="91440" bIns="45720" rtlCol="0" anchor="ctr">
            <a:normAutofit fontScale="90000"/>
          </a:bodyPr>
          <a:lstStyle/>
          <a:p>
            <a:r>
              <a:rPr lang="en-US" dirty="0" err="1">
                <a:solidFill>
                  <a:schemeClr val="tx2">
                    <a:lumMod val="90000"/>
                    <a:lumOff val="10000"/>
                  </a:schemeClr>
                </a:solidFill>
              </a:rPr>
              <a:t>目标</a:t>
            </a:r>
            <a:endParaRPr lang="en-US" dirty="0">
              <a:solidFill>
                <a:schemeClr val="tx2">
                  <a:lumMod val="90000"/>
                  <a:lumOff val="10000"/>
                </a:schemeClr>
              </a:solidFill>
            </a:endParaRPr>
          </a:p>
        </p:txBody>
      </p:sp>
      <p:sp>
        <p:nvSpPr>
          <p:cNvPr id="3" name="Content Placeholder 2">
            <a:extLst>
              <a:ext uri="{FF2B5EF4-FFF2-40B4-BE49-F238E27FC236}">
                <a16:creationId xmlns:a16="http://schemas.microsoft.com/office/drawing/2014/main" id="{0562687E-5039-DF42-C2BB-A341A1B3B1E7}"/>
              </a:ext>
            </a:extLst>
          </p:cNvPr>
          <p:cNvSpPr>
            <a:spLocks noGrp="1"/>
          </p:cNvSpPr>
          <p:nvPr>
            <p:ph idx="1"/>
          </p:nvPr>
        </p:nvSpPr>
        <p:spPr>
          <a:xfrm>
            <a:off x="838200" y="953754"/>
            <a:ext cx="10515600" cy="5553372"/>
          </a:xfrm>
        </p:spPr>
        <p:txBody>
          <a:bodyPr>
            <a:normAutofit lnSpcReduction="10000"/>
          </a:bodyPr>
          <a:lstStyle/>
          <a:p>
            <a:pPr marL="0" indent="0">
              <a:buNone/>
            </a:pPr>
            <a:r>
              <a:rPr lang="en-US" sz="5400" b="1" dirty="0" err="1"/>
              <a:t>三个问题</a:t>
            </a:r>
            <a:r>
              <a:rPr lang="zh-CN" altLang="en-US" sz="5400" b="1" dirty="0"/>
              <a:t>：</a:t>
            </a:r>
            <a:endParaRPr lang="en-US" altLang="zh-CN" sz="5400" b="1" dirty="0"/>
          </a:p>
          <a:p>
            <a:endParaRPr lang="en-US" altLang="zh-CN" dirty="0"/>
          </a:p>
          <a:p>
            <a:r>
              <a:rPr lang="en-US" altLang="zh-CN" dirty="0"/>
              <a:t>1.</a:t>
            </a:r>
            <a:r>
              <a:rPr lang="zh-CN" altLang="en-US" dirty="0"/>
              <a:t> 在双资源约束下，联合优化是否优于简单局部启发式方法？</a:t>
            </a:r>
            <a:endParaRPr lang="en-US" altLang="zh-CN" dirty="0"/>
          </a:p>
          <a:p>
            <a:r>
              <a:rPr lang="en-US" dirty="0"/>
              <a:t>2. </a:t>
            </a:r>
            <a:r>
              <a:rPr lang="zh-CN" altLang="en-US" dirty="0"/>
              <a:t>将文献启发式 </a:t>
            </a:r>
            <a:r>
              <a:rPr lang="en-US" dirty="0"/>
              <a:t>baseline </a:t>
            </a:r>
            <a:r>
              <a:rPr lang="zh-CN" altLang="en-US" dirty="0"/>
              <a:t>纳入统一 </a:t>
            </a:r>
            <a:r>
              <a:rPr lang="en-US" dirty="0"/>
              <a:t>benchmark </a:t>
            </a:r>
            <a:r>
              <a:rPr lang="zh-CN" altLang="en-US" dirty="0"/>
              <a:t>后，主方法与基线方法的排序是否一致？</a:t>
            </a:r>
            <a:endParaRPr lang="en-US" dirty="0"/>
          </a:p>
          <a:p>
            <a:r>
              <a:rPr lang="en-US" dirty="0"/>
              <a:t>3. </a:t>
            </a:r>
            <a:r>
              <a:rPr lang="zh-CN" altLang="en-US" dirty="0"/>
              <a:t>当评价口径从 </a:t>
            </a:r>
            <a:r>
              <a:rPr lang="en-US" dirty="0"/>
              <a:t>SKU </a:t>
            </a:r>
            <a:r>
              <a:rPr lang="zh-CN" altLang="en-US" dirty="0"/>
              <a:t>级 </a:t>
            </a:r>
            <a:r>
              <a:rPr lang="en-US" dirty="0"/>
              <a:t>fill rate </a:t>
            </a:r>
            <a:r>
              <a:rPr lang="zh-CN" altLang="en-US" dirty="0"/>
              <a:t>转向整单</a:t>
            </a:r>
            <a:r>
              <a:rPr lang="en-US" altLang="zh-CN" dirty="0"/>
              <a:t>/</a:t>
            </a:r>
            <a:r>
              <a:rPr lang="zh-CN" altLang="en-US" dirty="0"/>
              <a:t>部分履约时，结论是否会发生变化？</a:t>
            </a:r>
            <a:endParaRPr lang="en-US" altLang="zh-CN" dirty="0"/>
          </a:p>
          <a:p>
            <a:endParaRPr lang="en-US" dirty="0"/>
          </a:p>
          <a:p>
            <a:endParaRPr lang="en-US" dirty="0"/>
          </a:p>
          <a:p>
            <a:r>
              <a:rPr lang="zh-CN" altLang="en-US" b="1" dirty="0"/>
              <a:t>核心目标</a:t>
            </a:r>
            <a:r>
              <a:rPr lang="zh-CN" altLang="en-US" dirty="0"/>
              <a:t>：在有限仓容下提升服务水平，并用更贴近业务 </a:t>
            </a:r>
            <a:r>
              <a:rPr lang="en-US" dirty="0"/>
              <a:t>KPI </a:t>
            </a:r>
            <a:r>
              <a:rPr lang="zh-CN" altLang="en-US" dirty="0"/>
              <a:t>的方式评价算法优劣。</a:t>
            </a:r>
            <a:endParaRPr lang="en-US" dirty="0"/>
          </a:p>
        </p:txBody>
      </p:sp>
    </p:spTree>
    <p:extLst>
      <p:ext uri="{BB962C8B-B14F-4D97-AF65-F5344CB8AC3E}">
        <p14:creationId xmlns:p14="http://schemas.microsoft.com/office/powerpoint/2010/main" val="17601904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C4556E1-48FE-B73A-6795-C48C553663AA}"/>
              </a:ext>
            </a:extLst>
          </p:cNvPr>
          <p:cNvSpPr>
            <a:spLocks noGrp="1"/>
          </p:cNvSpPr>
          <p:nvPr>
            <p:ph idx="1"/>
          </p:nvPr>
        </p:nvSpPr>
        <p:spPr>
          <a:xfrm>
            <a:off x="0" y="1148871"/>
            <a:ext cx="12192000" cy="5443316"/>
          </a:xfrm>
        </p:spPr>
        <p:txBody>
          <a:bodyPr>
            <a:normAutofit/>
          </a:bodyPr>
          <a:lstStyle/>
          <a:p>
            <a:pPr marL="0" indent="0">
              <a:buNone/>
            </a:pPr>
            <a:r>
              <a:rPr lang="zh-CN" altLang="en-US" dirty="0"/>
              <a:t>现有研究主要分为三类：</a:t>
            </a:r>
          </a:p>
          <a:p>
            <a:pPr marL="514350" indent="-514350">
              <a:buFont typeface="+mj-lt"/>
              <a:buAutoNum type="arabicPeriod"/>
            </a:pPr>
            <a:r>
              <a:rPr lang="en-US" b="1" dirty="0"/>
              <a:t>Assortment optimization</a:t>
            </a:r>
            <a:r>
              <a:rPr lang="en-US" dirty="0"/>
              <a:t>：</a:t>
            </a:r>
            <a:r>
              <a:rPr lang="zh-CN" altLang="en-US" dirty="0"/>
              <a:t>关注“放哪些商品”，较少同时处理库存深度</a:t>
            </a:r>
          </a:p>
          <a:p>
            <a:pPr marL="514350" indent="-514350">
              <a:buFont typeface="+mj-lt"/>
              <a:buAutoNum type="arabicPeriod"/>
            </a:pPr>
            <a:r>
              <a:rPr lang="en-US" b="1" dirty="0"/>
              <a:t>Inventory planning</a:t>
            </a:r>
            <a:r>
              <a:rPr lang="en-US" dirty="0"/>
              <a:t>：</a:t>
            </a:r>
            <a:r>
              <a:rPr lang="zh-CN" altLang="en-US" dirty="0"/>
              <a:t>关注“给定商品后放多少”，通常不处理 </a:t>
            </a:r>
            <a:r>
              <a:rPr lang="en-US" dirty="0"/>
              <a:t>SKU </a:t>
            </a:r>
            <a:r>
              <a:rPr lang="zh-CN" altLang="en-US" dirty="0"/>
              <a:t>进入决策</a:t>
            </a:r>
          </a:p>
          <a:p>
            <a:pPr marL="514350" indent="-514350">
              <a:buFont typeface="+mj-lt"/>
              <a:buAutoNum type="arabicPeriod"/>
            </a:pPr>
            <a:r>
              <a:rPr lang="en-US" b="1" dirty="0"/>
              <a:t>Joint assortment-inventory optimization</a:t>
            </a:r>
            <a:r>
              <a:rPr lang="en-US" dirty="0"/>
              <a:t>：</a:t>
            </a:r>
            <a:r>
              <a:rPr lang="zh-CN" altLang="en-US" dirty="0"/>
              <a:t>更接近本文问题，但往往依赖更强的数据条件或替代行为建模</a:t>
            </a:r>
          </a:p>
          <a:p>
            <a:pPr marL="0" indent="0">
              <a:buNone/>
            </a:pPr>
            <a:r>
              <a:rPr lang="zh-CN" altLang="en-US" b="1" dirty="0"/>
              <a:t>本文定位</a:t>
            </a:r>
            <a:endParaRPr lang="zh-CN" altLang="en-US" dirty="0"/>
          </a:p>
          <a:p>
            <a:r>
              <a:rPr lang="zh-CN" altLang="en-US" dirty="0"/>
              <a:t>研究对象：前置仓、小仓、双资源约束场景</a:t>
            </a:r>
          </a:p>
          <a:p>
            <a:r>
              <a:rPr lang="zh-CN" altLang="en-US" dirty="0"/>
              <a:t>研究问题：</a:t>
            </a:r>
            <a:r>
              <a:rPr lang="en-US" dirty="0"/>
              <a:t>SKU </a:t>
            </a:r>
            <a:r>
              <a:rPr lang="zh-CN" altLang="en-US" dirty="0"/>
              <a:t>是否进入 </a:t>
            </a:r>
            <a:r>
              <a:rPr lang="en-US" altLang="zh-CN" dirty="0"/>
              <a:t>+ </a:t>
            </a:r>
            <a:r>
              <a:rPr lang="zh-CN" altLang="en-US" dirty="0"/>
              <a:t>进入后备多少</a:t>
            </a:r>
          </a:p>
          <a:p>
            <a:r>
              <a:rPr lang="zh-CN" altLang="en-US" dirty="0"/>
              <a:t>研究特征：真实历史需求、滚动窗口、订单级 </a:t>
            </a:r>
            <a:r>
              <a:rPr lang="en-US" dirty="0"/>
              <a:t>replay</a:t>
            </a:r>
            <a:r>
              <a:rPr lang="zh-CN" altLang="en-US" dirty="0"/>
              <a:t>、</a:t>
            </a:r>
            <a:r>
              <a:rPr lang="en-US" dirty="0"/>
              <a:t>literature-inspired benchmark</a:t>
            </a:r>
          </a:p>
          <a:p>
            <a:endParaRPr lang="en-US" dirty="0"/>
          </a:p>
        </p:txBody>
      </p:sp>
      <p:sp>
        <p:nvSpPr>
          <p:cNvPr id="4" name="Title 1">
            <a:extLst>
              <a:ext uri="{FF2B5EF4-FFF2-40B4-BE49-F238E27FC236}">
                <a16:creationId xmlns:a16="http://schemas.microsoft.com/office/drawing/2014/main" id="{4C1F0ED1-C03D-DE31-C13A-99734CE52DB0}"/>
              </a:ext>
            </a:extLst>
          </p:cNvPr>
          <p:cNvSpPr txBox="1">
            <a:spLocks/>
          </p:cNvSpPr>
          <p:nvPr/>
        </p:nvSpPr>
        <p:spPr>
          <a:xfrm>
            <a:off x="0" y="18256"/>
            <a:ext cx="1947530" cy="662782"/>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solidFill>
                  <a:schemeClr val="tx2">
                    <a:lumMod val="90000"/>
                    <a:lumOff val="10000"/>
                  </a:schemeClr>
                </a:solidFill>
              </a:rPr>
              <a:t>文献综述</a:t>
            </a:r>
            <a:endParaRPr lang="en-US" dirty="0">
              <a:solidFill>
                <a:schemeClr val="tx2">
                  <a:lumMod val="90000"/>
                  <a:lumOff val="10000"/>
                </a:schemeClr>
              </a:solidFill>
            </a:endParaRPr>
          </a:p>
        </p:txBody>
      </p:sp>
    </p:spTree>
    <p:extLst>
      <p:ext uri="{BB962C8B-B14F-4D97-AF65-F5344CB8AC3E}">
        <p14:creationId xmlns:p14="http://schemas.microsoft.com/office/powerpoint/2010/main" val="48484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ounded Rectangle 52">
            <a:extLst>
              <a:ext uri="{FF2B5EF4-FFF2-40B4-BE49-F238E27FC236}">
                <a16:creationId xmlns:a16="http://schemas.microsoft.com/office/drawing/2014/main" id="{732CC578-9C3F-1A40-0D3A-8060DF748DFA}"/>
              </a:ext>
            </a:extLst>
          </p:cNvPr>
          <p:cNvSpPr/>
          <p:nvPr/>
        </p:nvSpPr>
        <p:spPr>
          <a:xfrm>
            <a:off x="9142709" y="4666356"/>
            <a:ext cx="1708045"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51">
            <a:extLst>
              <a:ext uri="{FF2B5EF4-FFF2-40B4-BE49-F238E27FC236}">
                <a16:creationId xmlns:a16="http://schemas.microsoft.com/office/drawing/2014/main" id="{CCEAC2E9-6CFC-2A51-A9BB-9BD3ECA77817}"/>
              </a:ext>
            </a:extLst>
          </p:cNvPr>
          <p:cNvSpPr/>
          <p:nvPr/>
        </p:nvSpPr>
        <p:spPr>
          <a:xfrm>
            <a:off x="4771861" y="4628787"/>
            <a:ext cx="2056435"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50">
            <a:extLst>
              <a:ext uri="{FF2B5EF4-FFF2-40B4-BE49-F238E27FC236}">
                <a16:creationId xmlns:a16="http://schemas.microsoft.com/office/drawing/2014/main" id="{2D1465E8-55D2-6572-13BE-8EA7401A8CA2}"/>
              </a:ext>
            </a:extLst>
          </p:cNvPr>
          <p:cNvSpPr/>
          <p:nvPr/>
        </p:nvSpPr>
        <p:spPr>
          <a:xfrm>
            <a:off x="788957" y="4678583"/>
            <a:ext cx="1735975"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49">
            <a:extLst>
              <a:ext uri="{FF2B5EF4-FFF2-40B4-BE49-F238E27FC236}">
                <a16:creationId xmlns:a16="http://schemas.microsoft.com/office/drawing/2014/main" id="{90202DC5-32BF-6539-6484-BE8554142670}"/>
              </a:ext>
            </a:extLst>
          </p:cNvPr>
          <p:cNvSpPr/>
          <p:nvPr/>
        </p:nvSpPr>
        <p:spPr>
          <a:xfrm>
            <a:off x="905356" y="3039570"/>
            <a:ext cx="1566621"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ounded Rectangle 48">
            <a:extLst>
              <a:ext uri="{FF2B5EF4-FFF2-40B4-BE49-F238E27FC236}">
                <a16:creationId xmlns:a16="http://schemas.microsoft.com/office/drawing/2014/main" id="{3D7E8970-02A2-A4F1-B0FD-58F2C45272D6}"/>
              </a:ext>
            </a:extLst>
          </p:cNvPr>
          <p:cNvSpPr/>
          <p:nvPr/>
        </p:nvSpPr>
        <p:spPr>
          <a:xfrm>
            <a:off x="5135753" y="3027358"/>
            <a:ext cx="1398720"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ounded Rectangle 47">
            <a:extLst>
              <a:ext uri="{FF2B5EF4-FFF2-40B4-BE49-F238E27FC236}">
                <a16:creationId xmlns:a16="http://schemas.microsoft.com/office/drawing/2014/main" id="{71507FE6-AA1F-8820-3221-D3E5CE5418F5}"/>
              </a:ext>
            </a:extLst>
          </p:cNvPr>
          <p:cNvSpPr/>
          <p:nvPr/>
        </p:nvSpPr>
        <p:spPr>
          <a:xfrm>
            <a:off x="9096214" y="3059668"/>
            <a:ext cx="1566621"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ounded Rectangle 46">
            <a:extLst>
              <a:ext uri="{FF2B5EF4-FFF2-40B4-BE49-F238E27FC236}">
                <a16:creationId xmlns:a16="http://schemas.microsoft.com/office/drawing/2014/main" id="{F30014BC-3876-6A97-49E3-AF2BCC1B6A72}"/>
              </a:ext>
            </a:extLst>
          </p:cNvPr>
          <p:cNvSpPr/>
          <p:nvPr/>
        </p:nvSpPr>
        <p:spPr>
          <a:xfrm>
            <a:off x="9034867" y="1314727"/>
            <a:ext cx="1441988"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ounded Rectangle 45">
            <a:extLst>
              <a:ext uri="{FF2B5EF4-FFF2-40B4-BE49-F238E27FC236}">
                <a16:creationId xmlns:a16="http://schemas.microsoft.com/office/drawing/2014/main" id="{23E88D10-80C7-170A-A402-E906B6C75C3E}"/>
              </a:ext>
            </a:extLst>
          </p:cNvPr>
          <p:cNvSpPr/>
          <p:nvPr/>
        </p:nvSpPr>
        <p:spPr>
          <a:xfrm>
            <a:off x="4401519" y="1358592"/>
            <a:ext cx="2708329"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ounded Rectangle 43">
            <a:extLst>
              <a:ext uri="{FF2B5EF4-FFF2-40B4-BE49-F238E27FC236}">
                <a16:creationId xmlns:a16="http://schemas.microsoft.com/office/drawing/2014/main" id="{B2C68AC5-1E42-B366-4DFC-642286B07D09}"/>
              </a:ext>
            </a:extLst>
          </p:cNvPr>
          <p:cNvSpPr/>
          <p:nvPr/>
        </p:nvSpPr>
        <p:spPr>
          <a:xfrm>
            <a:off x="920856" y="1347037"/>
            <a:ext cx="1566621" cy="4016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E23D5D-4DD3-3BD2-6A9D-E13B2EE938FD}"/>
              </a:ext>
            </a:extLst>
          </p:cNvPr>
          <p:cNvSpPr>
            <a:spLocks noGrp="1"/>
          </p:cNvSpPr>
          <p:nvPr>
            <p:ph type="title"/>
          </p:nvPr>
        </p:nvSpPr>
        <p:spPr>
          <a:xfrm>
            <a:off x="0" y="0"/>
            <a:ext cx="2524932" cy="781750"/>
          </a:xfrm>
        </p:spPr>
        <p:txBody>
          <a:bodyPr/>
          <a:lstStyle/>
          <a:p>
            <a:r>
              <a:rPr lang="en-US" dirty="0" err="1"/>
              <a:t>研究框架</a:t>
            </a:r>
            <a:endParaRPr lang="en-US" dirty="0"/>
          </a:p>
        </p:txBody>
      </p:sp>
      <p:sp>
        <p:nvSpPr>
          <p:cNvPr id="4" name="TextBox 3">
            <a:extLst>
              <a:ext uri="{FF2B5EF4-FFF2-40B4-BE49-F238E27FC236}">
                <a16:creationId xmlns:a16="http://schemas.microsoft.com/office/drawing/2014/main" id="{643F07C2-4F80-FE41-FB18-F74A5348BE86}"/>
              </a:ext>
            </a:extLst>
          </p:cNvPr>
          <p:cNvSpPr txBox="1"/>
          <p:nvPr/>
        </p:nvSpPr>
        <p:spPr>
          <a:xfrm>
            <a:off x="883403" y="1379348"/>
            <a:ext cx="1641529" cy="371959"/>
          </a:xfrm>
          <a:prstGeom prst="rect">
            <a:avLst/>
          </a:prstGeom>
          <a:noFill/>
        </p:spPr>
        <p:txBody>
          <a:bodyPr wrap="square" rtlCol="0">
            <a:spAutoFit/>
          </a:bodyPr>
          <a:lstStyle/>
          <a:p>
            <a:r>
              <a:rPr lang="en-US" dirty="0" err="1">
                <a:solidFill>
                  <a:schemeClr val="bg1"/>
                </a:solidFill>
              </a:rPr>
              <a:t>原始交易数据</a:t>
            </a:r>
            <a:endParaRPr lang="en-US" dirty="0">
              <a:solidFill>
                <a:schemeClr val="bg1"/>
              </a:solidFill>
            </a:endParaRPr>
          </a:p>
        </p:txBody>
      </p:sp>
      <p:cxnSp>
        <p:nvCxnSpPr>
          <p:cNvPr id="6" name="Straight Arrow Connector 5">
            <a:extLst>
              <a:ext uri="{FF2B5EF4-FFF2-40B4-BE49-F238E27FC236}">
                <a16:creationId xmlns:a16="http://schemas.microsoft.com/office/drawing/2014/main" id="{C209AF2C-6F33-88FC-7995-6F5719A912EA}"/>
              </a:ext>
            </a:extLst>
          </p:cNvPr>
          <p:cNvCxnSpPr>
            <a:stCxn id="4" idx="3"/>
          </p:cNvCxnSpPr>
          <p:nvPr/>
        </p:nvCxnSpPr>
        <p:spPr>
          <a:xfrm flipV="1">
            <a:off x="2524932" y="1549831"/>
            <a:ext cx="1876587" cy="154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0F96221A-9609-5950-3808-A29AEA7BF3AD}"/>
              </a:ext>
            </a:extLst>
          </p:cNvPr>
          <p:cNvSpPr txBox="1"/>
          <p:nvPr/>
        </p:nvSpPr>
        <p:spPr>
          <a:xfrm>
            <a:off x="4401519" y="1379347"/>
            <a:ext cx="2851688" cy="369332"/>
          </a:xfrm>
          <a:prstGeom prst="rect">
            <a:avLst/>
          </a:prstGeom>
          <a:noFill/>
        </p:spPr>
        <p:txBody>
          <a:bodyPr wrap="square" rtlCol="0">
            <a:spAutoFit/>
          </a:bodyPr>
          <a:lstStyle/>
          <a:p>
            <a:r>
              <a:rPr lang="zh-CN" altLang="en-US" dirty="0">
                <a:solidFill>
                  <a:schemeClr val="bg1"/>
                </a:solidFill>
              </a:rPr>
              <a:t>数据清洗与候选 </a:t>
            </a:r>
            <a:r>
              <a:rPr lang="en-US" dirty="0">
                <a:solidFill>
                  <a:schemeClr val="bg1"/>
                </a:solidFill>
              </a:rPr>
              <a:t>SKU </a:t>
            </a:r>
            <a:r>
              <a:rPr lang="zh-CN" altLang="en-US" dirty="0">
                <a:solidFill>
                  <a:schemeClr val="bg1"/>
                </a:solidFill>
              </a:rPr>
              <a:t>构建</a:t>
            </a:r>
            <a:endParaRPr lang="en-US" dirty="0">
              <a:solidFill>
                <a:schemeClr val="bg1"/>
              </a:solidFill>
            </a:endParaRPr>
          </a:p>
        </p:txBody>
      </p:sp>
      <p:sp>
        <p:nvSpPr>
          <p:cNvPr id="9" name="TextBox 8">
            <a:extLst>
              <a:ext uri="{FF2B5EF4-FFF2-40B4-BE49-F238E27FC236}">
                <a16:creationId xmlns:a16="http://schemas.microsoft.com/office/drawing/2014/main" id="{DA439257-3D0D-9FC1-AFE9-F537394B9337}"/>
              </a:ext>
            </a:extLst>
          </p:cNvPr>
          <p:cNvSpPr txBox="1"/>
          <p:nvPr/>
        </p:nvSpPr>
        <p:spPr>
          <a:xfrm>
            <a:off x="8986435" y="1347037"/>
            <a:ext cx="1755183" cy="369332"/>
          </a:xfrm>
          <a:prstGeom prst="rect">
            <a:avLst/>
          </a:prstGeom>
          <a:noFill/>
        </p:spPr>
        <p:txBody>
          <a:bodyPr wrap="square">
            <a:spAutoFit/>
          </a:bodyPr>
          <a:lstStyle/>
          <a:p>
            <a:r>
              <a:rPr lang="zh-CN" altLang="en-US" b="0" i="0" dirty="0">
                <a:solidFill>
                  <a:schemeClr val="bg1"/>
                </a:solidFill>
                <a:effectLst/>
                <a:latin typeface="-apple-system"/>
              </a:rPr>
              <a:t>需求参数估计</a:t>
            </a:r>
            <a:endParaRPr lang="en-US" dirty="0">
              <a:solidFill>
                <a:schemeClr val="bg1"/>
              </a:solidFill>
            </a:endParaRPr>
          </a:p>
        </p:txBody>
      </p:sp>
      <p:cxnSp>
        <p:nvCxnSpPr>
          <p:cNvPr id="10" name="Straight Arrow Connector 9">
            <a:extLst>
              <a:ext uri="{FF2B5EF4-FFF2-40B4-BE49-F238E27FC236}">
                <a16:creationId xmlns:a16="http://schemas.microsoft.com/office/drawing/2014/main" id="{1FE090B2-E179-56E8-E87B-D7EC697B54A7}"/>
              </a:ext>
            </a:extLst>
          </p:cNvPr>
          <p:cNvCxnSpPr/>
          <p:nvPr/>
        </p:nvCxnSpPr>
        <p:spPr>
          <a:xfrm flipV="1">
            <a:off x="7109848" y="1531703"/>
            <a:ext cx="1876587" cy="154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D2B733A5-6A84-454B-8AFF-A741580E43B5}"/>
              </a:ext>
            </a:extLst>
          </p:cNvPr>
          <p:cNvSpPr txBox="1"/>
          <p:nvPr/>
        </p:nvSpPr>
        <p:spPr>
          <a:xfrm>
            <a:off x="9080715" y="3059668"/>
            <a:ext cx="1566621" cy="369332"/>
          </a:xfrm>
          <a:prstGeom prst="rect">
            <a:avLst/>
          </a:prstGeom>
          <a:noFill/>
        </p:spPr>
        <p:txBody>
          <a:bodyPr wrap="square">
            <a:spAutoFit/>
          </a:bodyPr>
          <a:lstStyle/>
          <a:p>
            <a:r>
              <a:rPr lang="zh-CN" altLang="en-US" b="0" i="0" dirty="0">
                <a:solidFill>
                  <a:schemeClr val="bg1"/>
                </a:solidFill>
                <a:effectLst/>
                <a:latin typeface="-apple-system"/>
              </a:rPr>
              <a:t>联合优化模型</a:t>
            </a:r>
            <a:endParaRPr lang="en-US" dirty="0">
              <a:solidFill>
                <a:schemeClr val="bg1"/>
              </a:solidFill>
            </a:endParaRPr>
          </a:p>
        </p:txBody>
      </p:sp>
      <p:cxnSp>
        <p:nvCxnSpPr>
          <p:cNvPr id="13" name="Straight Arrow Connector 12">
            <a:extLst>
              <a:ext uri="{FF2B5EF4-FFF2-40B4-BE49-F238E27FC236}">
                <a16:creationId xmlns:a16="http://schemas.microsoft.com/office/drawing/2014/main" id="{BABEA29E-F599-46C1-0CF1-C3F0321A993A}"/>
              </a:ext>
            </a:extLst>
          </p:cNvPr>
          <p:cNvCxnSpPr>
            <a:cxnSpLocks/>
            <a:stCxn id="9" idx="2"/>
            <a:endCxn id="12" idx="0"/>
          </p:cNvCxnSpPr>
          <p:nvPr/>
        </p:nvCxnSpPr>
        <p:spPr>
          <a:xfrm flipH="1">
            <a:off x="9864026" y="1716369"/>
            <a:ext cx="1" cy="134329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0" name="TextBox 19">
            <a:extLst>
              <a:ext uri="{FF2B5EF4-FFF2-40B4-BE49-F238E27FC236}">
                <a16:creationId xmlns:a16="http://schemas.microsoft.com/office/drawing/2014/main" id="{486F7305-3874-B148-74B9-5EDCB3B33C09}"/>
              </a:ext>
            </a:extLst>
          </p:cNvPr>
          <p:cNvSpPr txBox="1"/>
          <p:nvPr/>
        </p:nvSpPr>
        <p:spPr>
          <a:xfrm>
            <a:off x="5120253" y="3059668"/>
            <a:ext cx="1414220" cy="369332"/>
          </a:xfrm>
          <a:prstGeom prst="rect">
            <a:avLst/>
          </a:prstGeom>
          <a:noFill/>
        </p:spPr>
        <p:txBody>
          <a:bodyPr wrap="square">
            <a:spAutoFit/>
          </a:bodyPr>
          <a:lstStyle/>
          <a:p>
            <a:r>
              <a:rPr lang="zh-CN" altLang="en-US" b="0" i="0" dirty="0">
                <a:solidFill>
                  <a:schemeClr val="bg1"/>
                </a:solidFill>
                <a:effectLst/>
                <a:latin typeface="-apple-system"/>
              </a:rPr>
              <a:t>多算法求解</a:t>
            </a:r>
            <a:endParaRPr lang="en-US" dirty="0">
              <a:solidFill>
                <a:schemeClr val="bg1"/>
              </a:solidFill>
            </a:endParaRPr>
          </a:p>
        </p:txBody>
      </p:sp>
      <p:cxnSp>
        <p:nvCxnSpPr>
          <p:cNvPr id="21" name="Straight Arrow Connector 20">
            <a:extLst>
              <a:ext uri="{FF2B5EF4-FFF2-40B4-BE49-F238E27FC236}">
                <a16:creationId xmlns:a16="http://schemas.microsoft.com/office/drawing/2014/main" id="{555030CF-8F3E-B2B2-6F92-AE86798B7CD5}"/>
              </a:ext>
            </a:extLst>
          </p:cNvPr>
          <p:cNvCxnSpPr>
            <a:cxnSpLocks/>
            <a:stCxn id="12" idx="1"/>
            <a:endCxn id="20" idx="3"/>
          </p:cNvCxnSpPr>
          <p:nvPr/>
        </p:nvCxnSpPr>
        <p:spPr>
          <a:xfrm flipH="1">
            <a:off x="6534473" y="3244334"/>
            <a:ext cx="254624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5" name="TextBox 24">
            <a:extLst>
              <a:ext uri="{FF2B5EF4-FFF2-40B4-BE49-F238E27FC236}">
                <a16:creationId xmlns:a16="http://schemas.microsoft.com/office/drawing/2014/main" id="{2D86E40E-6A80-57A5-9B2C-2A9E22040740}"/>
              </a:ext>
            </a:extLst>
          </p:cNvPr>
          <p:cNvSpPr txBox="1"/>
          <p:nvPr/>
        </p:nvSpPr>
        <p:spPr>
          <a:xfrm>
            <a:off x="920856" y="3059668"/>
            <a:ext cx="1566621" cy="369332"/>
          </a:xfrm>
          <a:prstGeom prst="rect">
            <a:avLst/>
          </a:prstGeom>
          <a:noFill/>
        </p:spPr>
        <p:txBody>
          <a:bodyPr wrap="square">
            <a:spAutoFit/>
          </a:bodyPr>
          <a:lstStyle/>
          <a:p>
            <a:r>
              <a:rPr lang="zh-CN" altLang="en-US" b="0" i="0" dirty="0">
                <a:solidFill>
                  <a:schemeClr val="bg1"/>
                </a:solidFill>
                <a:effectLst/>
                <a:latin typeface="-apple-system"/>
              </a:rPr>
              <a:t>滚动窗口实验</a:t>
            </a:r>
            <a:endParaRPr lang="en-US" dirty="0">
              <a:solidFill>
                <a:schemeClr val="bg1"/>
              </a:solidFill>
            </a:endParaRPr>
          </a:p>
        </p:txBody>
      </p:sp>
      <p:cxnSp>
        <p:nvCxnSpPr>
          <p:cNvPr id="26" name="Straight Arrow Connector 25">
            <a:extLst>
              <a:ext uri="{FF2B5EF4-FFF2-40B4-BE49-F238E27FC236}">
                <a16:creationId xmlns:a16="http://schemas.microsoft.com/office/drawing/2014/main" id="{B693D009-94F5-CB81-CCFC-4E26C3E2D43C}"/>
              </a:ext>
            </a:extLst>
          </p:cNvPr>
          <p:cNvCxnSpPr>
            <a:cxnSpLocks/>
            <a:stCxn id="20" idx="1"/>
            <a:endCxn id="25" idx="3"/>
          </p:cNvCxnSpPr>
          <p:nvPr/>
        </p:nvCxnSpPr>
        <p:spPr>
          <a:xfrm flipH="1">
            <a:off x="2487477" y="3244334"/>
            <a:ext cx="263277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TextBox 29">
            <a:extLst>
              <a:ext uri="{FF2B5EF4-FFF2-40B4-BE49-F238E27FC236}">
                <a16:creationId xmlns:a16="http://schemas.microsoft.com/office/drawing/2014/main" id="{EE8F1508-2856-6EC0-C0B2-BEAD39AE43A1}"/>
              </a:ext>
            </a:extLst>
          </p:cNvPr>
          <p:cNvSpPr txBox="1"/>
          <p:nvPr/>
        </p:nvSpPr>
        <p:spPr>
          <a:xfrm>
            <a:off x="765872" y="4666371"/>
            <a:ext cx="1876587" cy="369317"/>
          </a:xfrm>
          <a:prstGeom prst="rect">
            <a:avLst/>
          </a:prstGeom>
          <a:noFill/>
        </p:spPr>
        <p:txBody>
          <a:bodyPr wrap="square">
            <a:spAutoFit/>
          </a:bodyPr>
          <a:lstStyle/>
          <a:p>
            <a:r>
              <a:rPr lang="zh-CN" altLang="en-US" b="0" i="0" dirty="0">
                <a:solidFill>
                  <a:schemeClr val="bg1"/>
                </a:solidFill>
                <a:effectLst/>
                <a:latin typeface="-apple-system"/>
              </a:rPr>
              <a:t>真实订单篮回放</a:t>
            </a:r>
            <a:endParaRPr lang="en-US" dirty="0">
              <a:solidFill>
                <a:schemeClr val="bg1"/>
              </a:solidFill>
            </a:endParaRPr>
          </a:p>
        </p:txBody>
      </p:sp>
      <p:cxnSp>
        <p:nvCxnSpPr>
          <p:cNvPr id="31" name="Straight Arrow Connector 30">
            <a:extLst>
              <a:ext uri="{FF2B5EF4-FFF2-40B4-BE49-F238E27FC236}">
                <a16:creationId xmlns:a16="http://schemas.microsoft.com/office/drawing/2014/main" id="{2B72C3B6-763F-DA50-2EB0-3E71363D8E2A}"/>
              </a:ext>
            </a:extLst>
          </p:cNvPr>
          <p:cNvCxnSpPr>
            <a:cxnSpLocks/>
            <a:stCxn id="25" idx="2"/>
            <a:endCxn id="30" idx="0"/>
          </p:cNvCxnSpPr>
          <p:nvPr/>
        </p:nvCxnSpPr>
        <p:spPr>
          <a:xfrm flipH="1">
            <a:off x="1704166" y="3429000"/>
            <a:ext cx="1" cy="123737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5" name="TextBox 34">
            <a:extLst>
              <a:ext uri="{FF2B5EF4-FFF2-40B4-BE49-F238E27FC236}">
                <a16:creationId xmlns:a16="http://schemas.microsoft.com/office/drawing/2014/main" id="{581A5CAE-0D09-A58E-A659-FF338D052DAC}"/>
              </a:ext>
            </a:extLst>
          </p:cNvPr>
          <p:cNvSpPr txBox="1"/>
          <p:nvPr/>
        </p:nvSpPr>
        <p:spPr>
          <a:xfrm>
            <a:off x="4698894" y="4670313"/>
            <a:ext cx="2256937" cy="369332"/>
          </a:xfrm>
          <a:prstGeom prst="rect">
            <a:avLst/>
          </a:prstGeom>
          <a:noFill/>
        </p:spPr>
        <p:txBody>
          <a:bodyPr wrap="square">
            <a:spAutoFit/>
          </a:bodyPr>
          <a:lstStyle/>
          <a:p>
            <a:r>
              <a:rPr lang="zh-CN" altLang="en-US" b="0" i="0" dirty="0">
                <a:solidFill>
                  <a:schemeClr val="bg1"/>
                </a:solidFill>
                <a:effectLst/>
                <a:latin typeface="-apple-system"/>
              </a:rPr>
              <a:t>文献基线 </a:t>
            </a:r>
            <a:r>
              <a:rPr lang="en-US" b="0" i="0" dirty="0">
                <a:solidFill>
                  <a:schemeClr val="bg1"/>
                </a:solidFill>
                <a:effectLst/>
                <a:latin typeface="-apple-system"/>
              </a:rPr>
              <a:t>benchmark</a:t>
            </a:r>
            <a:endParaRPr lang="en-US" dirty="0">
              <a:solidFill>
                <a:schemeClr val="bg1"/>
              </a:solidFill>
            </a:endParaRPr>
          </a:p>
        </p:txBody>
      </p:sp>
      <p:cxnSp>
        <p:nvCxnSpPr>
          <p:cNvPr id="36" name="Straight Arrow Connector 35">
            <a:extLst>
              <a:ext uri="{FF2B5EF4-FFF2-40B4-BE49-F238E27FC236}">
                <a16:creationId xmlns:a16="http://schemas.microsoft.com/office/drawing/2014/main" id="{E806C0F4-62B8-CDF2-0592-B5EFEC045036}"/>
              </a:ext>
            </a:extLst>
          </p:cNvPr>
          <p:cNvCxnSpPr>
            <a:cxnSpLocks/>
            <a:stCxn id="30" idx="3"/>
            <a:endCxn id="35" idx="1"/>
          </p:cNvCxnSpPr>
          <p:nvPr/>
        </p:nvCxnSpPr>
        <p:spPr>
          <a:xfrm>
            <a:off x="2642459" y="4851030"/>
            <a:ext cx="2056435" cy="394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9" name="Straight Arrow Connector 38">
            <a:extLst>
              <a:ext uri="{FF2B5EF4-FFF2-40B4-BE49-F238E27FC236}">
                <a16:creationId xmlns:a16="http://schemas.microsoft.com/office/drawing/2014/main" id="{D9B23AB6-C1A3-E8A3-587C-E55799EB2019}"/>
              </a:ext>
            </a:extLst>
          </p:cNvPr>
          <p:cNvCxnSpPr>
            <a:cxnSpLocks/>
            <a:stCxn id="35" idx="3"/>
          </p:cNvCxnSpPr>
          <p:nvPr/>
        </p:nvCxnSpPr>
        <p:spPr>
          <a:xfrm flipV="1">
            <a:off x="6955831" y="4851029"/>
            <a:ext cx="2124884" cy="395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3" name="TextBox 42">
            <a:extLst>
              <a:ext uri="{FF2B5EF4-FFF2-40B4-BE49-F238E27FC236}">
                <a16:creationId xmlns:a16="http://schemas.microsoft.com/office/drawing/2014/main" id="{CB302B6D-282D-7F40-5209-A1FACD228908}"/>
              </a:ext>
            </a:extLst>
          </p:cNvPr>
          <p:cNvSpPr txBox="1"/>
          <p:nvPr/>
        </p:nvSpPr>
        <p:spPr>
          <a:xfrm>
            <a:off x="9096214" y="4666356"/>
            <a:ext cx="1835580" cy="369332"/>
          </a:xfrm>
          <a:prstGeom prst="rect">
            <a:avLst/>
          </a:prstGeom>
          <a:noFill/>
        </p:spPr>
        <p:txBody>
          <a:bodyPr wrap="square">
            <a:spAutoFit/>
          </a:bodyPr>
          <a:lstStyle/>
          <a:p>
            <a:r>
              <a:rPr lang="zh-CN" altLang="en-US" b="0" i="0" dirty="0">
                <a:solidFill>
                  <a:schemeClr val="bg1"/>
                </a:solidFill>
                <a:effectLst/>
                <a:latin typeface="-apple-system"/>
              </a:rPr>
              <a:t>管理启示与结论</a:t>
            </a:r>
            <a:endParaRPr lang="en-US" dirty="0">
              <a:solidFill>
                <a:schemeClr val="bg1"/>
              </a:solidFill>
            </a:endParaRPr>
          </a:p>
        </p:txBody>
      </p:sp>
    </p:spTree>
    <p:extLst>
      <p:ext uri="{BB962C8B-B14F-4D97-AF65-F5344CB8AC3E}">
        <p14:creationId xmlns:p14="http://schemas.microsoft.com/office/powerpoint/2010/main" val="323997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C3175C8-2468-51C8-5BCC-ADE114EC8360}"/>
                  </a:ext>
                </a:extLst>
              </p:cNvPr>
              <p:cNvSpPr>
                <a:spLocks noGrp="1"/>
              </p:cNvSpPr>
              <p:nvPr>
                <p:ph idx="1"/>
              </p:nvPr>
            </p:nvSpPr>
            <p:spPr>
              <a:xfrm>
                <a:off x="539857" y="1192647"/>
                <a:ext cx="11112285" cy="5991923"/>
              </a:xfrm>
            </p:spPr>
            <p:txBody>
              <a:bodyPr>
                <a:normAutofit/>
              </a:bodyPr>
              <a:lstStyle/>
              <a:p>
                <a:pPr marL="0" indent="0">
                  <a:buNone/>
                </a:pPr>
                <a:r>
                  <a:rPr lang="zh-CN" altLang="en-US" dirty="0"/>
                  <a:t>设候选 </a:t>
                </a:r>
                <a:r>
                  <a:rPr lang="en-US" dirty="0"/>
                  <a:t>SKU </a:t>
                </a:r>
                <a:r>
                  <a:rPr lang="zh-CN" altLang="en-US" dirty="0"/>
                  <a:t>集合为 </a:t>
                </a:r>
                <a:r>
                  <a:rPr lang="en-US" dirty="0" err="1"/>
                  <a:t>i</a:t>
                </a:r>
                <a:r>
                  <a:rPr lang="en-US" dirty="0"/>
                  <a:t> = 1,2,...,N，</a:t>
                </a:r>
                <a:r>
                  <a:rPr lang="zh-CN" altLang="en-US" dirty="0"/>
                  <a:t>每个 </a:t>
                </a:r>
                <a:r>
                  <a:rPr lang="en-US" dirty="0"/>
                  <a:t>SKU </a:t>
                </a:r>
                <a:r>
                  <a:rPr lang="zh-CN" altLang="en-US" dirty="0"/>
                  <a:t>可选择一个离散库存水平 </a:t>
                </a:r>
                <a:r>
                  <a:rPr lang="en-US" dirty="0"/>
                  <a:t>q ∈ {0,1,...,</a:t>
                </a:r>
                <a:r>
                  <a:rPr lang="en-US" dirty="0" err="1"/>
                  <a:t>Qmax</a:t>
                </a:r>
                <a:r>
                  <a:rPr lang="en-US" dirty="0"/>
                  <a:t>}：</a:t>
                </a:r>
              </a:p>
              <a:p>
                <a:pPr marL="0" indent="0">
                  <a:buNone/>
                </a:pPr>
                <a:r>
                  <a:rPr lang="en-US" dirty="0"/>
                  <a:t>q = 0：SKU </a:t>
                </a:r>
                <a:r>
                  <a:rPr lang="zh-CN" altLang="en-US" dirty="0"/>
                  <a:t>不进入前置仓</a:t>
                </a:r>
              </a:p>
              <a:p>
                <a:pPr marL="0" indent="0">
                  <a:buNone/>
                </a:pPr>
                <a:r>
                  <a:rPr lang="en-US" dirty="0"/>
                  <a:t>q &gt; 0：SKU </a:t>
                </a:r>
                <a:r>
                  <a:rPr lang="zh-CN" altLang="en-US" dirty="0"/>
                  <a:t>进入前置仓，且库存水平为 </a:t>
                </a:r>
                <a:r>
                  <a:rPr lang="en-US" dirty="0"/>
                  <a:t>q</a:t>
                </a:r>
              </a:p>
              <a:p>
                <a:pPr marL="0" indent="0">
                  <a:buNone/>
                </a:pPr>
                <a:r>
                  <a:rPr lang="zh-CN" altLang="en-US" dirty="0"/>
                  <a:t>引入二进制变量：</a:t>
                </a:r>
              </a:p>
              <a:p>
                <a:pPr marL="0" indent="0">
                  <a:buNone/>
                </a:pPr>
                <a14:m>
                  <m:oMathPara xmlns:m="http://schemas.openxmlformats.org/officeDocument/2006/math">
                    <m:oMathParaPr>
                      <m:jc m:val="centerGroup"/>
                    </m:oMathParaPr>
                    <m:oMath xmlns:m="http://schemas.openxmlformats.org/officeDocument/2006/math">
                      <m:sSub>
                        <m:sSubPr>
                          <m:ctrlPr>
                            <a:rPr lang="ar-AE" i="1" smtClean="0">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𝑖𝑞</m:t>
                          </m:r>
                        </m:sub>
                      </m:sSub>
                      <m:r>
                        <a:rPr lang="ar-AE">
                          <a:latin typeface="Cambria Math" panose="02040503050406030204" pitchFamily="18" charset="0"/>
                        </a:rPr>
                        <m:t>=</m:t>
                      </m:r>
                      <m:d>
                        <m:dPr>
                          <m:begChr m:val="{"/>
                          <m:endChr m:val=""/>
                          <m:ctrlPr>
                            <a:rPr lang="ar-AE" i="1" smtClean="0">
                              <a:latin typeface="Cambria Math" panose="02040503050406030204" pitchFamily="18" charset="0"/>
                            </a:rPr>
                          </m:ctrlPr>
                        </m:dPr>
                        <m:e>
                          <m:m>
                            <m:mPr>
                              <m:plcHide m:val="on"/>
                              <m:mcs>
                                <m:mc>
                                  <m:mcPr>
                                    <m:count m:val="2"/>
                                    <m:mcJc m:val="center"/>
                                  </m:mcPr>
                                </m:mc>
                              </m:mcs>
                              <m:ctrlPr>
                                <a:rPr lang="ar-AE" i="1">
                                  <a:latin typeface="Cambria Math" panose="02040503050406030204" pitchFamily="18" charset="0"/>
                                </a:rPr>
                              </m:ctrlPr>
                            </m:mPr>
                            <m:mr>
                              <m:e>
                                <m:r>
                                  <a:rPr lang="ar-AE">
                                    <a:latin typeface="Cambria Math" panose="02040503050406030204" pitchFamily="18" charset="0"/>
                                  </a:rPr>
                                  <m:t>1,</m:t>
                                </m:r>
                              </m:e>
                              <m:e>
                                <m:r>
                                  <m:rPr>
                                    <m:nor/>
                                  </m:rPr>
                                  <a:rPr lang="zh-CN" altLang="en-US" i="1"/>
                                  <m:t>若 </m:t>
                                </m:r>
                                <m:r>
                                  <m:rPr>
                                    <m:nor/>
                                  </m:rPr>
                                  <a:rPr lang="en-US" i="1"/>
                                  <m:t>SKU</m:t>
                                </m:r>
                                <m:r>
                                  <m:rPr>
                                    <m:nor/>
                                  </m:rPr>
                                  <a:rPr lang="en-US" i="1"/>
                                  <m:t> </m:t>
                                </m:r>
                                <m:r>
                                  <a:rPr lang="en-US" i="1">
                                    <a:latin typeface="Cambria Math" panose="02040503050406030204" pitchFamily="18" charset="0"/>
                                  </a:rPr>
                                  <m:t>𝑖</m:t>
                                </m:r>
                                <m:r>
                                  <m:rPr>
                                    <m:nor/>
                                  </m:rPr>
                                  <a:rPr lang="en-US" i="1"/>
                                  <m:t> </m:t>
                                </m:r>
                                <m:r>
                                  <m:rPr>
                                    <m:nor/>
                                  </m:rPr>
                                  <a:rPr lang="zh-CN" altLang="en-US" i="1"/>
                                  <m:t>选择库存水平 </m:t>
                                </m:r>
                                <m:r>
                                  <a:rPr lang="zh-CN" altLang="en-US" i="1">
                                    <a:latin typeface="Cambria Math" panose="02040503050406030204" pitchFamily="18" charset="0"/>
                                  </a:rPr>
                                  <m:t>𝑞</m:t>
                                </m:r>
                              </m:e>
                            </m:mr>
                            <m:mr>
                              <m:e>
                                <m:r>
                                  <a:rPr lang="ar-AE">
                                    <a:latin typeface="Cambria Math" panose="02040503050406030204" pitchFamily="18" charset="0"/>
                                  </a:rPr>
                                  <m:t>0,</m:t>
                                </m:r>
                              </m:e>
                              <m:e>
                                <m:r>
                                  <m:rPr>
                                    <m:nor/>
                                  </m:rPr>
                                  <a:rPr lang="zh-CN" altLang="en-US" i="1"/>
                                  <m:t>否则</m:t>
                                </m:r>
                              </m:e>
                            </m:mr>
                          </m:m>
                        </m:e>
                      </m:d>
                    </m:oMath>
                  </m:oMathPara>
                </a14:m>
                <a:endParaRPr lang="ar-AE" b="0" dirty="0"/>
              </a:p>
              <a:p>
                <a:pPr marL="0" indent="0">
                  <a:buNone/>
                </a:pPr>
                <a:r>
                  <a:rPr lang="zh-CN" altLang="en-US" dirty="0"/>
                  <a:t>并满足：</a:t>
                </a:r>
              </a:p>
              <a:p>
                <a:pPr marL="0" indent="0">
                  <a:buNone/>
                </a:pPr>
                <a14:m>
                  <m:oMathPara xmlns:m="http://schemas.openxmlformats.org/officeDocument/2006/math">
                    <m:oMathParaPr>
                      <m:jc m:val="centerGroup"/>
                    </m:oMathParaPr>
                    <m:oMath xmlns:m="http://schemas.openxmlformats.org/officeDocument/2006/math">
                      <m:nary>
                        <m:naryPr>
                          <m:chr m:val="∑"/>
                          <m:ctrlPr>
                            <a:rPr lang="ar-AE" i="1" smtClean="0">
                              <a:latin typeface="Cambria Math" panose="02040503050406030204" pitchFamily="18" charset="0"/>
                            </a:rPr>
                          </m:ctrlPr>
                        </m:naryPr>
                        <m:sub>
                          <m:r>
                            <m:rPr>
                              <m:brk m:alnAt="23"/>
                            </m:rPr>
                            <a:rPr lang="en-US" b="0" i="1" smtClean="0">
                              <a:latin typeface="Cambria Math" panose="02040503050406030204" pitchFamily="18" charset="0"/>
                            </a:rPr>
                            <m:t>𝑞</m:t>
                          </m:r>
                          <m:r>
                            <a:rPr lang="en-US" b="0" i="1" smtClean="0">
                              <a:latin typeface="Cambria Math" panose="02040503050406030204" pitchFamily="18" charset="0"/>
                            </a:rPr>
                            <m:t>=0</m:t>
                          </m:r>
                        </m:sub>
                        <m:sup>
                          <m:sSub>
                            <m:sSubPr>
                              <m:ctrlPr>
                                <a:rPr lang="ar-AE"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𝑚𝑎𝑥</m:t>
                              </m:r>
                            </m:sub>
                          </m:sSub>
                        </m:sup>
                        <m:e>
                          <m:sSub>
                            <m:sSubPr>
                              <m:ctrlPr>
                                <a:rPr lang="ar-AE"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𝑖𝑞</m:t>
                              </m:r>
                            </m:sub>
                          </m:sSub>
                        </m:e>
                      </m:nary>
                      <m:r>
                        <a:rPr lang="ar-AE">
                          <a:latin typeface="Cambria Math" panose="02040503050406030204" pitchFamily="18" charset="0"/>
                        </a:rPr>
                        <m:t>=1, ∀</m:t>
                      </m:r>
                      <m:r>
                        <a:rPr lang="ar-AE" i="1">
                          <a:latin typeface="Cambria Math" panose="02040503050406030204" pitchFamily="18" charset="0"/>
                        </a:rPr>
                        <m:t>𝑖</m:t>
                      </m:r>
                    </m:oMath>
                  </m:oMathPara>
                </a14:m>
                <a:endParaRPr lang="en-US" i="1" dirty="0">
                  <a:latin typeface="Cambria Math" panose="02040503050406030204" pitchFamily="18" charset="0"/>
                </a:endParaRP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zh-CN" altLang="en-US" b="0" i="1" smtClean="0">
                          <a:latin typeface="Cambria Math" panose="02040503050406030204" pitchFamily="18" charset="0"/>
                        </a:rPr>
                        <m:t> </m:t>
                      </m:r>
                    </m:oMath>
                  </m:oMathPara>
                </a14:m>
                <a:endParaRPr lang="en-US" i="1" dirty="0">
                  <a:latin typeface="Cambria Math" panose="02040503050406030204" pitchFamily="18" charset="0"/>
                </a:endParaRPr>
              </a:p>
              <a:p>
                <a:endParaRPr lang="en-US" dirty="0"/>
              </a:p>
            </p:txBody>
          </p:sp>
        </mc:Choice>
        <mc:Fallback>
          <p:sp>
            <p:nvSpPr>
              <p:cNvPr id="3" name="Content Placeholder 2">
                <a:extLst>
                  <a:ext uri="{FF2B5EF4-FFF2-40B4-BE49-F238E27FC236}">
                    <a16:creationId xmlns:a16="http://schemas.microsoft.com/office/drawing/2014/main" id="{7C3175C8-2468-51C8-5BCC-ADE114EC8360}"/>
                  </a:ext>
                </a:extLst>
              </p:cNvPr>
              <p:cNvSpPr>
                <a:spLocks noGrp="1" noRot="1" noChangeAspect="1" noMove="1" noResize="1" noEditPoints="1" noAdjustHandles="1" noChangeArrowheads="1" noChangeShapeType="1" noTextEdit="1"/>
              </p:cNvSpPr>
              <p:nvPr>
                <p:ph idx="1"/>
              </p:nvPr>
            </p:nvSpPr>
            <p:spPr>
              <a:xfrm>
                <a:off x="539857" y="1192647"/>
                <a:ext cx="11112285" cy="5991923"/>
              </a:xfrm>
              <a:blipFill>
                <a:blip r:embed="rId2"/>
                <a:stretch>
                  <a:fillRect l="-1142" t="-2119" b="-16102"/>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DF379E7F-CE8F-9AB4-8F72-653FA1EF52F8}"/>
              </a:ext>
            </a:extLst>
          </p:cNvPr>
          <p:cNvSpPr txBox="1">
            <a:spLocks/>
          </p:cNvSpPr>
          <p:nvPr/>
        </p:nvSpPr>
        <p:spPr>
          <a:xfrm>
            <a:off x="0" y="0"/>
            <a:ext cx="1487837" cy="7817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b="1" dirty="0"/>
              <a:t>模型</a:t>
            </a:r>
            <a:endParaRPr lang="en-US" dirty="0"/>
          </a:p>
        </p:txBody>
      </p:sp>
    </p:spTree>
    <p:extLst>
      <p:ext uri="{BB962C8B-B14F-4D97-AF65-F5344CB8AC3E}">
        <p14:creationId xmlns:p14="http://schemas.microsoft.com/office/powerpoint/2010/main" val="2649086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AC0B78-462B-0B5A-5F20-410753BA0E22}"/>
                  </a:ext>
                </a:extLst>
              </p:cNvPr>
              <p:cNvSpPr>
                <a:spLocks noGrp="1"/>
              </p:cNvSpPr>
              <p:nvPr>
                <p:ph idx="1"/>
              </p:nvPr>
            </p:nvSpPr>
            <p:spPr>
              <a:xfrm>
                <a:off x="455262" y="1544827"/>
                <a:ext cx="11281475" cy="4198788"/>
              </a:xfrm>
            </p:spPr>
            <p:txBody>
              <a:bodyPr/>
              <a:lstStyle/>
              <a:p>
                <a:pPr marL="0" indent="0">
                  <a:buNone/>
                </a:pPr>
                <a:r>
                  <a:rPr lang="zh-CN" altLang="en-US" dirty="0"/>
                  <a:t>设 </a:t>
                </a:r>
                <a:r>
                  <a:rPr lang="en-US" dirty="0"/>
                  <a:t>SKU </a:t>
                </a:r>
                <a:r>
                  <a:rPr lang="en-US" dirty="0" err="1"/>
                  <a:t>i</a:t>
                </a:r>
                <a:r>
                  <a:rPr lang="en-US" dirty="0"/>
                  <a:t> </a:t>
                </a:r>
                <a:r>
                  <a:rPr lang="zh-CN" altLang="en-US" dirty="0"/>
                  <a:t>的周需求为随机变量 </a:t>
                </a:r>
                <a:r>
                  <a:rPr lang="en-US" dirty="0" err="1"/>
                  <a:t>D_i</a:t>
                </a:r>
                <a:r>
                  <a:rPr lang="en-US" dirty="0"/>
                  <a:t>，</a:t>
                </a:r>
                <a:r>
                  <a:rPr lang="zh-CN" altLang="en-US" dirty="0"/>
                  <a:t>其需求分布根据历史数据特征选取：</a:t>
                </a:r>
              </a:p>
              <a:p>
                <a:pPr marL="0" indent="0">
                  <a:buNone/>
                </a:pPr>
                <a:r>
                  <a:rPr lang="zh-CN" altLang="en-US" dirty="0"/>
                  <a:t>波动较低时：</a:t>
                </a:r>
                <a:r>
                  <a:rPr lang="en-US" dirty="0"/>
                  <a:t>Poisson</a:t>
                </a:r>
              </a:p>
              <a:p>
                <a:pPr marL="0" indent="0">
                  <a:buNone/>
                </a:pPr>
                <a:r>
                  <a:rPr lang="zh-CN" altLang="en-US" dirty="0"/>
                  <a:t>过度离散明显时：</a:t>
                </a:r>
                <a:r>
                  <a:rPr lang="en-US" dirty="0"/>
                  <a:t>Negative Binomial</a:t>
                </a:r>
              </a:p>
              <a:p>
                <a:pPr marL="0" indent="0">
                  <a:buNone/>
                </a:pPr>
                <a:r>
                  <a:rPr lang="zh-CN" altLang="en-US" dirty="0"/>
                  <a:t>当库存水平为 </a:t>
                </a:r>
                <a:r>
                  <a:rPr lang="en-US" dirty="0"/>
                  <a:t>q </a:t>
                </a:r>
                <a:r>
                  <a:rPr lang="zh-CN" altLang="en-US" dirty="0"/>
                  <a:t>时，</a:t>
                </a:r>
                <a:r>
                  <a:rPr lang="en-US" dirty="0"/>
                  <a:t>SKU </a:t>
                </a:r>
                <a:r>
                  <a:rPr lang="en-US" dirty="0" err="1"/>
                  <a:t>i</a:t>
                </a:r>
                <a:r>
                  <a:rPr lang="en-US" dirty="0"/>
                  <a:t> </a:t>
                </a:r>
                <a:r>
                  <a:rPr lang="zh-CN" altLang="en-US" dirty="0"/>
                  <a:t>的期望销量为：</a:t>
                </a:r>
              </a:p>
              <a:p>
                <a:pPr marL="0" indent="0">
                  <a:buNone/>
                </a:pPr>
                <a14:m>
                  <m:oMathPara xmlns:m="http://schemas.openxmlformats.org/officeDocument/2006/math">
                    <m:oMathParaPr>
                      <m:jc m:val="centerGroup"/>
                    </m:oMathParaPr>
                    <m:oMath xmlns:m="http://schemas.openxmlformats.org/officeDocument/2006/math">
                      <m:r>
                        <a:rPr lang="zh-CN" altLang="en-US">
                          <a:latin typeface="Cambria Math" panose="02040503050406030204" pitchFamily="18" charset="0"/>
                        </a:rPr>
                        <m:t>𝔼</m:t>
                      </m:r>
                      <m:d>
                        <m:dPr>
                          <m:begChr m:val="["/>
                          <m:endChr m:val="]"/>
                          <m:ctrlPr>
                            <a:rPr lang="ar-AE" i="1">
                              <a:latin typeface="Cambria Math" panose="02040503050406030204" pitchFamily="18" charset="0"/>
                            </a:rPr>
                          </m:ctrlPr>
                        </m:dPr>
                        <m:e>
                          <m:r>
                            <m:rPr>
                              <m:sty m:val="p"/>
                            </m:rPr>
                            <a:rPr lang="en-US">
                              <a:latin typeface="Cambria Math" panose="02040503050406030204" pitchFamily="18" charset="0"/>
                            </a:rPr>
                            <m:t>min</m:t>
                          </m:r>
                          <m:r>
                            <a:rPr lang="en-US">
                              <a:latin typeface="Cambria Math" panose="02040503050406030204" pitchFamily="18" charset="0"/>
                            </a:rPr>
                            <m:t>⁡</m:t>
                          </m:r>
                          <m:d>
                            <m:dPr>
                              <m:sep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𝐷</m:t>
                                  </m:r>
                                </m:e>
                                <m:sub>
                                  <m:r>
                                    <a:rPr lang="ar-AE" i="1">
                                      <a:latin typeface="Cambria Math" panose="02040503050406030204" pitchFamily="18" charset="0"/>
                                    </a:rPr>
                                    <m:t>𝑖</m:t>
                                  </m:r>
                                </m:sub>
                              </m:sSub>
                            </m:e>
                            <m:e>
                              <m:r>
                                <a:rPr lang="ar-AE" i="1">
                                  <a:latin typeface="Cambria Math" panose="02040503050406030204" pitchFamily="18" charset="0"/>
                                </a:rPr>
                                <m:t>𝑞</m:t>
                              </m:r>
                            </m:e>
                          </m:d>
                        </m:e>
                      </m:d>
                    </m:oMath>
                  </m:oMathPara>
                </a14:m>
                <a:endParaRPr lang="ar-AE" dirty="0"/>
              </a:p>
              <a:p>
                <a:pPr marL="0" indent="0">
                  <a:buNone/>
                </a:pPr>
                <a:r>
                  <a:rPr lang="zh-CN" altLang="en-US" dirty="0"/>
                  <a:t>对离散非负随机变量，可写为：</a:t>
                </a:r>
              </a:p>
              <a:p>
                <a:pPr marL="0" indent="0">
                  <a:buNone/>
                </a:pPr>
                <a14:m>
                  <m:oMathPara xmlns:m="http://schemas.openxmlformats.org/officeDocument/2006/math">
                    <m:oMathParaPr>
                      <m:jc m:val="centerGroup"/>
                    </m:oMathParaPr>
                    <m:oMath xmlns:m="http://schemas.openxmlformats.org/officeDocument/2006/math">
                      <m:r>
                        <a:rPr lang="zh-CN" altLang="en-US">
                          <a:latin typeface="Cambria Math" panose="02040503050406030204" pitchFamily="18" charset="0"/>
                        </a:rPr>
                        <m:t>𝔼</m:t>
                      </m:r>
                      <m:d>
                        <m:dPr>
                          <m:begChr m:val="["/>
                          <m:endChr m:val="]"/>
                          <m:ctrlPr>
                            <a:rPr lang="ar-AE" i="1">
                              <a:latin typeface="Cambria Math" panose="02040503050406030204" pitchFamily="18" charset="0"/>
                            </a:rPr>
                          </m:ctrlPr>
                        </m:dPr>
                        <m:e>
                          <m:r>
                            <m:rPr>
                              <m:sty m:val="p"/>
                            </m:rPr>
                            <a:rPr lang="en-US">
                              <a:latin typeface="Cambria Math" panose="02040503050406030204" pitchFamily="18" charset="0"/>
                            </a:rPr>
                            <m:t>min</m:t>
                          </m:r>
                          <m:r>
                            <a:rPr lang="en-US">
                              <a:latin typeface="Cambria Math" panose="02040503050406030204" pitchFamily="18" charset="0"/>
                            </a:rPr>
                            <m:t>⁡</m:t>
                          </m:r>
                          <m:d>
                            <m:dPr>
                              <m:sep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𝐷</m:t>
                                  </m:r>
                                </m:e>
                                <m:sub>
                                  <m:r>
                                    <a:rPr lang="ar-AE" i="1">
                                      <a:latin typeface="Cambria Math" panose="02040503050406030204" pitchFamily="18" charset="0"/>
                                    </a:rPr>
                                    <m:t>𝑖</m:t>
                                  </m:r>
                                </m:sub>
                              </m:sSub>
                            </m:e>
                            <m:e>
                              <m:r>
                                <a:rPr lang="ar-AE" i="1">
                                  <a:latin typeface="Cambria Math" panose="02040503050406030204" pitchFamily="18" charset="0"/>
                                </a:rPr>
                                <m:t>𝑞</m:t>
                              </m:r>
                            </m:e>
                          </m:d>
                        </m:e>
                      </m:d>
                      <m:r>
                        <a:rPr lang="ar-AE">
                          <a:latin typeface="Cambria Math" panose="02040503050406030204" pitchFamily="18" charset="0"/>
                        </a:rPr>
                        <m:t>=</m:t>
                      </m:r>
                      <m:nary>
                        <m:naryPr>
                          <m:chr m:val="∑"/>
                          <m:grow m:val="on"/>
                          <m:ctrlPr>
                            <a:rPr lang="ar-AE" i="1">
                              <a:latin typeface="Cambria Math" panose="02040503050406030204" pitchFamily="18" charset="0"/>
                            </a:rPr>
                          </m:ctrlPr>
                        </m:naryPr>
                        <m:sub>
                          <m:r>
                            <a:rPr lang="ar-AE" i="1">
                              <a:latin typeface="Cambria Math" panose="02040503050406030204" pitchFamily="18" charset="0"/>
                            </a:rPr>
                            <m:t>𝑘</m:t>
                          </m:r>
                          <m:r>
                            <a:rPr lang="ar-AE">
                              <a:latin typeface="Cambria Math" panose="02040503050406030204" pitchFamily="18" charset="0"/>
                            </a:rPr>
                            <m:t>=0</m:t>
                          </m:r>
                        </m:sub>
                        <m:sup>
                          <m:r>
                            <a:rPr lang="ar-AE" i="1">
                              <a:latin typeface="Cambria Math" panose="02040503050406030204" pitchFamily="18" charset="0"/>
                            </a:rPr>
                            <m:t>𝑞</m:t>
                          </m:r>
                          <m:r>
                            <a:rPr lang="ar-AE">
                              <a:latin typeface="Cambria Math" panose="02040503050406030204" pitchFamily="18" charset="0"/>
                            </a:rPr>
                            <m:t>−1</m:t>
                          </m:r>
                        </m:sup>
                        <m:e>
                          <m:r>
                            <a:rPr lang="ar-AE" i="1">
                              <a:latin typeface="Cambria Math" panose="02040503050406030204" pitchFamily="18" charset="0"/>
                            </a:rPr>
                            <m:t>𝑃</m:t>
                          </m:r>
                        </m:e>
                      </m:nary>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𝐷</m:t>
                              </m:r>
                            </m:e>
                            <m:sub>
                              <m:r>
                                <a:rPr lang="ar-AE" i="1">
                                  <a:latin typeface="Cambria Math" panose="02040503050406030204" pitchFamily="18" charset="0"/>
                                </a:rPr>
                                <m:t>𝑖</m:t>
                              </m:r>
                            </m:sub>
                          </m:sSub>
                          <m:r>
                            <a:rPr lang="ar-AE">
                              <a:latin typeface="Cambria Math" panose="02040503050406030204" pitchFamily="18" charset="0"/>
                            </a:rPr>
                            <m:t>&gt;</m:t>
                          </m:r>
                          <m:r>
                            <a:rPr lang="ar-AE" i="1">
                              <a:latin typeface="Cambria Math" panose="02040503050406030204" pitchFamily="18" charset="0"/>
                            </a:rPr>
                            <m:t>𝑘</m:t>
                          </m:r>
                        </m:e>
                      </m:d>
                    </m:oMath>
                  </m:oMathPara>
                </a14:m>
                <a:endParaRPr lang="ar-AE" dirty="0"/>
              </a:p>
              <a:p>
                <a:endParaRPr lang="en-US" dirty="0"/>
              </a:p>
            </p:txBody>
          </p:sp>
        </mc:Choice>
        <mc:Fallback>
          <p:sp>
            <p:nvSpPr>
              <p:cNvPr id="3" name="Content Placeholder 2">
                <a:extLst>
                  <a:ext uri="{FF2B5EF4-FFF2-40B4-BE49-F238E27FC236}">
                    <a16:creationId xmlns:a16="http://schemas.microsoft.com/office/drawing/2014/main" id="{9CAC0B78-462B-0B5A-5F20-410753BA0E22}"/>
                  </a:ext>
                </a:extLst>
              </p:cNvPr>
              <p:cNvSpPr>
                <a:spLocks noGrp="1" noRot="1" noChangeAspect="1" noMove="1" noResize="1" noEditPoints="1" noAdjustHandles="1" noChangeArrowheads="1" noChangeShapeType="1" noTextEdit="1"/>
              </p:cNvSpPr>
              <p:nvPr>
                <p:ph idx="1"/>
              </p:nvPr>
            </p:nvSpPr>
            <p:spPr>
              <a:xfrm>
                <a:off x="455262" y="1544827"/>
                <a:ext cx="11281475" cy="4198788"/>
              </a:xfrm>
              <a:blipFill>
                <a:blip r:embed="rId2"/>
                <a:stretch>
                  <a:fillRect l="-1237" t="-2711" b="-54217"/>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E4D8B071-BE02-9B6F-1AD2-40F41D054990}"/>
              </a:ext>
            </a:extLst>
          </p:cNvPr>
          <p:cNvSpPr txBox="1">
            <a:spLocks/>
          </p:cNvSpPr>
          <p:nvPr/>
        </p:nvSpPr>
        <p:spPr>
          <a:xfrm>
            <a:off x="0" y="0"/>
            <a:ext cx="1487837" cy="7817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b="1" dirty="0"/>
              <a:t>模型</a:t>
            </a:r>
            <a:endParaRPr lang="en-US" dirty="0"/>
          </a:p>
        </p:txBody>
      </p:sp>
    </p:spTree>
    <p:extLst>
      <p:ext uri="{BB962C8B-B14F-4D97-AF65-F5344CB8AC3E}">
        <p14:creationId xmlns:p14="http://schemas.microsoft.com/office/powerpoint/2010/main" val="17926903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0A41D75-1A0D-C55C-DE72-D0690B86D767}"/>
                  </a:ext>
                </a:extLst>
              </p:cNvPr>
              <p:cNvSpPr>
                <a:spLocks noGrp="1"/>
              </p:cNvSpPr>
              <p:nvPr>
                <p:ph idx="1"/>
              </p:nvPr>
            </p:nvSpPr>
            <p:spPr>
              <a:xfrm>
                <a:off x="246036" y="781750"/>
                <a:ext cx="11699928" cy="5929016"/>
              </a:xfrm>
            </p:spPr>
            <p:txBody>
              <a:bodyPr>
                <a:noAutofit/>
              </a:bodyPr>
              <a:lstStyle/>
              <a:p>
                <a:pPr marL="0" indent="0">
                  <a:buNone/>
                </a:pPr>
                <a:r>
                  <a:rPr lang="zh-CN" altLang="en-US" dirty="0"/>
                  <a:t>对 </a:t>
                </a:r>
                <a:r>
                  <a:rPr lang="en-US" dirty="0"/>
                  <a:t>SKU </a:t>
                </a:r>
                <a:r>
                  <a:rPr lang="en-US" dirty="0" err="1"/>
                  <a:t>i</a:t>
                </a:r>
                <a:r>
                  <a:rPr lang="en-US" dirty="0"/>
                  <a:t> </a:t>
                </a:r>
                <a:r>
                  <a:rPr lang="zh-CN" altLang="en-US" dirty="0"/>
                  <a:t>在库存水平 </a:t>
                </a:r>
                <a:r>
                  <a:rPr lang="en-US" dirty="0"/>
                  <a:t>q </a:t>
                </a:r>
                <a:r>
                  <a:rPr lang="zh-CN" altLang="en-US" dirty="0"/>
                  <a:t>下的收益贡献，定义为：</a:t>
                </a:r>
              </a:p>
              <a:p>
                <a:pPr marL="0" indent="0">
                  <a:buNone/>
                </a:pPr>
                <a14:m>
                  <m:oMathPara xmlns:m="http://schemas.openxmlformats.org/officeDocument/2006/math">
                    <m:oMathParaPr>
                      <m:jc m:val="centerGroup"/>
                    </m:oMathParaPr>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𝐺</m:t>
                          </m:r>
                        </m:e>
                        <m:sub>
                          <m:r>
                            <a:rPr lang="ar-AE" i="1">
                              <a:latin typeface="Cambria Math" panose="02040503050406030204" pitchFamily="18" charset="0"/>
                            </a:rPr>
                            <m:t>𝑖𝑞</m:t>
                          </m:r>
                        </m:sub>
                      </m:sSub>
                      <m:r>
                        <a:rPr lang="ar-AE">
                          <a:latin typeface="Cambria Math" panose="02040503050406030204" pitchFamily="18" charset="0"/>
                        </a:rPr>
                        <m:t>=</m:t>
                      </m:r>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𝑢</m:t>
                              </m:r>
                            </m:e>
                            <m:sub>
                              <m:r>
                                <a:rPr lang="ar-AE" i="1">
                                  <a:latin typeface="Cambria Math" panose="02040503050406030204" pitchFamily="18" charset="0"/>
                                </a:rPr>
                                <m:t>𝑖</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h</m:t>
                              </m:r>
                            </m:e>
                            <m:sub>
                              <m:r>
                                <a:rPr lang="ar-AE" i="1">
                                  <a:latin typeface="Cambria Math" panose="02040503050406030204" pitchFamily="18" charset="0"/>
                                </a:rPr>
                                <m:t>𝑖</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𝑏</m:t>
                              </m:r>
                            </m:e>
                            <m:sub>
                              <m:r>
                                <a:rPr lang="ar-AE" i="1">
                                  <a:latin typeface="Cambria Math" panose="02040503050406030204" pitchFamily="18" charset="0"/>
                                </a:rPr>
                                <m:t>𝑖</m:t>
                              </m:r>
                            </m:sub>
                          </m:sSub>
                        </m:e>
                      </m:d>
                      <m:r>
                        <a:rPr lang="ar-AE">
                          <a:latin typeface="Cambria Math" panose="02040503050406030204" pitchFamily="18" charset="0"/>
                        </a:rPr>
                        <m:t>𝔼</m:t>
                      </m:r>
                      <m:d>
                        <m:dPr>
                          <m:begChr m:val="["/>
                          <m:endChr m:val="]"/>
                          <m:ctrlPr>
                            <a:rPr lang="ar-AE" i="1">
                              <a:latin typeface="Cambria Math" panose="02040503050406030204" pitchFamily="18" charset="0"/>
                            </a:rPr>
                          </m:ctrlPr>
                        </m:dPr>
                        <m:e>
                          <m:r>
                            <m:rPr>
                              <m:sty m:val="p"/>
                            </m:rPr>
                            <a:rPr lang="en-US">
                              <a:latin typeface="Cambria Math" panose="02040503050406030204" pitchFamily="18" charset="0"/>
                            </a:rPr>
                            <m:t>min</m:t>
                          </m:r>
                          <m:r>
                            <a:rPr lang="en-US">
                              <a:latin typeface="Cambria Math" panose="02040503050406030204" pitchFamily="18" charset="0"/>
                            </a:rPr>
                            <m:t>⁡</m:t>
                          </m:r>
                          <m:d>
                            <m:dPr>
                              <m:sep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𝐷</m:t>
                                  </m:r>
                                </m:e>
                                <m:sub>
                                  <m:r>
                                    <a:rPr lang="ar-AE" i="1">
                                      <a:latin typeface="Cambria Math" panose="02040503050406030204" pitchFamily="18" charset="0"/>
                                    </a:rPr>
                                    <m:t>𝑖</m:t>
                                  </m:r>
                                </m:sub>
                              </m:sSub>
                            </m:e>
                            <m:e>
                              <m:r>
                                <a:rPr lang="ar-AE" i="1">
                                  <a:latin typeface="Cambria Math" panose="02040503050406030204" pitchFamily="18" charset="0"/>
                                </a:rPr>
                                <m:t>𝑞</m:t>
                              </m:r>
                            </m:e>
                          </m:d>
                        </m:e>
                      </m:d>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h</m:t>
                          </m:r>
                        </m:e>
                        <m:sub>
                          <m:r>
                            <a:rPr lang="ar-AE" i="1">
                              <a:latin typeface="Cambria Math" panose="02040503050406030204" pitchFamily="18" charset="0"/>
                            </a:rPr>
                            <m:t>𝑖</m:t>
                          </m:r>
                        </m:sub>
                      </m:sSub>
                      <m:r>
                        <a:rPr lang="ar-AE" i="1">
                          <a:latin typeface="Cambria Math" panose="02040503050406030204" pitchFamily="18" charset="0"/>
                        </a:rPr>
                        <m:t>𝑞</m:t>
                      </m:r>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𝑏</m:t>
                          </m:r>
                        </m:e>
                        <m:sub>
                          <m:r>
                            <a:rPr lang="ar-AE" i="1">
                              <a:latin typeface="Cambria Math" panose="02040503050406030204" pitchFamily="18" charset="0"/>
                            </a:rPr>
                            <m:t>𝑖</m:t>
                          </m:r>
                        </m:sub>
                      </m:sSub>
                      <m:sSub>
                        <m:sSubPr>
                          <m:ctrlPr>
                            <a:rPr lang="ar-AE" i="1">
                              <a:latin typeface="Cambria Math" panose="02040503050406030204" pitchFamily="18" charset="0"/>
                            </a:rPr>
                          </m:ctrlPr>
                        </m:sSubPr>
                        <m:e>
                          <m:r>
                            <a:rPr lang="ar-AE" i="1">
                              <a:latin typeface="Cambria Math" panose="02040503050406030204" pitchFamily="18" charset="0"/>
                            </a:rPr>
                            <m:t>𝜇</m:t>
                          </m:r>
                        </m:e>
                        <m:sub>
                          <m:r>
                            <a:rPr lang="ar-AE" i="1">
                              <a:latin typeface="Cambria Math" panose="02040503050406030204" pitchFamily="18" charset="0"/>
                            </a:rPr>
                            <m:t>𝑖</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𝑓</m:t>
                          </m:r>
                        </m:e>
                        <m:sub>
                          <m:r>
                            <a:rPr lang="ar-AE" i="1">
                              <a:latin typeface="Cambria Math" panose="02040503050406030204" pitchFamily="18" charset="0"/>
                            </a:rPr>
                            <m:t>𝑖</m:t>
                          </m:r>
                        </m:sub>
                      </m:sSub>
                    </m:oMath>
                  </m:oMathPara>
                </a14:m>
                <a:endParaRPr lang="ar-AE" dirty="0"/>
              </a:p>
              <a:p>
                <a:pPr marL="0" indent="0">
                  <a:buNone/>
                </a:pPr>
                <a:r>
                  <a:rPr lang="zh-CN" altLang="en-US" dirty="0"/>
                  <a:t>其中：</a:t>
                </a:r>
              </a:p>
              <a:p>
                <a:pPr marL="0" indent="0">
                  <a:buNone/>
                </a:pP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𝑢</m:t>
                        </m:r>
                      </m:e>
                      <m:sub>
                        <m:r>
                          <a:rPr lang="en-US" i="1" dirty="0" smtClean="0">
                            <a:latin typeface="Cambria Math" panose="02040503050406030204" pitchFamily="18" charset="0"/>
                          </a:rPr>
                          <m:t>𝑖</m:t>
                        </m:r>
                      </m:sub>
                    </m:sSub>
                  </m:oMath>
                </a14:m>
                <a:r>
                  <a:rPr lang="en-US" dirty="0"/>
                  <a:t>：</a:t>
                </a:r>
                <a:r>
                  <a:rPr lang="zh-CN" altLang="en-US" dirty="0"/>
                  <a:t>单位收益</a:t>
                </a:r>
                <a:r>
                  <a:rPr lang="en-US" altLang="zh-CN"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h</m:t>
                        </m:r>
                      </m:e>
                      <m:sub>
                        <m:r>
                          <a:rPr lang="en-US" i="1" dirty="0" smtClean="0">
                            <a:latin typeface="Cambria Math" panose="02040503050406030204" pitchFamily="18" charset="0"/>
                          </a:rPr>
                          <m:t>𝑖</m:t>
                        </m:r>
                      </m:sub>
                    </m:sSub>
                  </m:oMath>
                </a14:m>
                <a:r>
                  <a:rPr lang="en-US" dirty="0"/>
                  <a:t>：</a:t>
                </a:r>
                <a:r>
                  <a:rPr lang="zh-CN" altLang="en-US" dirty="0"/>
                  <a:t>持有成本</a:t>
                </a:r>
                <a:r>
                  <a:rPr lang="en-US" altLang="zh-CN"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i="1" dirty="0" smtClean="0">
                            <a:latin typeface="Cambria Math" panose="02040503050406030204" pitchFamily="18" charset="0"/>
                          </a:rPr>
                          <m:t>𝑖</m:t>
                        </m:r>
                      </m:sub>
                    </m:sSub>
                  </m:oMath>
                </a14:m>
                <a:r>
                  <a:rPr lang="en-US" dirty="0"/>
                  <a:t>：</a:t>
                </a:r>
                <a:r>
                  <a:rPr lang="zh-CN" altLang="en-US" dirty="0"/>
                  <a:t>缺货惩罚成本</a:t>
                </a:r>
                <a:r>
                  <a:rPr lang="en-US" altLang="zh-CN"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𝑓</m:t>
                        </m:r>
                      </m:e>
                      <m:sub>
                        <m:r>
                          <a:rPr lang="en-US" i="1" dirty="0" smtClean="0">
                            <a:latin typeface="Cambria Math" panose="02040503050406030204" pitchFamily="18" charset="0"/>
                          </a:rPr>
                          <m:t>𝑖</m:t>
                        </m:r>
                      </m:sub>
                    </m:sSub>
                  </m:oMath>
                </a14:m>
                <a:r>
                  <a:rPr lang="en-US" dirty="0"/>
                  <a:t>：</a:t>
                </a:r>
                <a:r>
                  <a:rPr lang="zh-CN" altLang="en-US" dirty="0"/>
                  <a:t>固定上架成本</a:t>
                </a:r>
                <a:r>
                  <a:rPr lang="en-US" altLang="zh-CN" dirty="0"/>
                  <a:t>;  </a:t>
                </a:r>
                <a14:m>
                  <m:oMath xmlns:m="http://schemas.openxmlformats.org/officeDocument/2006/math">
                    <m:sSub>
                      <m:sSubPr>
                        <m:ctrlPr>
                          <a:rPr lang="en-US" altLang="zh-CN" b="0" i="1" smtClean="0">
                            <a:latin typeface="Cambria Math" panose="02040503050406030204" pitchFamily="18" charset="0"/>
                          </a:rPr>
                        </m:ctrlPr>
                      </m:sSubPr>
                      <m:e>
                        <m:r>
                          <a:rPr lang="zh-CN" altLang="en-US" i="1" smtClean="0">
                            <a:latin typeface="Cambria Math" panose="02040503050406030204" pitchFamily="18" charset="0"/>
                          </a:rPr>
                          <m:t>𝜇</m:t>
                        </m:r>
                      </m:e>
                      <m:sub>
                        <m:r>
                          <a:rPr lang="en-US" altLang="zh-CN" b="0" i="1" smtClean="0">
                            <a:latin typeface="Cambria Math" panose="02040503050406030204" pitchFamily="18" charset="0"/>
                          </a:rPr>
                          <m:t>𝑖</m:t>
                        </m:r>
                      </m:sub>
                    </m:sSub>
                  </m:oMath>
                </a14:m>
                <a:r>
                  <a:rPr lang="en-US" dirty="0"/>
                  <a:t>：</a:t>
                </a:r>
                <a:r>
                  <a:rPr lang="zh-CN" altLang="en-US" dirty="0"/>
                  <a:t>需求均值</a:t>
                </a:r>
              </a:p>
              <a:p>
                <a:pPr marL="0" indent="0">
                  <a:buNone/>
                </a:pPr>
                <a:r>
                  <a:rPr lang="zh-CN" altLang="en-US" dirty="0"/>
                  <a:t>总体优化目标：</a:t>
                </a:r>
              </a:p>
              <a:p>
                <a:pPr marL="0" indent="0">
                  <a:buNone/>
                </a:pPr>
                <a14:m>
                  <m:oMathPara xmlns:m="http://schemas.openxmlformats.org/officeDocument/2006/math">
                    <m:oMathParaPr>
                      <m:jc m:val="centerGroup"/>
                    </m:oMathParaPr>
                    <m:oMath xmlns:m="http://schemas.openxmlformats.org/officeDocument/2006/math">
                      <m:r>
                        <m:rPr>
                          <m:sty m:val="p"/>
                        </m:rPr>
                        <a:rPr lang="en-US">
                          <a:latin typeface="Cambria Math" panose="02040503050406030204" pitchFamily="18" charset="0"/>
                        </a:rPr>
                        <m:t>max</m:t>
                      </m:r>
                      <m:r>
                        <a:rPr lang="en-US">
                          <a:latin typeface="Cambria Math" panose="02040503050406030204" pitchFamily="18" charset="0"/>
                        </a:rPr>
                        <m:t>⁡</m:t>
                      </m:r>
                      <m:func>
                        <m:funcPr>
                          <m:ctrlPr>
                            <a:rPr lang="ar-AE" i="1">
                              <a:latin typeface="Cambria Math" panose="02040503050406030204" pitchFamily="18" charset="0"/>
                            </a:rPr>
                          </m:ctrlPr>
                        </m:funcPr>
                        <m:fName>
                          <m:r>
                            <a:rPr lang="ar-AE">
                              <a:latin typeface="Cambria Math" panose="02040503050406030204" pitchFamily="18" charset="0"/>
                            </a:rPr>
                            <m:t>∑</m:t>
                          </m:r>
                        </m:fName>
                        <m:e>
                          <m:r>
                            <a:rPr lang="ar-AE" i="1">
                              <a:latin typeface="Cambria Math" panose="02040503050406030204" pitchFamily="18" charset="0"/>
                            </a:rPr>
                            <m:t>𝑁</m:t>
                          </m:r>
                        </m:e>
                      </m:func>
                      <m:nary>
                        <m:naryPr>
                          <m:chr m:val="∑"/>
                          <m:grow m:val="on"/>
                          <m:ctrlPr>
                            <a:rPr lang="ar-AE" i="1">
                              <a:latin typeface="Cambria Math" panose="02040503050406030204" pitchFamily="18" charset="0"/>
                            </a:rPr>
                          </m:ctrlPr>
                        </m:naryPr>
                        <m:sub>
                          <m:r>
                            <a:rPr lang="ar-AE" i="1">
                              <a:latin typeface="Cambria Math" panose="02040503050406030204" pitchFamily="18" charset="0"/>
                            </a:rPr>
                            <m:t>𝑞</m:t>
                          </m:r>
                          <m:r>
                            <a:rPr lang="ar-AE">
                              <a:latin typeface="Cambria Math" panose="02040503050406030204" pitchFamily="18" charset="0"/>
                            </a:rPr>
                            <m:t>=0</m:t>
                          </m:r>
                        </m:sub>
                        <m:sup>
                          <m:sSub>
                            <m:sSubPr>
                              <m:ctrlPr>
                                <a:rPr lang="ar-AE" i="1">
                                  <a:latin typeface="Cambria Math" panose="02040503050406030204" pitchFamily="18" charset="0"/>
                                </a:rPr>
                              </m:ctrlPr>
                            </m:sSubPr>
                            <m:e>
                              <m:r>
                                <a:rPr lang="ar-AE" i="1">
                                  <a:latin typeface="Cambria Math" panose="02040503050406030204" pitchFamily="18" charset="0"/>
                                </a:rPr>
                                <m:t>𝑄</m:t>
                              </m:r>
                            </m:e>
                            <m:sub>
                              <m:r>
                                <m:rPr>
                                  <m:sty m:val="p"/>
                                </m:rPr>
                                <a:rPr lang="en-US">
                                  <a:latin typeface="Cambria Math" panose="02040503050406030204" pitchFamily="18" charset="0"/>
                                </a:rPr>
                                <m:t>max</m:t>
                              </m:r>
                            </m:sub>
                          </m:sSub>
                        </m:sup>
                        <m:e>
                          <m:sSub>
                            <m:sSubPr>
                              <m:ctrlPr>
                                <a:rPr lang="ar-AE" i="1">
                                  <a:latin typeface="Cambria Math" panose="02040503050406030204" pitchFamily="18" charset="0"/>
                                </a:rPr>
                              </m:ctrlPr>
                            </m:sSubPr>
                            <m:e>
                              <m:r>
                                <a:rPr lang="ar-AE" i="1">
                                  <a:latin typeface="Cambria Math" panose="02040503050406030204" pitchFamily="18" charset="0"/>
                                </a:rPr>
                                <m:t>𝐺</m:t>
                              </m:r>
                            </m:e>
                            <m:sub>
                              <m:r>
                                <a:rPr lang="ar-AE" i="1">
                                  <a:latin typeface="Cambria Math" panose="02040503050406030204" pitchFamily="18" charset="0"/>
                                </a:rPr>
                                <m:t>𝑖𝑞</m:t>
                              </m:r>
                            </m:sub>
                          </m:sSub>
                        </m:e>
                      </m:nary>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𝑖𝑞</m:t>
                          </m:r>
                        </m:sub>
                      </m:sSub>
                    </m:oMath>
                  </m:oMathPara>
                </a14:m>
                <a:endParaRPr lang="ar-AE" dirty="0"/>
              </a:p>
              <a:p>
                <a:pPr marL="0" indent="0">
                  <a:buNone/>
                </a:pPr>
                <a:r>
                  <a:rPr lang="zh-CN" altLang="en-US" dirty="0"/>
                  <a:t>约束包括：</a:t>
                </a:r>
              </a:p>
              <a:p>
                <a:pPr marL="0" indent="0">
                  <a:buNone/>
                </a:pPr>
                <a14:m>
                  <m:oMathPara xmlns:m="http://schemas.openxmlformats.org/officeDocument/2006/math">
                    <m:oMathParaPr>
                      <m:jc m:val="centerGroup"/>
                    </m:oMathParaPr>
                    <m:oMath xmlns:m="http://schemas.openxmlformats.org/officeDocument/2006/math">
                      <m:nary>
                        <m:naryPr>
                          <m:chr m:val="∑"/>
                          <m:grow m:val="on"/>
                          <m:ctrlPr>
                            <a:rPr lang="ar-AE" i="1">
                              <a:latin typeface="Cambria Math" panose="02040503050406030204" pitchFamily="18" charset="0"/>
                            </a:rPr>
                          </m:ctrlPr>
                        </m:naryPr>
                        <m:sub>
                          <m:r>
                            <a:rPr lang="ar-AE" i="1">
                              <a:latin typeface="Cambria Math" panose="02040503050406030204" pitchFamily="18" charset="0"/>
                            </a:rPr>
                            <m:t>𝑖</m:t>
                          </m:r>
                          <m:r>
                            <a:rPr lang="ar-AE">
                              <a:latin typeface="Cambria Math" panose="02040503050406030204" pitchFamily="18" charset="0"/>
                            </a:rPr>
                            <m:t>=1</m:t>
                          </m:r>
                        </m:sub>
                        <m:sup>
                          <m:r>
                            <a:rPr lang="ar-AE" i="1">
                              <a:latin typeface="Cambria Math" panose="02040503050406030204" pitchFamily="18" charset="0"/>
                            </a:rPr>
                            <m:t>𝑁</m:t>
                          </m:r>
                        </m:sup>
                        <m:e>
                          <m:nary>
                            <m:naryPr>
                              <m:chr m:val="∑"/>
                              <m:limLoc m:val="undOvr"/>
                              <m:ctrlPr>
                                <a:rPr lang="ar-AE" i="1">
                                  <a:latin typeface="Cambria Math" panose="02040503050406030204" pitchFamily="18" charset="0"/>
                                </a:rPr>
                              </m:ctrlPr>
                            </m:naryPr>
                            <m:sub>
                              <m:r>
                                <a:rPr lang="ar-AE" i="1">
                                  <a:latin typeface="Cambria Math" panose="02040503050406030204" pitchFamily="18" charset="0"/>
                                </a:rPr>
                                <m:t>𝑞</m:t>
                              </m:r>
                              <m:r>
                                <a:rPr lang="ar-AE">
                                  <a:latin typeface="Cambria Math" panose="02040503050406030204" pitchFamily="18" charset="0"/>
                                </a:rPr>
                                <m:t>=0</m:t>
                              </m:r>
                            </m:sub>
                            <m:sup>
                              <m:sSub>
                                <m:sSubPr>
                                  <m:ctrlPr>
                                    <a:rPr lang="ar-AE" i="1">
                                      <a:latin typeface="Cambria Math" panose="02040503050406030204" pitchFamily="18" charset="0"/>
                                    </a:rPr>
                                  </m:ctrlPr>
                                </m:sSubPr>
                                <m:e>
                                  <m:r>
                                    <a:rPr lang="ar-AE" i="1">
                                      <a:latin typeface="Cambria Math" panose="02040503050406030204" pitchFamily="18" charset="0"/>
                                    </a:rPr>
                                    <m:t>𝑄</m:t>
                                  </m:r>
                                </m:e>
                                <m:sub>
                                  <m:r>
                                    <m:rPr>
                                      <m:sty m:val="p"/>
                                    </m:rPr>
                                    <a:rPr lang="en-US">
                                      <a:latin typeface="Cambria Math" panose="02040503050406030204" pitchFamily="18" charset="0"/>
                                    </a:rPr>
                                    <m:t>max</m:t>
                                  </m:r>
                                </m:sub>
                              </m:sSub>
                            </m:sup>
                            <m:e>
                              <m:sSubSup>
                                <m:sSubSupPr>
                                  <m:ctrlPr>
                                    <a:rPr lang="ar-AE" i="1">
                                      <a:latin typeface="Cambria Math" panose="02040503050406030204" pitchFamily="18" charset="0"/>
                                    </a:rPr>
                                  </m:ctrlPr>
                                </m:sSubSupPr>
                                <m:e>
                                  <m:r>
                                    <a:rPr lang="ar-AE" i="1">
                                      <a:latin typeface="Cambria Math" panose="02040503050406030204" pitchFamily="18" charset="0"/>
                                    </a:rPr>
                                    <m:t>𝐴</m:t>
                                  </m:r>
                                </m:e>
                                <m:sub>
                                  <m:r>
                                    <a:rPr lang="ar-AE" i="1">
                                      <a:latin typeface="Cambria Math" panose="02040503050406030204" pitchFamily="18" charset="0"/>
                                    </a:rPr>
                                    <m:t>𝑖𝑞</m:t>
                                  </m:r>
                                </m:sub>
                                <m:sup>
                                  <m:r>
                                    <a:rPr lang="ar-AE" i="1">
                                      <a:latin typeface="Cambria Math" panose="02040503050406030204" pitchFamily="18" charset="0"/>
                                    </a:rPr>
                                    <m:t>𝑉</m:t>
                                  </m:r>
                                </m:sup>
                              </m:sSubSup>
                            </m:e>
                          </m:nary>
                        </m:e>
                      </m:nary>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𝑖𝑞</m:t>
                          </m:r>
                        </m:sub>
                      </m:sSub>
                      <m:r>
                        <a:rPr lang="ar-AE">
                          <a:latin typeface="Cambria Math" panose="02040503050406030204" pitchFamily="18" charset="0"/>
                        </a:rPr>
                        <m:t>≤</m:t>
                      </m:r>
                      <m:r>
                        <a:rPr lang="ar-AE" i="1">
                          <a:latin typeface="Cambria Math" panose="02040503050406030204" pitchFamily="18" charset="0"/>
                        </a:rPr>
                        <m:t>𝑉</m:t>
                      </m:r>
                      <m:r>
                        <a:rPr lang="en-US" b="0" i="0" smtClean="0">
                          <a:latin typeface="Cambria Math" panose="02040503050406030204" pitchFamily="18" charset="0"/>
                        </a:rPr>
                        <m:t> </m:t>
                      </m:r>
                      <m:nary>
                        <m:naryPr>
                          <m:chr m:val="∑"/>
                          <m:grow m:val="on"/>
                          <m:ctrlPr>
                            <a:rPr lang="ar-AE" i="1">
                              <a:latin typeface="Cambria Math" panose="02040503050406030204" pitchFamily="18" charset="0"/>
                            </a:rPr>
                          </m:ctrlPr>
                        </m:naryPr>
                        <m:sub>
                          <m:r>
                            <a:rPr lang="ar-AE" i="1">
                              <a:latin typeface="Cambria Math" panose="02040503050406030204" pitchFamily="18" charset="0"/>
                            </a:rPr>
                            <m:t>𝑖</m:t>
                          </m:r>
                          <m:r>
                            <a:rPr lang="ar-AE">
                              <a:latin typeface="Cambria Math" panose="02040503050406030204" pitchFamily="18" charset="0"/>
                            </a:rPr>
                            <m:t>=1</m:t>
                          </m:r>
                        </m:sub>
                        <m:sup>
                          <m:r>
                            <a:rPr lang="ar-AE" i="1">
                              <a:latin typeface="Cambria Math" panose="02040503050406030204" pitchFamily="18" charset="0"/>
                            </a:rPr>
                            <m:t>𝑁</m:t>
                          </m:r>
                        </m:sup>
                        <m:e>
                          <m:nary>
                            <m:naryPr>
                              <m:chr m:val="∑"/>
                              <m:limLoc m:val="undOvr"/>
                              <m:ctrlPr>
                                <a:rPr lang="ar-AE" i="1">
                                  <a:latin typeface="Cambria Math" panose="02040503050406030204" pitchFamily="18" charset="0"/>
                                </a:rPr>
                              </m:ctrlPr>
                            </m:naryPr>
                            <m:sub>
                              <m:r>
                                <a:rPr lang="ar-AE" i="1">
                                  <a:latin typeface="Cambria Math" panose="02040503050406030204" pitchFamily="18" charset="0"/>
                                </a:rPr>
                                <m:t>𝑞</m:t>
                              </m:r>
                              <m:r>
                                <a:rPr lang="ar-AE">
                                  <a:latin typeface="Cambria Math" panose="02040503050406030204" pitchFamily="18" charset="0"/>
                                </a:rPr>
                                <m:t>=0</m:t>
                              </m:r>
                            </m:sub>
                            <m:sup>
                              <m:sSub>
                                <m:sSubPr>
                                  <m:ctrlPr>
                                    <a:rPr lang="ar-AE" i="1">
                                      <a:latin typeface="Cambria Math" panose="02040503050406030204" pitchFamily="18" charset="0"/>
                                    </a:rPr>
                                  </m:ctrlPr>
                                </m:sSubPr>
                                <m:e>
                                  <m:r>
                                    <a:rPr lang="ar-AE" i="1">
                                      <a:latin typeface="Cambria Math" panose="02040503050406030204" pitchFamily="18" charset="0"/>
                                    </a:rPr>
                                    <m:t>𝑄</m:t>
                                  </m:r>
                                </m:e>
                                <m:sub>
                                  <m:r>
                                    <m:rPr>
                                      <m:sty m:val="p"/>
                                    </m:rPr>
                                    <a:rPr lang="en-US">
                                      <a:latin typeface="Cambria Math" panose="02040503050406030204" pitchFamily="18" charset="0"/>
                                    </a:rPr>
                                    <m:t>max</m:t>
                                  </m:r>
                                </m:sub>
                              </m:sSub>
                            </m:sup>
                            <m:e>
                              <m:sSubSup>
                                <m:sSubSupPr>
                                  <m:ctrlPr>
                                    <a:rPr lang="ar-AE" i="1">
                                      <a:latin typeface="Cambria Math" panose="02040503050406030204" pitchFamily="18" charset="0"/>
                                    </a:rPr>
                                  </m:ctrlPr>
                                </m:sSubSupPr>
                                <m:e>
                                  <m:r>
                                    <a:rPr lang="ar-AE" i="1">
                                      <a:latin typeface="Cambria Math" panose="02040503050406030204" pitchFamily="18" charset="0"/>
                                    </a:rPr>
                                    <m:t>𝐴</m:t>
                                  </m:r>
                                </m:e>
                                <m:sub>
                                  <m:r>
                                    <a:rPr lang="ar-AE" i="1">
                                      <a:latin typeface="Cambria Math" panose="02040503050406030204" pitchFamily="18" charset="0"/>
                                    </a:rPr>
                                    <m:t>𝑖𝑞</m:t>
                                  </m:r>
                                </m:sub>
                                <m:sup>
                                  <m:r>
                                    <a:rPr lang="ar-AE" i="1">
                                      <a:latin typeface="Cambria Math" panose="02040503050406030204" pitchFamily="18" charset="0"/>
                                    </a:rPr>
                                    <m:t>𝑊</m:t>
                                  </m:r>
                                </m:sup>
                              </m:sSubSup>
                            </m:e>
                          </m:nary>
                        </m:e>
                      </m:nary>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𝑖𝑞</m:t>
                          </m:r>
                        </m:sub>
                      </m:sSub>
                      <m:r>
                        <a:rPr lang="ar-AE">
                          <a:latin typeface="Cambria Math" panose="02040503050406030204" pitchFamily="18" charset="0"/>
                        </a:rPr>
                        <m:t>≤</m:t>
                      </m:r>
                      <m:r>
                        <a:rPr lang="ar-AE" i="1">
                          <a:latin typeface="Cambria Math" panose="02040503050406030204" pitchFamily="18" charset="0"/>
                        </a:rPr>
                        <m:t>𝑊</m:t>
                      </m:r>
                    </m:oMath>
                  </m:oMathPara>
                </a14:m>
                <a:endParaRPr lang="ar-AE" dirty="0"/>
              </a:p>
              <a:p>
                <a:pPr marL="0" indent="0">
                  <a:buNone/>
                </a:pPr>
                <a:endParaRPr lang="en-US" dirty="0"/>
              </a:p>
            </p:txBody>
          </p:sp>
        </mc:Choice>
        <mc:Fallback>
          <p:sp>
            <p:nvSpPr>
              <p:cNvPr id="3" name="Content Placeholder 2">
                <a:extLst>
                  <a:ext uri="{FF2B5EF4-FFF2-40B4-BE49-F238E27FC236}">
                    <a16:creationId xmlns:a16="http://schemas.microsoft.com/office/drawing/2014/main" id="{A0A41D75-1A0D-C55C-DE72-D0690B86D767}"/>
                  </a:ext>
                </a:extLst>
              </p:cNvPr>
              <p:cNvSpPr>
                <a:spLocks noGrp="1" noRot="1" noChangeAspect="1" noMove="1" noResize="1" noEditPoints="1" noAdjustHandles="1" noChangeArrowheads="1" noChangeShapeType="1" noTextEdit="1"/>
              </p:cNvSpPr>
              <p:nvPr>
                <p:ph idx="1"/>
              </p:nvPr>
            </p:nvSpPr>
            <p:spPr>
              <a:xfrm>
                <a:off x="246036" y="781750"/>
                <a:ext cx="11699928" cy="5929016"/>
              </a:xfrm>
              <a:blipFill>
                <a:blip r:embed="rId2"/>
                <a:stretch>
                  <a:fillRect l="-6508" t="-1709" r="-759" b="-89316"/>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C770F7E5-5050-4FAE-DAE4-BE01D9BB9113}"/>
              </a:ext>
            </a:extLst>
          </p:cNvPr>
          <p:cNvSpPr txBox="1">
            <a:spLocks/>
          </p:cNvSpPr>
          <p:nvPr/>
        </p:nvSpPr>
        <p:spPr>
          <a:xfrm>
            <a:off x="0" y="0"/>
            <a:ext cx="1487837" cy="7817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b="1" dirty="0"/>
              <a:t>模型</a:t>
            </a:r>
            <a:endParaRPr lang="en-US" dirty="0"/>
          </a:p>
        </p:txBody>
      </p:sp>
    </p:spTree>
    <p:extLst>
      <p:ext uri="{BB962C8B-B14F-4D97-AF65-F5344CB8AC3E}">
        <p14:creationId xmlns:p14="http://schemas.microsoft.com/office/powerpoint/2010/main" val="3914696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7FCB8-D581-CED7-96DC-A17B5BE07455}"/>
              </a:ext>
            </a:extLst>
          </p:cNvPr>
          <p:cNvSpPr>
            <a:spLocks noGrp="1"/>
          </p:cNvSpPr>
          <p:nvPr>
            <p:ph type="title"/>
          </p:nvPr>
        </p:nvSpPr>
        <p:spPr>
          <a:xfrm>
            <a:off x="0" y="18255"/>
            <a:ext cx="10515600" cy="1325563"/>
          </a:xfrm>
        </p:spPr>
        <p:txBody>
          <a:bodyPr/>
          <a:lstStyle/>
          <a:p>
            <a:r>
              <a:rPr lang="zh-CN" altLang="en-US" dirty="0">
                <a:latin typeface="+mj-ea"/>
              </a:rPr>
              <a:t>求解方法设计：</a:t>
            </a:r>
            <a:r>
              <a:rPr lang="en-US" dirty="0" err="1">
                <a:latin typeface="+mj-ea"/>
              </a:rPr>
              <a:t>Greedy、DP-Lagrangian</a:t>
            </a:r>
            <a:r>
              <a:rPr lang="en-US" dirty="0">
                <a:latin typeface="+mj-ea"/>
              </a:rPr>
              <a:t> </a:t>
            </a:r>
            <a:r>
              <a:rPr lang="zh-CN" altLang="en-US" dirty="0">
                <a:latin typeface="+mj-ea"/>
              </a:rPr>
              <a:t>与 </a:t>
            </a:r>
            <a:r>
              <a:rPr lang="en-US" dirty="0">
                <a:latin typeface="+mj-ea"/>
              </a:rPr>
              <a:t>CP-SAT</a:t>
            </a:r>
          </a:p>
        </p:txBody>
      </p:sp>
      <p:sp>
        <p:nvSpPr>
          <p:cNvPr id="3" name="Content Placeholder 2">
            <a:extLst>
              <a:ext uri="{FF2B5EF4-FFF2-40B4-BE49-F238E27FC236}">
                <a16:creationId xmlns:a16="http://schemas.microsoft.com/office/drawing/2014/main" id="{2C844462-290C-BDF8-774A-5A3A871F028C}"/>
              </a:ext>
            </a:extLst>
          </p:cNvPr>
          <p:cNvSpPr>
            <a:spLocks noGrp="1"/>
          </p:cNvSpPr>
          <p:nvPr>
            <p:ph idx="1"/>
          </p:nvPr>
        </p:nvSpPr>
        <p:spPr>
          <a:xfrm>
            <a:off x="0" y="1350932"/>
            <a:ext cx="7653127" cy="1683450"/>
          </a:xfrm>
        </p:spPr>
        <p:txBody>
          <a:bodyPr>
            <a:normAutofit/>
          </a:bodyPr>
          <a:lstStyle/>
          <a:p>
            <a:pPr marL="0" indent="0">
              <a:buNone/>
            </a:pPr>
            <a:r>
              <a:rPr lang="en-US" b="1" dirty="0"/>
              <a:t>1. Greedy</a:t>
            </a:r>
            <a:endParaRPr lang="en-US" dirty="0"/>
          </a:p>
          <a:p>
            <a:pPr marL="0" indent="0">
              <a:buNone/>
            </a:pPr>
            <a:r>
              <a:rPr lang="zh-CN" altLang="en-US" dirty="0"/>
              <a:t>先为每个 </a:t>
            </a:r>
            <a:r>
              <a:rPr lang="en-US" dirty="0"/>
              <a:t>SKU </a:t>
            </a:r>
            <a:r>
              <a:rPr lang="zh-CN" altLang="en-US" dirty="0"/>
              <a:t>找局部最优库存水平</a:t>
            </a:r>
          </a:p>
          <a:p>
            <a:pPr marL="0" indent="0">
              <a:buNone/>
            </a:pPr>
            <a:r>
              <a:rPr lang="zh-CN" altLang="en-US" dirty="0"/>
              <a:t>再按资源收益密度进行装载</a:t>
            </a:r>
            <a:endParaRPr lang="en-US" altLang="zh-CN" dirty="0"/>
          </a:p>
          <a:p>
            <a:pPr marL="0" indent="0">
              <a:buNone/>
            </a:pPr>
            <a:endParaRPr lang="zh-CN" altLang="en-US" dirty="0"/>
          </a:p>
          <a:p>
            <a:pPr marL="0" indent="0">
              <a:buNone/>
            </a:pPr>
            <a:endParaRPr lang="zh-CN" altLang="en-US" dirty="0"/>
          </a:p>
          <a:p>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D72C3E0-D068-4714-ED0B-BA434F9F5E47}"/>
                  </a:ext>
                </a:extLst>
              </p:cNvPr>
              <p:cNvSpPr txBox="1"/>
              <p:nvPr/>
            </p:nvSpPr>
            <p:spPr>
              <a:xfrm>
                <a:off x="6595791" y="1732069"/>
                <a:ext cx="1541721" cy="9584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en-US" sz="2800" b="0" i="1" dirty="0" smtClean="0">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𝐺</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𝑞</m:t>
                              </m:r>
                            </m:sub>
                          </m:sSub>
                        </m:num>
                        <m:den>
                          <m:r>
                            <a:rPr lang="en-US" sz="2800" i="1" dirty="0">
                              <a:latin typeface="Cambria Math" panose="02040503050406030204" pitchFamily="18" charset="0"/>
                            </a:rPr>
                            <m:t>资源</m:t>
                          </m:r>
                          <m:r>
                            <a:rPr lang="en-US" sz="2800" i="1" dirty="0" smtClean="0">
                              <a:latin typeface="Cambria Math" panose="02040503050406030204" pitchFamily="18" charset="0"/>
                            </a:rPr>
                            <m:t>占用</m:t>
                          </m:r>
                        </m:den>
                      </m:f>
                    </m:oMath>
                  </m:oMathPara>
                </a14:m>
                <a:br>
                  <a:rPr lang="en-US" sz="2800" dirty="0"/>
                </a:br>
                <a:endParaRPr lang="en-US" sz="2800" dirty="0"/>
              </a:p>
            </p:txBody>
          </p:sp>
        </mc:Choice>
        <mc:Fallback xmlns="">
          <p:sp>
            <p:nvSpPr>
              <p:cNvPr id="11" name="TextBox 10">
                <a:extLst>
                  <a:ext uri="{FF2B5EF4-FFF2-40B4-BE49-F238E27FC236}">
                    <a16:creationId xmlns:a16="http://schemas.microsoft.com/office/drawing/2014/main" id="{7D72C3E0-D068-4714-ED0B-BA434F9F5E47}"/>
                  </a:ext>
                </a:extLst>
              </p:cNvPr>
              <p:cNvSpPr txBox="1">
                <a:spLocks noRot="1" noChangeAspect="1" noMove="1" noResize="1" noEditPoints="1" noAdjustHandles="1" noChangeArrowheads="1" noChangeShapeType="1" noTextEdit="1"/>
              </p:cNvSpPr>
              <p:nvPr/>
            </p:nvSpPr>
            <p:spPr>
              <a:xfrm>
                <a:off x="6595791" y="1732069"/>
                <a:ext cx="1541721" cy="958404"/>
              </a:xfrm>
              <a:prstGeom prst="rect">
                <a:avLst/>
              </a:prstGeom>
              <a:blipFill>
                <a:blip r:embed="rId2"/>
                <a:stretch>
                  <a:fillRect l="-4918" r="-9016" b="-118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D74C6B2-D241-5D23-1A56-4C84CD5AA7B2}"/>
                  </a:ext>
                </a:extLst>
              </p:cNvPr>
              <p:cNvSpPr txBox="1"/>
              <p:nvPr/>
            </p:nvSpPr>
            <p:spPr>
              <a:xfrm>
                <a:off x="4473655" y="3663847"/>
                <a:ext cx="2608406" cy="1474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2800" i="1" smtClean="0">
                              <a:latin typeface="Cambria Math" panose="02040503050406030204" pitchFamily="18" charset="0"/>
                            </a:rPr>
                          </m:ctrlPr>
                        </m:funcPr>
                        <m:fName>
                          <m:r>
                            <m:rPr>
                              <m:sty m:val="p"/>
                            </m:rPr>
                            <a:rPr lang="en-US" sz="2800" i="0">
                              <a:latin typeface="Cambria Math" panose="02040503050406030204" pitchFamily="18" charset="0"/>
                            </a:rPr>
                            <m:t>max</m:t>
                          </m:r>
                        </m:fName>
                        <m:e>
                          <m:nary>
                            <m:naryPr>
                              <m:chr m:val="∑"/>
                              <m:subHide m:val="on"/>
                              <m:supHide m:val="on"/>
                              <m:ctrlPr>
                                <a:rPr lang="en-US" sz="2800" i="1">
                                  <a:latin typeface="Cambria Math" panose="02040503050406030204" pitchFamily="18" charset="0"/>
                                </a:rPr>
                              </m:ctrlPr>
                            </m:naryPr>
                            <m:sub/>
                            <m:sup/>
                            <m:e>
                              <m:sSub>
                                <m:sSubPr>
                                  <m:ctrlPr>
                                    <a:rPr lang="en-US" sz="2800" i="1">
                                      <a:latin typeface="Cambria Math" panose="02040503050406030204" pitchFamily="18" charset="0"/>
                                    </a:rPr>
                                  </m:ctrlPr>
                                </m:sSubPr>
                                <m:e>
                                  <m:r>
                                    <a:rPr lang="en-US" sz="2800" i="1">
                                      <a:latin typeface="Cambria Math" panose="02040503050406030204" pitchFamily="18" charset="0"/>
                                    </a:rPr>
                                    <m:t>𝐺</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𝑞</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𝑞</m:t>
                                  </m:r>
                                </m:sub>
                              </m:sSub>
                            </m:e>
                          </m:nary>
                        </m:e>
                      </m:func>
                    </m:oMath>
                  </m:oMathPara>
                </a14:m>
                <a:endParaRPr lang="en-US" sz="2800" dirty="0"/>
              </a:p>
              <a:p>
                <a:endParaRPr lang="en-US" sz="2800" dirty="0"/>
              </a:p>
            </p:txBody>
          </p:sp>
        </mc:Choice>
        <mc:Fallback xmlns="">
          <p:sp>
            <p:nvSpPr>
              <p:cNvPr id="15" name="TextBox 14">
                <a:extLst>
                  <a:ext uri="{FF2B5EF4-FFF2-40B4-BE49-F238E27FC236}">
                    <a16:creationId xmlns:a16="http://schemas.microsoft.com/office/drawing/2014/main" id="{CD74C6B2-D241-5D23-1A56-4C84CD5AA7B2}"/>
                  </a:ext>
                </a:extLst>
              </p:cNvPr>
              <p:cNvSpPr txBox="1">
                <a:spLocks noRot="1" noChangeAspect="1" noMove="1" noResize="1" noEditPoints="1" noAdjustHandles="1" noChangeArrowheads="1" noChangeShapeType="1" noTextEdit="1"/>
              </p:cNvSpPr>
              <p:nvPr/>
            </p:nvSpPr>
            <p:spPr>
              <a:xfrm>
                <a:off x="4473655" y="3663847"/>
                <a:ext cx="2608406" cy="1474121"/>
              </a:xfrm>
              <a:prstGeom prst="rect">
                <a:avLst/>
              </a:prstGeom>
              <a:blipFill>
                <a:blip r:embed="rId3"/>
                <a:stretch>
                  <a:fillRect l="-18932" t="-103419" b="-114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BF04310-E90C-AB07-E830-64204A4B410B}"/>
                  </a:ext>
                </a:extLst>
              </p:cNvPr>
              <p:cNvSpPr txBox="1"/>
              <p:nvPr/>
            </p:nvSpPr>
            <p:spPr>
              <a:xfrm>
                <a:off x="7777113" y="3693023"/>
                <a:ext cx="4892509" cy="14741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2800" i="1" smtClean="0">
                              <a:latin typeface="Cambria Math" panose="02040503050406030204" pitchFamily="18" charset="0"/>
                            </a:rPr>
                          </m:ctrlPr>
                        </m:funcPr>
                        <m:fName>
                          <m:r>
                            <m:rPr>
                              <m:sty m:val="p"/>
                            </m:rPr>
                            <a:rPr lang="en-US" sz="2800" i="0">
                              <a:latin typeface="Cambria Math" panose="02040503050406030204" pitchFamily="18" charset="0"/>
                            </a:rPr>
                            <m:t>max</m:t>
                          </m:r>
                        </m:fName>
                        <m:e>
                          <m:nary>
                            <m:naryPr>
                              <m:chr m:val="∑"/>
                              <m:subHide m:val="on"/>
                              <m:supHide m:val="on"/>
                              <m:ctrlPr>
                                <a:rPr lang="en-US" sz="2800" i="1">
                                  <a:latin typeface="Cambria Math" panose="02040503050406030204" pitchFamily="18" charset="0"/>
                                </a:rPr>
                              </m:ctrlPr>
                            </m:naryPr>
                            <m:sub/>
                            <m:sup/>
                            <m:e>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𝐺</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𝑞</m:t>
                                      </m:r>
                                    </m:sub>
                                  </m:sSub>
                                  <m:r>
                                    <a:rPr lang="en-US" sz="2800" i="1">
                                      <a:latin typeface="Cambria Math" panose="02040503050406030204" pitchFamily="18" charset="0"/>
                                    </a:rPr>
                                    <m:t>−</m:t>
                                  </m:r>
                                  <m:r>
                                    <a:rPr lang="en-US" sz="2800" i="1">
                                      <a:latin typeface="Cambria Math" panose="02040503050406030204" pitchFamily="18" charset="0"/>
                                    </a:rPr>
                                    <m:t>𝜆</m:t>
                                  </m:r>
                                  <m:sSubSup>
                                    <m:sSubSupPr>
                                      <m:ctrlPr>
                                        <a:rPr lang="en-US" sz="2800" i="1">
                                          <a:latin typeface="Cambria Math" panose="02040503050406030204" pitchFamily="18" charset="0"/>
                                        </a:rPr>
                                      </m:ctrlPr>
                                    </m:sSubSupPr>
                                    <m:e>
                                      <m:r>
                                        <a:rPr lang="en-US" sz="2800" i="1">
                                          <a:latin typeface="Cambria Math" panose="02040503050406030204" pitchFamily="18" charset="0"/>
                                        </a:rPr>
                                        <m:t>𝐴</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𝑞</m:t>
                                      </m:r>
                                    </m:sub>
                                    <m:sup>
                                      <m:r>
                                        <a:rPr lang="en-US" sz="2800" i="1">
                                          <a:latin typeface="Cambria Math" panose="02040503050406030204" pitchFamily="18" charset="0"/>
                                        </a:rPr>
                                        <m:t>𝑊</m:t>
                                      </m:r>
                                    </m:sup>
                                  </m:sSubSup>
                                </m:e>
                              </m:d>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r>
                                    <a:rPr lang="en-US" sz="2800" i="1">
                                      <a:latin typeface="Cambria Math" panose="02040503050406030204" pitchFamily="18" charset="0"/>
                                    </a:rPr>
                                    <m:t>,</m:t>
                                  </m:r>
                                  <m:r>
                                    <a:rPr lang="en-US" sz="2800" i="1">
                                      <a:latin typeface="Cambria Math" panose="02040503050406030204" pitchFamily="18" charset="0"/>
                                    </a:rPr>
                                    <m:t>𝑞</m:t>
                                  </m:r>
                                </m:sub>
                              </m:sSub>
                            </m:e>
                          </m:nary>
                        </m:e>
                      </m:func>
                    </m:oMath>
                  </m:oMathPara>
                </a14:m>
                <a:endParaRPr lang="en-US" sz="2800" dirty="0"/>
              </a:p>
              <a:p>
                <a:endParaRPr lang="en-US" sz="2800" dirty="0"/>
              </a:p>
            </p:txBody>
          </p:sp>
        </mc:Choice>
        <mc:Fallback xmlns="">
          <p:sp>
            <p:nvSpPr>
              <p:cNvPr id="16" name="TextBox 15">
                <a:extLst>
                  <a:ext uri="{FF2B5EF4-FFF2-40B4-BE49-F238E27FC236}">
                    <a16:creationId xmlns:a16="http://schemas.microsoft.com/office/drawing/2014/main" id="{6BF04310-E90C-AB07-E830-64204A4B410B}"/>
                  </a:ext>
                </a:extLst>
              </p:cNvPr>
              <p:cNvSpPr txBox="1">
                <a:spLocks noRot="1" noChangeAspect="1" noMove="1" noResize="1" noEditPoints="1" noAdjustHandles="1" noChangeArrowheads="1" noChangeShapeType="1" noTextEdit="1"/>
              </p:cNvSpPr>
              <p:nvPr/>
            </p:nvSpPr>
            <p:spPr>
              <a:xfrm>
                <a:off x="7777113" y="3693023"/>
                <a:ext cx="4892509" cy="1474121"/>
              </a:xfrm>
              <a:prstGeom prst="rect">
                <a:avLst/>
              </a:prstGeom>
              <a:blipFill>
                <a:blip r:embed="rId4"/>
                <a:stretch>
                  <a:fillRect l="-1295" t="-102542" b="-112712"/>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A7504398-7E4C-80F5-DD6B-A91F517C9826}"/>
              </a:ext>
            </a:extLst>
          </p:cNvPr>
          <p:cNvCxnSpPr/>
          <p:nvPr/>
        </p:nvCxnSpPr>
        <p:spPr>
          <a:xfrm>
            <a:off x="6974740" y="4205893"/>
            <a:ext cx="1225484"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0" name="TextBox 19">
            <a:extLst>
              <a:ext uri="{FF2B5EF4-FFF2-40B4-BE49-F238E27FC236}">
                <a16:creationId xmlns:a16="http://schemas.microsoft.com/office/drawing/2014/main" id="{AF458DFE-B6AF-5612-F41F-4AD198DFA561}"/>
              </a:ext>
            </a:extLst>
          </p:cNvPr>
          <p:cNvSpPr txBox="1"/>
          <p:nvPr/>
        </p:nvSpPr>
        <p:spPr>
          <a:xfrm>
            <a:off x="62712" y="3178234"/>
            <a:ext cx="4768525" cy="1815882"/>
          </a:xfrm>
          <a:prstGeom prst="rect">
            <a:avLst/>
          </a:prstGeom>
          <a:noFill/>
        </p:spPr>
        <p:txBody>
          <a:bodyPr wrap="square">
            <a:spAutoFit/>
          </a:bodyPr>
          <a:lstStyle/>
          <a:p>
            <a:pPr marL="0" indent="0">
              <a:buNone/>
            </a:pPr>
            <a:r>
              <a:rPr lang="en-US" altLang="zh-CN" sz="2800" b="1" dirty="0"/>
              <a:t>2. </a:t>
            </a:r>
            <a:r>
              <a:rPr lang="en-US" sz="2800" b="1" dirty="0"/>
              <a:t>DP-</a:t>
            </a:r>
            <a:r>
              <a:rPr lang="en-US" sz="2800" b="1" dirty="0" err="1"/>
              <a:t>Lagrangian</a:t>
            </a:r>
            <a:endParaRPr lang="en-US" sz="2800" dirty="0"/>
          </a:p>
          <a:p>
            <a:pPr marL="0" indent="0">
              <a:buNone/>
            </a:pPr>
            <a:r>
              <a:rPr lang="zh-CN" altLang="en-US" sz="2800" dirty="0"/>
              <a:t>将重量约束松弛进目标函数</a:t>
            </a:r>
          </a:p>
          <a:p>
            <a:pPr marL="0" indent="0">
              <a:buNone/>
            </a:pPr>
            <a:r>
              <a:rPr lang="zh-CN" altLang="en-US" sz="2800" dirty="0"/>
              <a:t>对剩余问题做动态规划</a:t>
            </a:r>
          </a:p>
          <a:p>
            <a:pPr marL="0" indent="0">
              <a:buNone/>
            </a:pPr>
            <a:r>
              <a:rPr lang="zh-CN" altLang="en-US" sz="2800" dirty="0"/>
              <a:t>在精度与效率之间取得平衡</a:t>
            </a:r>
            <a:endParaRPr lang="en-US" altLang="zh-CN" sz="2800" dirty="0"/>
          </a:p>
        </p:txBody>
      </p:sp>
      <p:sp>
        <p:nvSpPr>
          <p:cNvPr id="22" name="TextBox 21">
            <a:extLst>
              <a:ext uri="{FF2B5EF4-FFF2-40B4-BE49-F238E27FC236}">
                <a16:creationId xmlns:a16="http://schemas.microsoft.com/office/drawing/2014/main" id="{D05D3A16-63F1-3B19-1FA5-989EE6DCCEE8}"/>
              </a:ext>
            </a:extLst>
          </p:cNvPr>
          <p:cNvSpPr txBox="1"/>
          <p:nvPr/>
        </p:nvSpPr>
        <p:spPr>
          <a:xfrm>
            <a:off x="0" y="5322825"/>
            <a:ext cx="12375956" cy="954107"/>
          </a:xfrm>
          <a:prstGeom prst="rect">
            <a:avLst/>
          </a:prstGeom>
          <a:noFill/>
        </p:spPr>
        <p:txBody>
          <a:bodyPr wrap="square">
            <a:spAutoFit/>
          </a:bodyPr>
          <a:lstStyle/>
          <a:p>
            <a:pPr marL="0" indent="0">
              <a:buNone/>
            </a:pPr>
            <a:r>
              <a:rPr lang="en-US" altLang="zh-CN" sz="2800" b="1" dirty="0"/>
              <a:t>3. </a:t>
            </a:r>
            <a:r>
              <a:rPr lang="en-US" sz="2800" b="1" dirty="0"/>
              <a:t>CP-SAT</a:t>
            </a:r>
            <a:endParaRPr lang="en-US" sz="2800" dirty="0"/>
          </a:p>
          <a:p>
            <a:pPr marL="0" indent="0">
              <a:buNone/>
            </a:pPr>
            <a:r>
              <a:rPr lang="zh-CN" altLang="en-US" sz="2800" dirty="0"/>
              <a:t>直接求解离散整数规划模型可获得全局最优或高质量可行解作为精确优化基准</a:t>
            </a:r>
          </a:p>
        </p:txBody>
      </p:sp>
    </p:spTree>
    <p:extLst>
      <p:ext uri="{BB962C8B-B14F-4D97-AF65-F5344CB8AC3E}">
        <p14:creationId xmlns:p14="http://schemas.microsoft.com/office/powerpoint/2010/main" val="3001592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9D09C-CFED-CF67-8A41-A43ECDFD92B9}"/>
              </a:ext>
            </a:extLst>
          </p:cNvPr>
          <p:cNvSpPr>
            <a:spLocks noGrp="1"/>
          </p:cNvSpPr>
          <p:nvPr>
            <p:ph type="title"/>
          </p:nvPr>
        </p:nvSpPr>
        <p:spPr>
          <a:xfrm>
            <a:off x="0" y="-177687"/>
            <a:ext cx="5257800" cy="1325563"/>
          </a:xfrm>
        </p:spPr>
        <p:txBody>
          <a:bodyPr/>
          <a:lstStyle/>
          <a:p>
            <a:r>
              <a:rPr lang="en-US" dirty="0" err="1"/>
              <a:t>文献启发</a:t>
            </a:r>
            <a:r>
              <a:rPr lang="en-US" dirty="0"/>
              <a:t>(hybrid_v2)</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BFF14FF-193B-7E77-3DB5-9B21D77EB601}"/>
                  </a:ext>
                </a:extLst>
              </p:cNvPr>
              <p:cNvSpPr>
                <a:spLocks noGrp="1"/>
              </p:cNvSpPr>
              <p:nvPr>
                <p:ph idx="1"/>
              </p:nvPr>
            </p:nvSpPr>
            <p:spPr>
              <a:xfrm>
                <a:off x="838200" y="976538"/>
                <a:ext cx="10515600" cy="5881461"/>
              </a:xfrm>
            </p:spPr>
            <p:txBody>
              <a:bodyPr>
                <a:noAutofit/>
              </a:bodyPr>
              <a:lstStyle/>
              <a:p>
                <a:pPr marL="0" indent="0">
                  <a:buNone/>
                </a:pPr>
                <a:r>
                  <a:rPr lang="zh-CN" altLang="en-US" sz="2200" dirty="0"/>
                  <a:t>本文构造的 </a:t>
                </a:r>
                <a:r>
                  <a:rPr lang="en-US" sz="2200" dirty="0"/>
                  <a:t>hybrid_v2 </a:t>
                </a:r>
                <a:r>
                  <a:rPr lang="zh-CN" altLang="en-US" sz="2200" dirty="0"/>
                  <a:t>并非对单篇文献模型的严格复现，而是一个 </a:t>
                </a:r>
                <a:r>
                  <a:rPr lang="en-US" sz="2200" dirty="0"/>
                  <a:t>literature-inspired benchmark，</a:t>
                </a:r>
                <a:r>
                  <a:rPr lang="zh-CN" altLang="en-US" sz="2200" dirty="0"/>
                  <a:t>用于与主联合优化模型进行对比。</a:t>
                </a:r>
              </a:p>
              <a:p>
                <a:pPr marL="0" indent="0">
                  <a:buNone/>
                </a:pPr>
                <a:r>
                  <a:rPr lang="zh-CN" altLang="en-US" sz="2200" b="1" dirty="0"/>
                  <a:t>核心思想</a:t>
                </a:r>
                <a:endParaRPr lang="zh-CN" altLang="en-US" sz="2200" dirty="0"/>
              </a:p>
              <a:p>
                <a:pPr marL="0" indent="0">
                  <a:buNone/>
                </a:pPr>
                <a:r>
                  <a:rPr lang="en-US" sz="2200" dirty="0"/>
                  <a:t>hybrid_v2 </a:t>
                </a:r>
                <a:r>
                  <a:rPr lang="zh-CN" altLang="en-US" sz="2200" dirty="0"/>
                  <a:t>采用“两阶段”启发式流程：</a:t>
                </a:r>
              </a:p>
              <a:p>
                <a:pPr marL="0" indent="0">
                  <a:buNone/>
                </a:pPr>
                <a:r>
                  <a:rPr lang="zh-CN" altLang="en-US" sz="2200" b="1" dirty="0"/>
                  <a:t>代理选品</a:t>
                </a:r>
                <a:br>
                  <a:rPr lang="zh-CN" altLang="en-US" sz="2200" dirty="0"/>
                </a:br>
                <a:r>
                  <a:rPr lang="zh-CN" altLang="en-US" sz="2200" dirty="0"/>
                  <a:t>基于训练期 </a:t>
                </a:r>
                <a:r>
                  <a:rPr lang="en-US" sz="2200" dirty="0"/>
                  <a:t>SKU </a:t>
                </a:r>
                <a:r>
                  <a:rPr lang="zh-CN" altLang="en-US" sz="2200" dirty="0"/>
                  <a:t>出现概率、日均需求和累计销量构造 </a:t>
                </a:r>
                <a:r>
                  <a:rPr lang="en-US" sz="2200" dirty="0"/>
                  <a:t>MCI </a:t>
                </a:r>
                <a:r>
                  <a:rPr lang="zh-CN" altLang="en-US" sz="2200" dirty="0"/>
                  <a:t>风格得分：</a:t>
                </a:r>
              </a:p>
              <a:p>
                <a:pPr marL="0" indent="0">
                  <a:buNone/>
                </a:pPr>
                <a14:m>
                  <m:oMathPara xmlns:m="http://schemas.openxmlformats.org/officeDocument/2006/math">
                    <m:oMathParaPr>
                      <m:jc m:val="centerGroup"/>
                    </m:oMathParaPr>
                    <m:oMath xmlns:m="http://schemas.openxmlformats.org/officeDocument/2006/math">
                      <m:sSub>
                        <m:sSubPr>
                          <m:ctrlPr>
                            <a:rPr lang="ar-AE" sz="2200"/>
                          </m:ctrlPr>
                        </m:sSubPr>
                        <m:e>
                          <m:r>
                            <m:rPr>
                              <m:nor/>
                            </m:rPr>
                            <a:rPr lang="en-US" sz="2200" b="0"/>
                            <m:t>MCI</m:t>
                          </m:r>
                        </m:e>
                        <m:sub>
                          <m:r>
                            <a:rPr lang="ar-AE" sz="2200" b="0" i="1"/>
                            <m:t>𝑖</m:t>
                          </m:r>
                        </m:sub>
                      </m:sSub>
                      <m:r>
                        <a:rPr lang="ar-AE" sz="2200"/>
                        <m:t>=</m:t>
                      </m:r>
                      <m:sSup>
                        <m:sSupPr>
                          <m:ctrlPr>
                            <a:rPr lang="ar-AE" sz="2200" i="1"/>
                          </m:ctrlPr>
                        </m:sSupPr>
                        <m:e>
                          <m:r>
                            <a:rPr lang="ar-AE" sz="2200"/>
                            <m:t>10</m:t>
                          </m:r>
                        </m:e>
                        <m:sup>
                          <m:r>
                            <a:rPr lang="ar-AE" sz="2200"/>
                            <m:t>6</m:t>
                          </m:r>
                        </m:sup>
                      </m:sSup>
                      <m:r>
                        <a:rPr lang="ar-AE" sz="2200"/>
                        <m:t>⋅</m:t>
                      </m:r>
                      <m:r>
                        <a:rPr lang="ar-AE" sz="2200" i="1"/>
                        <m:t>𝑝𝑟𝑒𝑠𝑒𝑛𝑐</m:t>
                      </m:r>
                      <m:sSub>
                        <m:sSubPr>
                          <m:ctrlPr>
                            <a:rPr lang="ar-AE" sz="2200" i="1"/>
                          </m:ctrlPr>
                        </m:sSubPr>
                        <m:e>
                          <m:r>
                            <a:rPr lang="ar-AE" sz="2200" i="1"/>
                            <m:t>𝑒</m:t>
                          </m:r>
                        </m:e>
                        <m:sub>
                          <m:r>
                            <a:rPr lang="ar-AE" sz="2200" i="1"/>
                            <m:t>𝑖</m:t>
                          </m:r>
                        </m:sub>
                      </m:sSub>
                      <m:r>
                        <a:rPr lang="ar-AE" sz="2200"/>
                        <m:t>+</m:t>
                      </m:r>
                      <m:sSup>
                        <m:sSupPr>
                          <m:ctrlPr>
                            <a:rPr lang="ar-AE" sz="2200" i="1"/>
                          </m:ctrlPr>
                        </m:sSupPr>
                        <m:e>
                          <m:r>
                            <a:rPr lang="ar-AE" sz="2200"/>
                            <m:t>10</m:t>
                          </m:r>
                        </m:e>
                        <m:sup>
                          <m:r>
                            <a:rPr lang="ar-AE" sz="2200"/>
                            <m:t>3</m:t>
                          </m:r>
                        </m:sup>
                      </m:sSup>
                      <m:r>
                        <a:rPr lang="ar-AE" sz="2200"/>
                        <m:t>⋅</m:t>
                      </m:r>
                      <m:acc>
                        <m:accPr>
                          <m:chr m:val="̅"/>
                          <m:ctrlPr>
                            <a:rPr lang="ar-AE" sz="2200" i="1" smtClean="0">
                              <a:latin typeface="Cambria Math" panose="02040503050406030204" pitchFamily="18" charset="0"/>
                            </a:rPr>
                          </m:ctrlPr>
                        </m:accPr>
                        <m:e>
                          <m:sSub>
                            <m:sSubPr>
                              <m:ctrlPr>
                                <a:rPr lang="ar-AE" sz="2200" i="1">
                                  <a:latin typeface="Cambria Math" panose="02040503050406030204" pitchFamily="18" charset="0"/>
                                </a:rPr>
                              </m:ctrlPr>
                            </m:sSubPr>
                            <m:e>
                              <m:r>
                                <m:rPr>
                                  <m:sty m:val="p"/>
                                </m:rPr>
                                <a:rPr lang="en-US" sz="2200" i="1">
                                  <a:latin typeface="Cambria Math" panose="02040503050406030204" pitchFamily="18" charset="0"/>
                                </a:rPr>
                                <m:t>d</m:t>
                              </m:r>
                            </m:e>
                            <m:sub>
                              <m:r>
                                <a:rPr lang="ar-AE" sz="2200" i="1">
                                  <a:latin typeface="Cambria Math" panose="02040503050406030204" pitchFamily="18" charset="0"/>
                                </a:rPr>
                                <m:t>𝑖</m:t>
                              </m:r>
                            </m:sub>
                          </m:sSub>
                        </m:e>
                      </m:acc>
                      <m:r>
                        <a:rPr lang="ar-AE" sz="2200"/>
                        <m:t>+</m:t>
                      </m:r>
                      <m:r>
                        <a:rPr lang="ar-AE" sz="2200" i="1"/>
                        <m:t>𝑡𝑜𝑡𝑎</m:t>
                      </m:r>
                      <m:sSub>
                        <m:sSubPr>
                          <m:ctrlPr>
                            <a:rPr lang="ar-AE" sz="2200" i="1"/>
                          </m:ctrlPr>
                        </m:sSubPr>
                        <m:e>
                          <m:r>
                            <a:rPr lang="ar-AE" sz="2200" i="1"/>
                            <m:t>𝑙</m:t>
                          </m:r>
                        </m:e>
                        <m:sub>
                          <m:r>
                            <a:rPr lang="ar-AE" sz="2200" i="1"/>
                            <m:t>𝑖</m:t>
                          </m:r>
                        </m:sub>
                      </m:sSub>
                    </m:oMath>
                  </m:oMathPara>
                </a14:m>
                <a:endParaRPr lang="ar-AE" sz="2200" b="0" dirty="0"/>
              </a:p>
              <a:p>
                <a:pPr marL="0" indent="0">
                  <a:buNone/>
                </a:pPr>
                <a:r>
                  <a:rPr lang="zh-CN" altLang="en-US" sz="2200" b="1" dirty="0"/>
                  <a:t>替代感知库存配置</a:t>
                </a:r>
                <a:br>
                  <a:rPr lang="zh-CN" altLang="en-US" sz="2200" dirty="0"/>
                </a:br>
                <a:r>
                  <a:rPr lang="zh-CN" altLang="en-US" sz="2200" dirty="0"/>
                  <a:t>对入选 </a:t>
                </a:r>
                <a:r>
                  <a:rPr lang="en-US" sz="2200" dirty="0"/>
                  <a:t>SKU，</a:t>
                </a:r>
                <a:r>
                  <a:rPr lang="zh-CN" altLang="en-US" sz="2200" dirty="0"/>
                  <a:t>用 </a:t>
                </a:r>
                <a:r>
                  <a:rPr lang="en-US" sz="2200" dirty="0"/>
                  <a:t>critical ratio </a:t>
                </a:r>
                <a:r>
                  <a:rPr lang="zh-CN" altLang="en-US" sz="2200" dirty="0"/>
                  <a:t>初始化库存：</a:t>
                </a:r>
              </a:p>
              <a:p>
                <a:pPr marL="0" indent="0">
                  <a:buNone/>
                </a:pPr>
                <a14:m>
                  <m:oMathPara xmlns:m="http://schemas.openxmlformats.org/officeDocument/2006/math">
                    <m:oMathParaPr>
                      <m:jc m:val="centerGroup"/>
                    </m:oMathParaPr>
                    <m:oMath xmlns:m="http://schemas.openxmlformats.org/officeDocument/2006/math">
                      <m:sSubSup>
                        <m:sSubSupPr>
                          <m:ctrlPr>
                            <a:rPr lang="ar-AE" sz="2200"/>
                          </m:ctrlPr>
                        </m:sSubSupPr>
                        <m:e>
                          <m:r>
                            <a:rPr lang="ar-AE" sz="2200" i="1"/>
                            <m:t>𝑞</m:t>
                          </m:r>
                        </m:e>
                        <m:sub>
                          <m:r>
                            <a:rPr lang="ar-AE" sz="2200" i="1"/>
                            <m:t>𝑖</m:t>
                          </m:r>
                        </m:sub>
                        <m:sup>
                          <m:d>
                            <m:dPr>
                              <m:ctrlPr>
                                <a:rPr lang="ar-AE" sz="2200" i="1"/>
                              </m:ctrlPr>
                            </m:dPr>
                            <m:e>
                              <m:r>
                                <a:rPr lang="ar-AE" sz="2200"/>
                                <m:t>0</m:t>
                              </m:r>
                            </m:e>
                          </m:d>
                        </m:sup>
                      </m:sSubSup>
                      <m:r>
                        <a:rPr lang="ar-AE" sz="2200"/>
                        <m:t>=</m:t>
                      </m:r>
                      <m:sSubSup>
                        <m:sSubSupPr>
                          <m:ctrlPr>
                            <a:rPr lang="ar-AE" sz="2200" i="1"/>
                          </m:ctrlPr>
                        </m:sSubSupPr>
                        <m:e>
                          <m:r>
                            <a:rPr lang="ar-AE" sz="2200" i="1"/>
                            <m:t>𝐹</m:t>
                          </m:r>
                        </m:e>
                        <m:sub>
                          <m:r>
                            <a:rPr lang="ar-AE" sz="2200" i="1"/>
                            <m:t>𝑖</m:t>
                          </m:r>
                        </m:sub>
                        <m:sup>
                          <m:r>
                            <a:rPr lang="ar-AE" sz="2200"/>
                            <m:t>−1</m:t>
                          </m:r>
                        </m:sup>
                      </m:sSubSup>
                      <m:d>
                        <m:dPr>
                          <m:ctrlPr>
                            <a:rPr lang="ar-AE" sz="2200" i="1"/>
                          </m:ctrlPr>
                        </m:dPr>
                        <m:e>
                          <m:f>
                            <m:fPr>
                              <m:ctrlPr>
                                <a:rPr lang="ar-AE" sz="2200" i="1"/>
                              </m:ctrlPr>
                            </m:fPr>
                            <m:num>
                              <m:sSub>
                                <m:sSubPr>
                                  <m:ctrlPr>
                                    <a:rPr lang="ar-AE" sz="2200" i="1"/>
                                  </m:ctrlPr>
                                </m:sSubPr>
                                <m:e>
                                  <m:r>
                                    <a:rPr lang="ar-AE" sz="2200" i="1"/>
                                    <m:t>𝑢</m:t>
                                  </m:r>
                                </m:e>
                                <m:sub>
                                  <m:r>
                                    <a:rPr lang="ar-AE" sz="2200" i="1"/>
                                    <m:t>𝑖</m:t>
                                  </m:r>
                                </m:sub>
                              </m:sSub>
                              <m:r>
                                <a:rPr lang="ar-AE" sz="2200"/>
                                <m:t>+</m:t>
                              </m:r>
                              <m:sSub>
                                <m:sSubPr>
                                  <m:ctrlPr>
                                    <a:rPr lang="ar-AE" sz="2200" i="1"/>
                                  </m:ctrlPr>
                                </m:sSubPr>
                                <m:e>
                                  <m:r>
                                    <a:rPr lang="ar-AE" sz="2200" i="1"/>
                                    <m:t>𝑏</m:t>
                                  </m:r>
                                </m:e>
                                <m:sub>
                                  <m:r>
                                    <a:rPr lang="ar-AE" sz="2200" i="1"/>
                                    <m:t>𝑖</m:t>
                                  </m:r>
                                </m:sub>
                              </m:sSub>
                            </m:num>
                            <m:den>
                              <m:sSub>
                                <m:sSubPr>
                                  <m:ctrlPr>
                                    <a:rPr lang="ar-AE" sz="2200" i="1"/>
                                  </m:ctrlPr>
                                </m:sSubPr>
                                <m:e>
                                  <m:r>
                                    <a:rPr lang="ar-AE" sz="2200" i="1"/>
                                    <m:t>𝑢</m:t>
                                  </m:r>
                                </m:e>
                                <m:sub>
                                  <m:r>
                                    <a:rPr lang="ar-AE" sz="2200" i="1"/>
                                    <m:t>𝑖</m:t>
                                  </m:r>
                                </m:sub>
                              </m:sSub>
                              <m:r>
                                <a:rPr lang="ar-AE" sz="2200"/>
                                <m:t>+</m:t>
                              </m:r>
                              <m:sSub>
                                <m:sSubPr>
                                  <m:ctrlPr>
                                    <a:rPr lang="ar-AE" sz="2200" i="1"/>
                                  </m:ctrlPr>
                                </m:sSubPr>
                                <m:e>
                                  <m:r>
                                    <a:rPr lang="ar-AE" sz="2200" i="1"/>
                                    <m:t>h</m:t>
                                  </m:r>
                                </m:e>
                                <m:sub>
                                  <m:r>
                                    <a:rPr lang="ar-AE" sz="2200" i="1"/>
                                    <m:t>𝑖</m:t>
                                  </m:r>
                                </m:sub>
                              </m:sSub>
                              <m:r>
                                <a:rPr lang="ar-AE" sz="2200"/>
                                <m:t>+</m:t>
                              </m:r>
                              <m:sSub>
                                <m:sSubPr>
                                  <m:ctrlPr>
                                    <a:rPr lang="ar-AE" sz="2200" i="1"/>
                                  </m:ctrlPr>
                                </m:sSubPr>
                                <m:e>
                                  <m:r>
                                    <a:rPr lang="ar-AE" sz="2200" i="1"/>
                                    <m:t>𝑏</m:t>
                                  </m:r>
                                </m:e>
                                <m:sub>
                                  <m:r>
                                    <a:rPr lang="ar-AE" sz="2200" i="1"/>
                                    <m:t>𝑖</m:t>
                                  </m:r>
                                </m:sub>
                              </m:sSub>
                            </m:den>
                          </m:f>
                        </m:e>
                      </m:d>
                    </m:oMath>
                  </m:oMathPara>
                </a14:m>
                <a:endParaRPr lang="ar-AE" sz="2200" dirty="0"/>
              </a:p>
              <a:p>
                <a:pPr marL="0" indent="0">
                  <a:buNone/>
                </a:pPr>
                <a:r>
                  <a:rPr lang="zh-CN" altLang="en-US" sz="2200" dirty="0"/>
                  <a:t>并构造外生替代矩阵，近似缺货需求向相似 </a:t>
                </a:r>
                <a:r>
                  <a:rPr lang="en-US" sz="2200" dirty="0"/>
                  <a:t>SKU </a:t>
                </a:r>
                <a:r>
                  <a:rPr lang="zh-CN" altLang="en-US" sz="2200" dirty="0"/>
                  <a:t>的转移：</a:t>
                </a:r>
              </a:p>
              <a:p>
                <a:pPr marL="0" indent="0">
                  <a:buNone/>
                </a:pPr>
                <a14:m>
                  <m:oMathPara xmlns:m="http://schemas.openxmlformats.org/officeDocument/2006/math">
                    <m:oMathParaPr>
                      <m:jc m:val="centerGroup"/>
                    </m:oMathParaPr>
                    <m:oMath xmlns:m="http://schemas.openxmlformats.org/officeDocument/2006/math">
                      <m:sSubSup>
                        <m:sSubSupPr>
                          <m:ctrlPr>
                            <a:rPr lang="ar-AE" sz="2200"/>
                          </m:ctrlPr>
                        </m:sSubSupPr>
                        <m:e>
                          <m:r>
                            <a:rPr lang="ar-AE" sz="2200" i="1"/>
                            <m:t>𝜇</m:t>
                          </m:r>
                        </m:e>
                        <m:sub>
                          <m:r>
                            <a:rPr lang="ar-AE" sz="2200" i="1"/>
                            <m:t>𝑖</m:t>
                          </m:r>
                        </m:sub>
                        <m:sup>
                          <m:r>
                            <a:rPr lang="ar-AE" sz="2200" i="1"/>
                            <m:t>𝑒𝑓𝑓</m:t>
                          </m:r>
                        </m:sup>
                      </m:sSubSup>
                      <m:r>
                        <a:rPr lang="ar-AE" sz="2200"/>
                        <m:t>=</m:t>
                      </m:r>
                      <m:sSub>
                        <m:sSubPr>
                          <m:ctrlPr>
                            <a:rPr lang="ar-AE" sz="2200" i="1"/>
                          </m:ctrlPr>
                        </m:sSubPr>
                        <m:e>
                          <m:r>
                            <a:rPr lang="ar-AE" sz="2200" i="1"/>
                            <m:t>𝜇</m:t>
                          </m:r>
                        </m:e>
                        <m:sub>
                          <m:r>
                            <a:rPr lang="ar-AE" sz="2200" i="1"/>
                            <m:t>𝑖</m:t>
                          </m:r>
                        </m:sub>
                      </m:sSub>
                      <m:r>
                        <a:rPr lang="ar-AE" sz="2200"/>
                        <m:t>+</m:t>
                      </m:r>
                      <m:nary>
                        <m:naryPr>
                          <m:chr m:val="∑"/>
                          <m:grow m:val="on"/>
                          <m:supHide m:val="on"/>
                          <m:ctrlPr>
                            <a:rPr lang="ar-AE" sz="2200" i="1"/>
                          </m:ctrlPr>
                        </m:naryPr>
                        <m:sub>
                          <m:r>
                            <a:rPr lang="ar-AE" sz="2200" i="1"/>
                            <m:t>𝑗</m:t>
                          </m:r>
                          <m:r>
                            <a:rPr lang="ar-AE" sz="2200"/>
                            <m:t>≠</m:t>
                          </m:r>
                          <m:r>
                            <a:rPr lang="ar-AE" sz="2200" i="1"/>
                            <m:t>𝑖</m:t>
                          </m:r>
                        </m:sub>
                        <m:sup/>
                        <m:e>
                          <m:sSub>
                            <m:sSubPr>
                              <m:ctrlPr>
                                <a:rPr lang="ar-AE" sz="2200" i="1"/>
                              </m:ctrlPr>
                            </m:sSubPr>
                            <m:e>
                              <m:r>
                                <a:rPr lang="ar-AE" sz="2200" i="1"/>
                                <m:t>𝑆</m:t>
                              </m:r>
                            </m:e>
                            <m:sub>
                              <m:r>
                                <a:rPr lang="ar-AE" sz="2200" i="1"/>
                                <m:t>𝑗𝑖</m:t>
                              </m:r>
                            </m:sub>
                          </m:sSub>
                        </m:e>
                      </m:nary>
                      <m:r>
                        <m:rPr>
                          <m:sty m:val="p"/>
                        </m:rPr>
                        <a:rPr lang="en-US" sz="2200"/>
                        <m:t>max</m:t>
                      </m:r>
                      <m:r>
                        <a:rPr lang="en-US" sz="2200"/>
                        <m:t>⁡</m:t>
                      </m:r>
                      <m:d>
                        <m:dPr>
                          <m:sepChr m:val=","/>
                          <m:ctrlPr>
                            <a:rPr lang="ar-AE" sz="2200" i="1"/>
                          </m:ctrlPr>
                        </m:dPr>
                        <m:e>
                          <m:sSubSup>
                            <m:sSubSupPr>
                              <m:ctrlPr>
                                <a:rPr lang="ar-AE" sz="2200" i="1"/>
                              </m:ctrlPr>
                            </m:sSubSupPr>
                            <m:e>
                              <m:r>
                                <a:rPr lang="ar-AE" sz="2200" i="1"/>
                                <m:t>𝜇</m:t>
                              </m:r>
                            </m:e>
                            <m:sub>
                              <m:r>
                                <a:rPr lang="ar-AE" sz="2200" i="1"/>
                                <m:t>𝑗</m:t>
                              </m:r>
                            </m:sub>
                            <m:sup>
                              <m:r>
                                <a:rPr lang="ar-AE" sz="2200" i="1"/>
                                <m:t>𝑒𝑓𝑓</m:t>
                              </m:r>
                            </m:sup>
                          </m:sSubSup>
                        </m:e>
                        <m:e>
                          <m:r>
                            <a:rPr lang="ar-AE" sz="2200"/>
                            <m:t>−</m:t>
                          </m:r>
                          <m:r>
                            <a:rPr lang="ar-AE" sz="2200" i="1"/>
                            <m:t>𝑠𝑜𝑙</m:t>
                          </m:r>
                          <m:sSub>
                            <m:sSubPr>
                              <m:ctrlPr>
                                <a:rPr lang="ar-AE" sz="2200" i="1"/>
                              </m:ctrlPr>
                            </m:sSubPr>
                            <m:e>
                              <m:r>
                                <a:rPr lang="ar-AE" sz="2200" i="1"/>
                                <m:t>𝑑</m:t>
                              </m:r>
                            </m:e>
                            <m:sub>
                              <m:r>
                                <a:rPr lang="ar-AE" sz="2200" i="1"/>
                                <m:t>𝑗</m:t>
                              </m:r>
                            </m:sub>
                          </m:sSub>
                          <m:r>
                            <a:rPr lang="ar-AE" sz="2200"/>
                            <m:t>0</m:t>
                          </m:r>
                        </m:e>
                      </m:d>
                    </m:oMath>
                  </m:oMathPara>
                </a14:m>
                <a:endParaRPr lang="ar-AE" sz="2200" dirty="0"/>
              </a:p>
              <a:p>
                <a:pPr marL="0" indent="0">
                  <a:buNone/>
                </a:pPr>
                <a:r>
                  <a:rPr lang="zh-CN" altLang="en-US" sz="2200" dirty="0"/>
                  <a:t>最后在体积和重量约束下，通过局部搜索改进库存方案。</a:t>
                </a:r>
              </a:p>
              <a:p>
                <a:pPr marL="0" indent="0">
                  <a:buNone/>
                </a:pPr>
                <a:endParaRPr lang="en-US" sz="2200" dirty="0"/>
              </a:p>
            </p:txBody>
          </p:sp>
        </mc:Choice>
        <mc:Fallback>
          <p:sp>
            <p:nvSpPr>
              <p:cNvPr id="3" name="Content Placeholder 2">
                <a:extLst>
                  <a:ext uri="{FF2B5EF4-FFF2-40B4-BE49-F238E27FC236}">
                    <a16:creationId xmlns:a16="http://schemas.microsoft.com/office/drawing/2014/main" id="{4BFF14FF-193B-7E77-3DB5-9B21D77EB601}"/>
                  </a:ext>
                </a:extLst>
              </p:cNvPr>
              <p:cNvSpPr>
                <a:spLocks noGrp="1" noRot="1" noChangeAspect="1" noMove="1" noResize="1" noEditPoints="1" noAdjustHandles="1" noChangeArrowheads="1" noChangeShapeType="1" noTextEdit="1"/>
              </p:cNvSpPr>
              <p:nvPr>
                <p:ph idx="1"/>
              </p:nvPr>
            </p:nvSpPr>
            <p:spPr>
              <a:xfrm>
                <a:off x="838200" y="976538"/>
                <a:ext cx="10515600" cy="5881461"/>
              </a:xfrm>
              <a:blipFill>
                <a:blip r:embed="rId2"/>
                <a:stretch>
                  <a:fillRect l="-724" t="-1293" b="-15302"/>
                </a:stretch>
              </a:blipFill>
            </p:spPr>
            <p:txBody>
              <a:bodyPr/>
              <a:lstStyle/>
              <a:p>
                <a:r>
                  <a:rPr lang="en-US">
                    <a:noFill/>
                  </a:rPr>
                  <a:t> </a:t>
                </a:r>
              </a:p>
            </p:txBody>
          </p:sp>
        </mc:Fallback>
      </mc:AlternateContent>
    </p:spTree>
    <p:extLst>
      <p:ext uri="{BB962C8B-B14F-4D97-AF65-F5344CB8AC3E}">
        <p14:creationId xmlns:p14="http://schemas.microsoft.com/office/powerpoint/2010/main" val="351800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AA58B-C2DC-B783-8C38-2DC531C829B3}"/>
              </a:ext>
            </a:extLst>
          </p:cNvPr>
          <p:cNvSpPr>
            <a:spLocks noGrp="1"/>
          </p:cNvSpPr>
          <p:nvPr>
            <p:ph type="title"/>
          </p:nvPr>
        </p:nvSpPr>
        <p:spPr>
          <a:xfrm>
            <a:off x="0" y="18255"/>
            <a:ext cx="10515600" cy="1325563"/>
          </a:xfrm>
        </p:spPr>
        <p:txBody>
          <a:bodyPr/>
          <a:lstStyle/>
          <a:p>
            <a:r>
              <a:rPr lang="en-US" dirty="0" err="1"/>
              <a:t>实验设计</a:t>
            </a:r>
            <a:endParaRPr lang="en-US" dirty="0"/>
          </a:p>
        </p:txBody>
      </p:sp>
      <p:sp>
        <p:nvSpPr>
          <p:cNvPr id="5" name="Content Placeholder 4">
            <a:extLst>
              <a:ext uri="{FF2B5EF4-FFF2-40B4-BE49-F238E27FC236}">
                <a16:creationId xmlns:a16="http://schemas.microsoft.com/office/drawing/2014/main" id="{67D5CFCC-4941-4A87-9D59-28EB9B7C0D36}"/>
              </a:ext>
            </a:extLst>
          </p:cNvPr>
          <p:cNvSpPr>
            <a:spLocks noGrp="1"/>
          </p:cNvSpPr>
          <p:nvPr>
            <p:ph idx="1"/>
          </p:nvPr>
        </p:nvSpPr>
        <p:spPr>
          <a:xfrm>
            <a:off x="140778" y="1343818"/>
            <a:ext cx="6120538" cy="3040843"/>
          </a:xfrm>
        </p:spPr>
        <p:txBody>
          <a:bodyPr/>
          <a:lstStyle/>
          <a:p>
            <a:pPr marL="0" indent="0">
              <a:buNone/>
            </a:pPr>
            <a:r>
              <a:rPr lang="zh-CN" altLang="en-US" b="1" dirty="0"/>
              <a:t>数据基础</a:t>
            </a:r>
            <a:endParaRPr lang="zh-CN" altLang="en-US" dirty="0"/>
          </a:p>
          <a:p>
            <a:pPr marL="0" indent="0">
              <a:buNone/>
            </a:pPr>
            <a:r>
              <a:rPr lang="zh-CN" altLang="en-US" dirty="0"/>
              <a:t>原始交易行数：</a:t>
            </a:r>
            <a:r>
              <a:rPr lang="en-US" altLang="zh-CN" dirty="0"/>
              <a:t>131,706</a:t>
            </a:r>
            <a:endParaRPr lang="zh-CN" altLang="en-US" dirty="0"/>
          </a:p>
          <a:p>
            <a:pPr marL="0" indent="0">
              <a:buNone/>
            </a:pPr>
            <a:r>
              <a:rPr lang="zh-CN" altLang="en-US" dirty="0"/>
              <a:t>订单数：</a:t>
            </a:r>
            <a:r>
              <a:rPr lang="en-US" altLang="zh-CN" dirty="0"/>
              <a:t>64,682</a:t>
            </a:r>
            <a:endParaRPr lang="zh-CN" altLang="en-US" dirty="0"/>
          </a:p>
          <a:p>
            <a:pPr marL="0" indent="0">
              <a:buNone/>
            </a:pPr>
            <a:r>
              <a:rPr lang="zh-CN" altLang="en-US" dirty="0"/>
              <a:t>原始 </a:t>
            </a:r>
            <a:r>
              <a:rPr lang="en-US" dirty="0"/>
              <a:t>SKU </a:t>
            </a:r>
            <a:r>
              <a:rPr lang="zh-CN" altLang="en-US" dirty="0"/>
              <a:t>数：</a:t>
            </a:r>
            <a:r>
              <a:rPr lang="en-US" altLang="zh-CN" dirty="0"/>
              <a:t>5,242</a:t>
            </a:r>
            <a:endParaRPr lang="zh-CN" altLang="en-US" dirty="0"/>
          </a:p>
          <a:p>
            <a:pPr marL="0" indent="0">
              <a:buNone/>
            </a:pPr>
            <a:r>
              <a:rPr lang="zh-CN" altLang="en-US" dirty="0"/>
              <a:t>样本时间：</a:t>
            </a:r>
            <a:r>
              <a:rPr lang="en-US" altLang="zh-CN" dirty="0"/>
              <a:t>2016-01-02</a:t>
            </a:r>
            <a:r>
              <a:rPr lang="zh-CN" altLang="en-US" dirty="0"/>
              <a:t> 至 </a:t>
            </a:r>
            <a:r>
              <a:rPr lang="en-US" altLang="zh-CN" dirty="0"/>
              <a:t>2016-12-31</a:t>
            </a:r>
            <a:endParaRPr lang="zh-CN" altLang="en-US" dirty="0"/>
          </a:p>
          <a:p>
            <a:pPr marL="0" indent="0">
              <a:buNone/>
            </a:pPr>
            <a:r>
              <a:rPr lang="zh-CN" altLang="en-US" dirty="0"/>
              <a:t>处理后候选 </a:t>
            </a:r>
            <a:r>
              <a:rPr lang="en-US" dirty="0"/>
              <a:t>SKU：500</a:t>
            </a:r>
          </a:p>
        </p:txBody>
      </p:sp>
      <p:sp>
        <p:nvSpPr>
          <p:cNvPr id="8" name="TextBox 7">
            <a:extLst>
              <a:ext uri="{FF2B5EF4-FFF2-40B4-BE49-F238E27FC236}">
                <a16:creationId xmlns:a16="http://schemas.microsoft.com/office/drawing/2014/main" id="{AE0953CC-F837-218C-C81E-AF23522797E5}"/>
              </a:ext>
            </a:extLst>
          </p:cNvPr>
          <p:cNvSpPr txBox="1"/>
          <p:nvPr/>
        </p:nvSpPr>
        <p:spPr>
          <a:xfrm>
            <a:off x="6688812" y="1343818"/>
            <a:ext cx="5120896" cy="2545890"/>
          </a:xfrm>
          <a:prstGeom prst="rect">
            <a:avLst/>
          </a:prstGeom>
          <a:noFill/>
        </p:spPr>
        <p:txBody>
          <a:bodyPr wrap="square" rtlCol="0">
            <a:spAutoFit/>
          </a:bodyPr>
          <a:lstStyle/>
          <a:p>
            <a:pPr>
              <a:lnSpc>
                <a:spcPct val="90000"/>
              </a:lnSpc>
              <a:spcBef>
                <a:spcPts val="1000"/>
              </a:spcBef>
            </a:pPr>
            <a:r>
              <a:rPr lang="zh-CN" altLang="en-US" sz="2800" b="1" dirty="0"/>
              <a:t>实验设计</a:t>
            </a:r>
          </a:p>
          <a:p>
            <a:pPr>
              <a:lnSpc>
                <a:spcPct val="90000"/>
              </a:lnSpc>
              <a:spcBef>
                <a:spcPts val="1000"/>
              </a:spcBef>
            </a:pPr>
            <a:r>
              <a:rPr lang="en-US" altLang="zh-CN" sz="2800" dirty="0"/>
              <a:t>365 </a:t>
            </a:r>
            <a:r>
              <a:rPr lang="zh-CN" altLang="en-US" sz="2800" dirty="0"/>
              <a:t>天日需求数据</a:t>
            </a:r>
          </a:p>
          <a:p>
            <a:pPr>
              <a:lnSpc>
                <a:spcPct val="90000"/>
              </a:lnSpc>
              <a:spcBef>
                <a:spcPts val="1000"/>
              </a:spcBef>
            </a:pPr>
            <a:r>
              <a:rPr lang="zh-CN" altLang="en-US" sz="2800" dirty="0"/>
              <a:t>按周聚合形成 </a:t>
            </a:r>
            <a:r>
              <a:rPr lang="en-US" altLang="zh-CN" sz="2800" dirty="0"/>
              <a:t>53 </a:t>
            </a:r>
            <a:r>
              <a:rPr lang="zh-CN" altLang="en-US" sz="2800" dirty="0"/>
              <a:t>个周样本</a:t>
            </a:r>
          </a:p>
          <a:p>
            <a:pPr>
              <a:lnSpc>
                <a:spcPct val="90000"/>
              </a:lnSpc>
              <a:spcBef>
                <a:spcPts val="1000"/>
              </a:spcBef>
            </a:pPr>
            <a:r>
              <a:rPr lang="en-US" altLang="zh-CN" sz="2800" dirty="0"/>
              <a:t>8 </a:t>
            </a:r>
            <a:r>
              <a:rPr lang="zh-CN" altLang="en-US" sz="2800" dirty="0"/>
              <a:t>周训练 </a:t>
            </a:r>
            <a:r>
              <a:rPr lang="en-US" altLang="zh-CN" sz="2800" dirty="0"/>
              <a:t>+ 1 </a:t>
            </a:r>
            <a:r>
              <a:rPr lang="zh-CN" altLang="en-US" sz="2800" dirty="0"/>
              <a:t>周测试</a:t>
            </a:r>
          </a:p>
          <a:p>
            <a:pPr>
              <a:lnSpc>
                <a:spcPct val="90000"/>
              </a:lnSpc>
              <a:spcBef>
                <a:spcPts val="1000"/>
              </a:spcBef>
            </a:pPr>
            <a:r>
              <a:rPr lang="zh-CN" altLang="en-US" sz="2800" dirty="0"/>
              <a:t>共 </a:t>
            </a:r>
            <a:r>
              <a:rPr lang="en-US" altLang="zh-CN" sz="2800" dirty="0"/>
              <a:t>45</a:t>
            </a:r>
            <a:r>
              <a:rPr lang="zh-CN" altLang="en-US" sz="2800" dirty="0"/>
              <a:t> 个滚动窗口</a:t>
            </a:r>
          </a:p>
        </p:txBody>
      </p:sp>
      <p:sp>
        <p:nvSpPr>
          <p:cNvPr id="9" name="TextBox 8">
            <a:extLst>
              <a:ext uri="{FF2B5EF4-FFF2-40B4-BE49-F238E27FC236}">
                <a16:creationId xmlns:a16="http://schemas.microsoft.com/office/drawing/2014/main" id="{09E1E866-1F2E-5FDD-54EE-64EEBDE1F218}"/>
              </a:ext>
            </a:extLst>
          </p:cNvPr>
          <p:cNvSpPr txBox="1"/>
          <p:nvPr/>
        </p:nvSpPr>
        <p:spPr>
          <a:xfrm>
            <a:off x="140778" y="4830550"/>
            <a:ext cx="11711552" cy="584775"/>
          </a:xfrm>
          <a:prstGeom prst="rect">
            <a:avLst/>
          </a:prstGeom>
          <a:noFill/>
        </p:spPr>
        <p:txBody>
          <a:bodyPr wrap="square" rtlCol="0">
            <a:spAutoFit/>
          </a:bodyPr>
          <a:lstStyle/>
          <a:p>
            <a:r>
              <a:rPr lang="zh-CN" altLang="en-US" sz="3200" b="1" dirty="0"/>
              <a:t>三类场景</a:t>
            </a:r>
            <a:r>
              <a:rPr lang="en-US" sz="3200" dirty="0"/>
              <a:t>baseline</a:t>
            </a:r>
            <a:r>
              <a:rPr lang="zh-CN" altLang="en-US" sz="3200" dirty="0"/>
              <a:t>， </a:t>
            </a:r>
            <a:r>
              <a:rPr lang="en-US" sz="3200" dirty="0"/>
              <a:t>high volatility</a:t>
            </a:r>
            <a:r>
              <a:rPr lang="zh-CN" altLang="en-US" sz="3200" dirty="0"/>
              <a:t>， </a:t>
            </a:r>
            <a:r>
              <a:rPr lang="en-US" sz="3200" dirty="0"/>
              <a:t>large scale</a:t>
            </a:r>
          </a:p>
        </p:txBody>
      </p:sp>
    </p:spTree>
    <p:extLst>
      <p:ext uri="{BB962C8B-B14F-4D97-AF65-F5344CB8AC3E}">
        <p14:creationId xmlns:p14="http://schemas.microsoft.com/office/powerpoint/2010/main" val="839058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8D841AD-DA63-06E0-574B-33A6415E1B90}"/>
              </a:ext>
            </a:extLst>
          </p:cNvPr>
          <p:cNvPicPr>
            <a:picLocks noChangeAspect="1"/>
          </p:cNvPicPr>
          <p:nvPr/>
        </p:nvPicPr>
        <p:blipFill>
          <a:blip r:embed="rId3"/>
          <a:stretch>
            <a:fillRect/>
          </a:stretch>
        </p:blipFill>
        <p:spPr>
          <a:xfrm>
            <a:off x="236537" y="1079044"/>
            <a:ext cx="10621964" cy="5593219"/>
          </a:xfrm>
          <a:prstGeom prst="rect">
            <a:avLst/>
          </a:prstGeom>
        </p:spPr>
      </p:pic>
      <p:sp>
        <p:nvSpPr>
          <p:cNvPr id="5" name="TextBox 4">
            <a:extLst>
              <a:ext uri="{FF2B5EF4-FFF2-40B4-BE49-F238E27FC236}">
                <a16:creationId xmlns:a16="http://schemas.microsoft.com/office/drawing/2014/main" id="{CA504CBF-F0C2-F943-1156-C890A7F90766}"/>
              </a:ext>
            </a:extLst>
          </p:cNvPr>
          <p:cNvSpPr txBox="1"/>
          <p:nvPr/>
        </p:nvSpPr>
        <p:spPr>
          <a:xfrm>
            <a:off x="0" y="0"/>
            <a:ext cx="8648521" cy="769441"/>
          </a:xfrm>
          <a:prstGeom prst="rect">
            <a:avLst/>
          </a:prstGeom>
          <a:noFill/>
        </p:spPr>
        <p:txBody>
          <a:bodyPr wrap="none" rtlCol="0">
            <a:spAutoFit/>
          </a:bodyPr>
          <a:lstStyle/>
          <a:p>
            <a:r>
              <a:rPr lang="en-US" sz="4400" dirty="0" err="1">
                <a:latin typeface="+mj-lt"/>
                <a:ea typeface="+mj-ea"/>
                <a:cs typeface="+mj-cs"/>
              </a:rPr>
              <a:t>各类解法与文献启发算法对比对比</a:t>
            </a:r>
            <a:endParaRPr lang="en-US" sz="4400" dirty="0">
              <a:latin typeface="+mj-lt"/>
              <a:ea typeface="+mj-ea"/>
              <a:cs typeface="+mj-cs"/>
            </a:endParaRPr>
          </a:p>
        </p:txBody>
      </p:sp>
    </p:spTree>
    <p:extLst>
      <p:ext uri="{BB962C8B-B14F-4D97-AF65-F5344CB8AC3E}">
        <p14:creationId xmlns:p14="http://schemas.microsoft.com/office/powerpoint/2010/main" val="4030491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4F9A7A-AC43-8E0B-40F9-DF5DF068D635}"/>
              </a:ext>
            </a:extLst>
          </p:cNvPr>
          <p:cNvSpPr>
            <a:spLocks noGrp="1"/>
          </p:cNvSpPr>
          <p:nvPr>
            <p:ph type="title"/>
          </p:nvPr>
        </p:nvSpPr>
        <p:spPr>
          <a:xfrm>
            <a:off x="630936" y="502920"/>
            <a:ext cx="3419856" cy="1463040"/>
          </a:xfrm>
        </p:spPr>
        <p:txBody>
          <a:bodyPr anchor="ctr">
            <a:normAutofit/>
          </a:bodyPr>
          <a:lstStyle/>
          <a:p>
            <a:r>
              <a:rPr lang="zh-CN" altLang="en-US" sz="3000"/>
              <a:t>聚合需求层结果：</a:t>
            </a:r>
            <a:r>
              <a:rPr lang="en-US" sz="3000"/>
              <a:t>DP-Lagrangian </a:t>
            </a:r>
            <a:r>
              <a:rPr lang="zh-CN" altLang="en-US" sz="3000"/>
              <a:t>在三类场景中表现最强</a:t>
            </a:r>
            <a:endParaRPr lang="en-US" sz="3000"/>
          </a:p>
        </p:txBody>
      </p:sp>
      <p:sp>
        <p:nvSpPr>
          <p:cNvPr id="11"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E31B970-1856-61CE-9932-88F780CA1564}"/>
              </a:ext>
            </a:extLst>
          </p:cNvPr>
          <p:cNvSpPr>
            <a:spLocks noGrp="1"/>
          </p:cNvSpPr>
          <p:nvPr>
            <p:ph idx="1"/>
          </p:nvPr>
        </p:nvSpPr>
        <p:spPr>
          <a:xfrm>
            <a:off x="4654295" y="502920"/>
            <a:ext cx="6894576" cy="1463040"/>
          </a:xfrm>
        </p:spPr>
        <p:txBody>
          <a:bodyPr anchor="ctr">
            <a:normAutofit/>
          </a:bodyPr>
          <a:lstStyle/>
          <a:p>
            <a:pPr marL="0" indent="0">
              <a:buNone/>
            </a:pPr>
            <a:r>
              <a:rPr lang="zh-CN" altLang="en-US" sz="1200" dirty="0"/>
              <a:t>在主方法比较中，</a:t>
            </a:r>
            <a:r>
              <a:rPr lang="en-US" sz="1200" dirty="0"/>
              <a:t>DP-</a:t>
            </a:r>
            <a:r>
              <a:rPr lang="en-US" sz="1200" dirty="0" err="1"/>
              <a:t>Lagrangian</a:t>
            </a:r>
            <a:r>
              <a:rPr lang="en-US" sz="1200" dirty="0"/>
              <a:t> </a:t>
            </a:r>
            <a:r>
              <a:rPr lang="zh-CN" altLang="en-US" sz="1200" dirty="0"/>
              <a:t>的平均 </a:t>
            </a:r>
            <a:r>
              <a:rPr lang="en-US" sz="1200" dirty="0"/>
              <a:t>line fill rate </a:t>
            </a:r>
            <a:r>
              <a:rPr lang="zh-CN" altLang="en-US" sz="1200" dirty="0"/>
              <a:t>在三类场景下均最高：</a:t>
            </a:r>
          </a:p>
          <a:p>
            <a:pPr marL="0" indent="0">
              <a:buNone/>
            </a:pPr>
            <a:r>
              <a:rPr lang="en-US" sz="1200" dirty="0"/>
              <a:t>baseline：0.204</a:t>
            </a:r>
          </a:p>
          <a:p>
            <a:pPr marL="0" indent="0">
              <a:buNone/>
            </a:pPr>
            <a:r>
              <a:rPr lang="en-US" sz="1200" dirty="0"/>
              <a:t>high volatility：0.203</a:t>
            </a:r>
          </a:p>
          <a:p>
            <a:pPr marL="0" indent="0">
              <a:buNone/>
            </a:pPr>
            <a:r>
              <a:rPr lang="en-US" sz="1200" dirty="0"/>
              <a:t>large scale：0.091</a:t>
            </a:r>
          </a:p>
          <a:p>
            <a:pPr marL="0" indent="0">
              <a:buNone/>
            </a:pPr>
            <a:r>
              <a:rPr lang="zh-CN" altLang="en-US" sz="1200" dirty="0"/>
              <a:t>同时，</a:t>
            </a:r>
            <a:r>
              <a:rPr lang="en-US" sz="1200" dirty="0"/>
              <a:t>Greedy </a:t>
            </a:r>
            <a:r>
              <a:rPr lang="zh-CN" altLang="en-US" sz="1200" dirty="0"/>
              <a:t>虽然效果最弱，但运行速度最快；</a:t>
            </a:r>
            <a:r>
              <a:rPr lang="en-US" sz="1200" dirty="0"/>
              <a:t>CP-SAT </a:t>
            </a:r>
            <a:r>
              <a:rPr lang="zh-CN" altLang="en-US" sz="1200" dirty="0"/>
              <a:t>提供了高质量参考解。</a:t>
            </a:r>
          </a:p>
          <a:p>
            <a:pPr marL="0" indent="0">
              <a:buNone/>
            </a:pPr>
            <a:endParaRPr lang="en-US" sz="1200" dirty="0"/>
          </a:p>
        </p:txBody>
      </p:sp>
      <p:pic>
        <p:nvPicPr>
          <p:cNvPr id="4" name="Picture 3">
            <a:extLst>
              <a:ext uri="{FF2B5EF4-FFF2-40B4-BE49-F238E27FC236}">
                <a16:creationId xmlns:a16="http://schemas.microsoft.com/office/drawing/2014/main" id="{C359C40F-F7D0-3D41-B1F6-8C3B451F6763}"/>
              </a:ext>
            </a:extLst>
          </p:cNvPr>
          <p:cNvPicPr>
            <a:picLocks noChangeAspect="1"/>
          </p:cNvPicPr>
          <p:nvPr/>
        </p:nvPicPr>
        <p:blipFill>
          <a:blip r:embed="rId2"/>
          <a:stretch>
            <a:fillRect/>
          </a:stretch>
        </p:blipFill>
        <p:spPr>
          <a:xfrm>
            <a:off x="1319599" y="2290936"/>
            <a:ext cx="9540609" cy="3959352"/>
          </a:xfrm>
          <a:prstGeom prst="rect">
            <a:avLst/>
          </a:prstGeom>
        </p:spPr>
      </p:pic>
    </p:spTree>
    <p:extLst>
      <p:ext uri="{BB962C8B-B14F-4D97-AF65-F5344CB8AC3E}">
        <p14:creationId xmlns:p14="http://schemas.microsoft.com/office/powerpoint/2010/main" val="650436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4F2153-A492-1EAF-10B5-CBECBC7CE4FF}"/>
              </a:ext>
            </a:extLst>
          </p:cNvPr>
          <p:cNvSpPr>
            <a:spLocks noGrp="1"/>
          </p:cNvSpPr>
          <p:nvPr>
            <p:ph idx="1"/>
          </p:nvPr>
        </p:nvSpPr>
        <p:spPr>
          <a:xfrm>
            <a:off x="64234" y="1550990"/>
            <a:ext cx="10515600" cy="4351338"/>
          </a:xfrm>
        </p:spPr>
        <p:txBody>
          <a:bodyPr/>
          <a:lstStyle/>
          <a:p>
            <a:pPr marL="0" indent="0">
              <a:buNone/>
            </a:pPr>
            <a:r>
              <a:rPr lang="zh-CN" altLang="en-US" dirty="0"/>
              <a:t>在统一容量口径后：</a:t>
            </a:r>
          </a:p>
          <a:p>
            <a:pPr marL="0" indent="0">
              <a:buNone/>
            </a:pPr>
            <a:r>
              <a:rPr lang="en-US" dirty="0"/>
              <a:t>hybrid_v2 </a:t>
            </a:r>
            <a:r>
              <a:rPr lang="zh-CN" altLang="en-US" dirty="0"/>
              <a:t>的聚合 </a:t>
            </a:r>
            <a:r>
              <a:rPr lang="en-US" dirty="0"/>
              <a:t>LFR </a:t>
            </a:r>
            <a:r>
              <a:rPr lang="zh-CN" altLang="en-US" dirty="0"/>
              <a:t>约为 </a:t>
            </a:r>
            <a:r>
              <a:rPr lang="en-US" altLang="zh-CN" dirty="0"/>
              <a:t>0.285</a:t>
            </a:r>
            <a:endParaRPr lang="zh-CN" altLang="en-US" dirty="0"/>
          </a:p>
          <a:p>
            <a:pPr marL="0" indent="0">
              <a:buNone/>
            </a:pPr>
            <a:r>
              <a:rPr lang="en-US" dirty="0"/>
              <a:t>DP-</a:t>
            </a:r>
            <a:r>
              <a:rPr lang="en-US" dirty="0" err="1"/>
              <a:t>Lagrangian</a:t>
            </a:r>
            <a:r>
              <a:rPr lang="en-US" dirty="0"/>
              <a:t> </a:t>
            </a:r>
            <a:r>
              <a:rPr lang="zh-CN" altLang="en-US" dirty="0"/>
              <a:t>仍然是主方法中最强</a:t>
            </a:r>
          </a:p>
          <a:p>
            <a:pPr marL="0" indent="0">
              <a:buNone/>
            </a:pPr>
            <a:r>
              <a:rPr lang="zh-CN" altLang="en-US" dirty="0"/>
              <a:t>但不同方法内部若使用不同容量核算方式，则 </a:t>
            </a:r>
            <a:r>
              <a:rPr lang="en-US" dirty="0"/>
              <a:t>proxy </a:t>
            </a:r>
            <a:r>
              <a:rPr lang="zh-CN" altLang="en-US" dirty="0"/>
              <a:t>层数值不宜直接横向比较</a:t>
            </a:r>
          </a:p>
          <a:p>
            <a:pPr marL="0" indent="0">
              <a:buNone/>
            </a:pPr>
            <a:r>
              <a:rPr lang="zh-CN" altLang="en-US" b="1" dirty="0"/>
              <a:t>解释</a:t>
            </a:r>
            <a:endParaRPr lang="zh-CN" altLang="en-US" dirty="0"/>
          </a:p>
          <a:p>
            <a:pPr marL="0" indent="0">
              <a:buNone/>
            </a:pPr>
            <a:r>
              <a:rPr lang="zh-CN" altLang="en-US" dirty="0"/>
              <a:t>聚合层结果：看各方法在自身 </a:t>
            </a:r>
            <a:r>
              <a:rPr lang="en-US" dirty="0"/>
              <a:t>proxy </a:t>
            </a:r>
            <a:r>
              <a:rPr lang="zh-CN" altLang="en-US" dirty="0"/>
              <a:t>框架下的稳定性</a:t>
            </a:r>
          </a:p>
          <a:p>
            <a:pPr marL="0" indent="0">
              <a:buNone/>
            </a:pPr>
            <a:r>
              <a:rPr lang="zh-CN" altLang="en-US" dirty="0"/>
              <a:t>共同窗口 </a:t>
            </a:r>
            <a:r>
              <a:rPr lang="en-US" dirty="0"/>
              <a:t>replay：</a:t>
            </a:r>
            <a:r>
              <a:rPr lang="zh-CN" altLang="en-US" dirty="0"/>
              <a:t>看更贴近业务 </a:t>
            </a:r>
            <a:r>
              <a:rPr lang="en-US" dirty="0"/>
              <a:t>KPI </a:t>
            </a:r>
            <a:r>
              <a:rPr lang="zh-CN" altLang="en-US" dirty="0"/>
              <a:t>的真实履约表现</a:t>
            </a:r>
          </a:p>
          <a:p>
            <a:pPr marL="0" indent="0">
              <a:buNone/>
            </a:pPr>
            <a:endParaRPr lang="en-US" dirty="0"/>
          </a:p>
        </p:txBody>
      </p:sp>
      <p:sp>
        <p:nvSpPr>
          <p:cNvPr id="4" name="TextBox 3">
            <a:extLst>
              <a:ext uri="{FF2B5EF4-FFF2-40B4-BE49-F238E27FC236}">
                <a16:creationId xmlns:a16="http://schemas.microsoft.com/office/drawing/2014/main" id="{A01B673D-1C3B-3946-32B9-6DD0CA8BA136}"/>
              </a:ext>
            </a:extLst>
          </p:cNvPr>
          <p:cNvSpPr txBox="1"/>
          <p:nvPr/>
        </p:nvSpPr>
        <p:spPr>
          <a:xfrm>
            <a:off x="0" y="126997"/>
            <a:ext cx="10644068" cy="584775"/>
          </a:xfrm>
          <a:prstGeom prst="rect">
            <a:avLst/>
          </a:prstGeom>
          <a:noFill/>
        </p:spPr>
        <p:txBody>
          <a:bodyPr wrap="none" rtlCol="0">
            <a:spAutoFit/>
          </a:bodyPr>
          <a:lstStyle/>
          <a:p>
            <a:r>
              <a:rPr lang="zh-CN" altLang="en-US" sz="3200" dirty="0"/>
              <a:t>为什么不能只看一个 </a:t>
            </a:r>
            <a:r>
              <a:rPr lang="en-US" sz="3200" dirty="0"/>
              <a:t>summary </a:t>
            </a:r>
            <a:r>
              <a:rPr lang="zh-CN" altLang="en-US" sz="3200" dirty="0"/>
              <a:t>表：统一容量口径的重要性</a:t>
            </a:r>
            <a:endParaRPr lang="en-US" sz="3200" dirty="0"/>
          </a:p>
        </p:txBody>
      </p:sp>
    </p:spTree>
    <p:extLst>
      <p:ext uri="{BB962C8B-B14F-4D97-AF65-F5344CB8AC3E}">
        <p14:creationId xmlns:p14="http://schemas.microsoft.com/office/powerpoint/2010/main" val="35049962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75D4CD-2631-068E-BD06-DFBF47190E98}"/>
              </a:ext>
            </a:extLst>
          </p:cNvPr>
          <p:cNvSpPr>
            <a:spLocks noGrp="1"/>
          </p:cNvSpPr>
          <p:nvPr>
            <p:ph idx="1"/>
          </p:nvPr>
        </p:nvSpPr>
        <p:spPr>
          <a:xfrm>
            <a:off x="0" y="383183"/>
            <a:ext cx="9677400" cy="588963"/>
          </a:xfrm>
        </p:spPr>
        <p:txBody>
          <a:bodyPr>
            <a:normAutofit/>
          </a:bodyPr>
          <a:lstStyle/>
          <a:p>
            <a:pPr marL="0" indent="0">
              <a:buNone/>
            </a:pPr>
            <a:r>
              <a:rPr lang="zh-CN" altLang="en-US" dirty="0"/>
              <a:t>在 </a:t>
            </a:r>
            <a:r>
              <a:rPr lang="en-US" dirty="0"/>
              <a:t>baseline </a:t>
            </a:r>
            <a:r>
              <a:rPr lang="zh-CN" altLang="en-US" dirty="0"/>
              <a:t>场景下，对齐 </a:t>
            </a:r>
            <a:r>
              <a:rPr lang="en-US" altLang="zh-CN" dirty="0"/>
              <a:t>43</a:t>
            </a:r>
            <a:r>
              <a:rPr lang="zh-CN" altLang="en-US" dirty="0"/>
              <a:t> 个共同窗口，进行两类 </a:t>
            </a:r>
            <a:r>
              <a:rPr lang="en-US" dirty="0"/>
              <a:t>replay：</a:t>
            </a:r>
          </a:p>
        </p:txBody>
      </p:sp>
      <p:sp>
        <p:nvSpPr>
          <p:cNvPr id="9" name="TextBox 8">
            <a:extLst>
              <a:ext uri="{FF2B5EF4-FFF2-40B4-BE49-F238E27FC236}">
                <a16:creationId xmlns:a16="http://schemas.microsoft.com/office/drawing/2014/main" id="{20BCE09C-BF6A-D685-D31B-4C298DC7FBE5}"/>
              </a:ext>
            </a:extLst>
          </p:cNvPr>
          <p:cNvSpPr txBox="1"/>
          <p:nvPr/>
        </p:nvSpPr>
        <p:spPr>
          <a:xfrm>
            <a:off x="499895" y="2052056"/>
            <a:ext cx="5260182" cy="3108543"/>
          </a:xfrm>
          <a:prstGeom prst="rect">
            <a:avLst/>
          </a:prstGeom>
          <a:noFill/>
        </p:spPr>
        <p:txBody>
          <a:bodyPr wrap="square">
            <a:spAutoFit/>
          </a:bodyPr>
          <a:lstStyle/>
          <a:p>
            <a:pPr marL="0" indent="0">
              <a:buNone/>
            </a:pPr>
            <a:r>
              <a:rPr lang="en-US" sz="2800" b="1" dirty="0"/>
              <a:t>1. </a:t>
            </a:r>
            <a:r>
              <a:rPr lang="en-US" sz="2800" b="1" dirty="0" err="1"/>
              <a:t>整单履约Whole</a:t>
            </a:r>
            <a:r>
              <a:rPr lang="en-US" sz="2800" b="1" dirty="0"/>
              <a:t>-order replay</a:t>
            </a:r>
          </a:p>
          <a:p>
            <a:pPr marL="0" indent="0">
              <a:buNone/>
            </a:pPr>
            <a:r>
              <a:rPr lang="en-US" sz="2800" dirty="0"/>
              <a:t>hybrid_v2：</a:t>
            </a:r>
          </a:p>
          <a:p>
            <a:pPr marL="457200" lvl="1" indent="0">
              <a:buNone/>
            </a:pPr>
            <a:r>
              <a:rPr lang="en-US" sz="2800" dirty="0"/>
              <a:t>basket LFR = 0.0632</a:t>
            </a:r>
          </a:p>
          <a:p>
            <a:pPr marL="457200" lvl="1" indent="0">
              <a:buNone/>
            </a:pPr>
            <a:r>
              <a:rPr lang="en-US" sz="2800" dirty="0"/>
              <a:t>basket OFR = 0.1071</a:t>
            </a:r>
          </a:p>
          <a:p>
            <a:pPr marL="0" indent="0">
              <a:buNone/>
            </a:pPr>
            <a:r>
              <a:rPr lang="en-US" sz="2800" dirty="0" err="1"/>
              <a:t>dp_nominal</a:t>
            </a:r>
            <a:r>
              <a:rPr lang="en-US" sz="2800" dirty="0"/>
              <a:t>：</a:t>
            </a:r>
          </a:p>
          <a:p>
            <a:pPr marL="457200" lvl="1" indent="0">
              <a:buNone/>
            </a:pPr>
            <a:r>
              <a:rPr lang="en-US" sz="2800" dirty="0"/>
              <a:t>basket LFR = 0.0416</a:t>
            </a:r>
          </a:p>
          <a:p>
            <a:pPr marL="457200" lvl="1" indent="0">
              <a:buNone/>
            </a:pPr>
            <a:r>
              <a:rPr lang="en-US" sz="2800" dirty="0"/>
              <a:t>basket OFR = 0.0754</a:t>
            </a:r>
          </a:p>
        </p:txBody>
      </p:sp>
      <p:graphicFrame>
        <p:nvGraphicFramePr>
          <p:cNvPr id="11" name="Table 10">
            <a:extLst>
              <a:ext uri="{FF2B5EF4-FFF2-40B4-BE49-F238E27FC236}">
                <a16:creationId xmlns:a16="http://schemas.microsoft.com/office/drawing/2014/main" id="{89E90B01-D5F9-58A8-3C5D-9671487F981C}"/>
              </a:ext>
            </a:extLst>
          </p:cNvPr>
          <p:cNvGraphicFramePr>
            <a:graphicFrameLocks noGrp="1"/>
          </p:cNvGraphicFramePr>
          <p:nvPr>
            <p:extLst>
              <p:ext uri="{D42A27DB-BD31-4B8C-83A1-F6EECF244321}">
                <p14:modId xmlns:p14="http://schemas.microsoft.com/office/powerpoint/2010/main" val="864267905"/>
              </p:ext>
            </p:extLst>
          </p:nvPr>
        </p:nvGraphicFramePr>
        <p:xfrm>
          <a:off x="5786605" y="1408720"/>
          <a:ext cx="5905500" cy="4395216"/>
        </p:xfrm>
        <a:graphic>
          <a:graphicData uri="http://schemas.openxmlformats.org/drawingml/2006/table">
            <a:tbl>
              <a:tblPr firstRow="1" firstCol="1" bandRow="1">
                <a:tableStyleId>{5C22544A-7EE6-4342-B048-85BDC9FD1C3A}</a:tableStyleId>
              </a:tblPr>
              <a:tblGrid>
                <a:gridCol w="1181100">
                  <a:extLst>
                    <a:ext uri="{9D8B030D-6E8A-4147-A177-3AD203B41FA5}">
                      <a16:colId xmlns:a16="http://schemas.microsoft.com/office/drawing/2014/main" val="718147405"/>
                    </a:ext>
                  </a:extLst>
                </a:gridCol>
                <a:gridCol w="1181100">
                  <a:extLst>
                    <a:ext uri="{9D8B030D-6E8A-4147-A177-3AD203B41FA5}">
                      <a16:colId xmlns:a16="http://schemas.microsoft.com/office/drawing/2014/main" val="1025155790"/>
                    </a:ext>
                  </a:extLst>
                </a:gridCol>
                <a:gridCol w="1181100">
                  <a:extLst>
                    <a:ext uri="{9D8B030D-6E8A-4147-A177-3AD203B41FA5}">
                      <a16:colId xmlns:a16="http://schemas.microsoft.com/office/drawing/2014/main" val="1860629182"/>
                    </a:ext>
                  </a:extLst>
                </a:gridCol>
                <a:gridCol w="1181100">
                  <a:extLst>
                    <a:ext uri="{9D8B030D-6E8A-4147-A177-3AD203B41FA5}">
                      <a16:colId xmlns:a16="http://schemas.microsoft.com/office/drawing/2014/main" val="3824860691"/>
                    </a:ext>
                  </a:extLst>
                </a:gridCol>
                <a:gridCol w="1181100">
                  <a:extLst>
                    <a:ext uri="{9D8B030D-6E8A-4147-A177-3AD203B41FA5}">
                      <a16:colId xmlns:a16="http://schemas.microsoft.com/office/drawing/2014/main" val="451694655"/>
                    </a:ext>
                  </a:extLst>
                </a:gridCol>
              </a:tblGrid>
              <a:tr h="0">
                <a:tc>
                  <a:txBody>
                    <a:bodyPr/>
                    <a:lstStyle/>
                    <a:p>
                      <a:pPr>
                        <a:lnSpc>
                          <a:spcPct val="135000"/>
                        </a:lnSpc>
                        <a:spcAft>
                          <a:spcPts val="600"/>
                        </a:spcAft>
                        <a:buNone/>
                      </a:pPr>
                      <a:r>
                        <a:rPr lang="en-US" sz="1600">
                          <a:effectLst/>
                        </a:rPr>
                        <a:t>算法</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basket OFR</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basket LFR</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aggregated LFR</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平均时间(s)</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862152514"/>
                  </a:ext>
                </a:extLst>
              </a:tr>
              <a:tr h="0">
                <a:tc>
                  <a:txBody>
                    <a:bodyPr/>
                    <a:lstStyle/>
                    <a:p>
                      <a:pPr>
                        <a:lnSpc>
                          <a:spcPct val="135000"/>
                        </a:lnSpc>
                        <a:spcAft>
                          <a:spcPts val="600"/>
                        </a:spcAft>
                        <a:buNone/>
                      </a:pPr>
                      <a:r>
                        <a:rPr lang="en-US" sz="1600">
                          <a:effectLst/>
                        </a:rPr>
                        <a:t>hybrid_v2</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0.1071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0.0632</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0.2836</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13.00</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459886324"/>
                  </a:ext>
                </a:extLst>
              </a:tr>
              <a:tr h="0">
                <a:tc>
                  <a:txBody>
                    <a:bodyPr/>
                    <a:lstStyle/>
                    <a:p>
                      <a:pPr>
                        <a:lnSpc>
                          <a:spcPct val="135000"/>
                        </a:lnSpc>
                        <a:spcAft>
                          <a:spcPts val="600"/>
                        </a:spcAft>
                        <a:buNone/>
                      </a:pPr>
                      <a:r>
                        <a:rPr lang="en-US" sz="1600">
                          <a:effectLst/>
                        </a:rPr>
                        <a:t>dp_nominal</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0.0754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0.0416</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0.2025</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17.13</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504661896"/>
                  </a:ext>
                </a:extLst>
              </a:tr>
              <a:tr h="0">
                <a:tc>
                  <a:txBody>
                    <a:bodyPr/>
                    <a:lstStyle/>
                    <a:p>
                      <a:pPr>
                        <a:lnSpc>
                          <a:spcPct val="135000"/>
                        </a:lnSpc>
                        <a:spcAft>
                          <a:spcPts val="600"/>
                        </a:spcAft>
                        <a:buNone/>
                      </a:pPr>
                      <a:r>
                        <a:rPr lang="en-US" sz="1600">
                          <a:effectLst/>
                        </a:rPr>
                        <a:t>cpsat_nominal</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0.0705</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0.0386</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0.1934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0.20</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059543432"/>
                  </a:ext>
                </a:extLst>
              </a:tr>
              <a:tr h="0">
                <a:tc>
                  <a:txBody>
                    <a:bodyPr/>
                    <a:lstStyle/>
                    <a:p>
                      <a:pPr>
                        <a:lnSpc>
                          <a:spcPct val="135000"/>
                        </a:lnSpc>
                        <a:spcAft>
                          <a:spcPts val="600"/>
                        </a:spcAft>
                        <a:buNone/>
                      </a:pPr>
                      <a:r>
                        <a:rPr lang="en-US" sz="1600">
                          <a:effectLst/>
                        </a:rPr>
                        <a:t>dp_robust</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0.0659</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0.0359</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0.1877</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16.81</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1520563898"/>
                  </a:ext>
                </a:extLst>
              </a:tr>
              <a:tr h="0">
                <a:tc>
                  <a:txBody>
                    <a:bodyPr/>
                    <a:lstStyle/>
                    <a:p>
                      <a:pPr>
                        <a:lnSpc>
                          <a:spcPct val="135000"/>
                        </a:lnSpc>
                        <a:spcAft>
                          <a:spcPts val="600"/>
                        </a:spcAft>
                        <a:buNone/>
                      </a:pPr>
                      <a:r>
                        <a:rPr lang="en-US" sz="1600">
                          <a:effectLst/>
                        </a:rPr>
                        <a:t>cpsat_robust</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0.0618</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0.0335</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0.1798</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0.24</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1186927384"/>
                  </a:ext>
                </a:extLst>
              </a:tr>
              <a:tr h="0">
                <a:tc>
                  <a:txBody>
                    <a:bodyPr/>
                    <a:lstStyle/>
                    <a:p>
                      <a:pPr>
                        <a:lnSpc>
                          <a:spcPct val="135000"/>
                        </a:lnSpc>
                        <a:spcAft>
                          <a:spcPts val="600"/>
                        </a:spcAft>
                        <a:buNone/>
                      </a:pPr>
                      <a:r>
                        <a:rPr lang="en-US" sz="1600">
                          <a:effectLst/>
                        </a:rPr>
                        <a:t>greedy_nominal</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0.0614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0.0333</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0.1831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0.00</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512872889"/>
                  </a:ext>
                </a:extLst>
              </a:tr>
              <a:tr h="0">
                <a:tc>
                  <a:txBody>
                    <a:bodyPr/>
                    <a:lstStyle/>
                    <a:p>
                      <a:pPr>
                        <a:lnSpc>
                          <a:spcPct val="135000"/>
                        </a:lnSpc>
                        <a:spcAft>
                          <a:spcPts val="600"/>
                        </a:spcAft>
                        <a:buNone/>
                      </a:pPr>
                      <a:r>
                        <a:rPr lang="en-US" sz="1600">
                          <a:effectLst/>
                        </a:rPr>
                        <a:t>greedy_robust</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0.0546</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0.0292</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0.1679</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dirty="0">
                          <a:effectLst/>
                        </a:rPr>
                        <a:t>0.00</a:t>
                      </a:r>
                      <a:endParaRPr lang="en-US" sz="1100" dirty="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4107807534"/>
                  </a:ext>
                </a:extLst>
              </a:tr>
            </a:tbl>
          </a:graphicData>
        </a:graphic>
      </p:graphicFrame>
    </p:spTree>
    <p:extLst>
      <p:ext uri="{BB962C8B-B14F-4D97-AF65-F5344CB8AC3E}">
        <p14:creationId xmlns:p14="http://schemas.microsoft.com/office/powerpoint/2010/main" val="1504744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3200E1E-0324-6F0F-D56F-7069BDEA8276}"/>
              </a:ext>
            </a:extLst>
          </p:cNvPr>
          <p:cNvSpPr txBox="1"/>
          <p:nvPr/>
        </p:nvSpPr>
        <p:spPr>
          <a:xfrm>
            <a:off x="396251" y="1536317"/>
            <a:ext cx="5465135" cy="1815882"/>
          </a:xfrm>
          <a:prstGeom prst="rect">
            <a:avLst/>
          </a:prstGeom>
          <a:noFill/>
        </p:spPr>
        <p:txBody>
          <a:bodyPr wrap="square">
            <a:spAutoFit/>
          </a:bodyPr>
          <a:lstStyle/>
          <a:p>
            <a:pPr marL="0" indent="0">
              <a:buNone/>
            </a:pPr>
            <a:r>
              <a:rPr lang="en-US" sz="2800" b="1" dirty="0"/>
              <a:t>2. </a:t>
            </a:r>
            <a:r>
              <a:rPr lang="en-US" sz="2800" b="1" dirty="0" err="1"/>
              <a:t>部分履约Partial</a:t>
            </a:r>
            <a:r>
              <a:rPr lang="en-US" sz="2800" b="1" dirty="0"/>
              <a:t>-order replay</a:t>
            </a:r>
          </a:p>
          <a:p>
            <a:pPr marL="0" indent="0">
              <a:buNone/>
            </a:pPr>
            <a:r>
              <a:rPr lang="en-US" sz="2800" dirty="0"/>
              <a:t>hybrid_v2：basket LFR = 0.1244</a:t>
            </a:r>
            <a:r>
              <a:rPr lang="zh-CN" altLang="en-US" sz="2800" dirty="0"/>
              <a:t> </a:t>
            </a:r>
            <a:r>
              <a:rPr lang="en-US" sz="2800" dirty="0" err="1"/>
              <a:t>dp_nominal：basket</a:t>
            </a:r>
            <a:r>
              <a:rPr lang="en-US" sz="2800" dirty="0"/>
              <a:t> LFR = 0.1211</a:t>
            </a:r>
            <a:r>
              <a:rPr lang="zh-CN" altLang="en-US" sz="2800" dirty="0"/>
              <a:t> 二者差距仅约 </a:t>
            </a:r>
            <a:r>
              <a:rPr lang="en-US" altLang="zh-CN" sz="2800" dirty="0"/>
              <a:t>0.0033</a:t>
            </a:r>
            <a:endParaRPr lang="zh-CN" altLang="en-US" sz="2800" dirty="0"/>
          </a:p>
        </p:txBody>
      </p:sp>
      <p:graphicFrame>
        <p:nvGraphicFramePr>
          <p:cNvPr id="5" name="Table 4">
            <a:extLst>
              <a:ext uri="{FF2B5EF4-FFF2-40B4-BE49-F238E27FC236}">
                <a16:creationId xmlns:a16="http://schemas.microsoft.com/office/drawing/2014/main" id="{B12F7F55-BBFC-C1C0-0A79-827746F449A5}"/>
              </a:ext>
            </a:extLst>
          </p:cNvPr>
          <p:cNvGraphicFramePr>
            <a:graphicFrameLocks noGrp="1"/>
          </p:cNvGraphicFramePr>
          <p:nvPr>
            <p:extLst>
              <p:ext uri="{D42A27DB-BD31-4B8C-83A1-F6EECF244321}">
                <p14:modId xmlns:p14="http://schemas.microsoft.com/office/powerpoint/2010/main" val="3751637283"/>
              </p:ext>
            </p:extLst>
          </p:nvPr>
        </p:nvGraphicFramePr>
        <p:xfrm>
          <a:off x="6096000" y="1231392"/>
          <a:ext cx="5905500" cy="4395216"/>
        </p:xfrm>
        <a:graphic>
          <a:graphicData uri="http://schemas.openxmlformats.org/drawingml/2006/table">
            <a:tbl>
              <a:tblPr firstRow="1" firstCol="1" bandRow="1">
                <a:tableStyleId>{5C22544A-7EE6-4342-B048-85BDC9FD1C3A}</a:tableStyleId>
              </a:tblPr>
              <a:tblGrid>
                <a:gridCol w="1181100">
                  <a:extLst>
                    <a:ext uri="{9D8B030D-6E8A-4147-A177-3AD203B41FA5}">
                      <a16:colId xmlns:a16="http://schemas.microsoft.com/office/drawing/2014/main" val="3121058193"/>
                    </a:ext>
                  </a:extLst>
                </a:gridCol>
                <a:gridCol w="1181100">
                  <a:extLst>
                    <a:ext uri="{9D8B030D-6E8A-4147-A177-3AD203B41FA5}">
                      <a16:colId xmlns:a16="http://schemas.microsoft.com/office/drawing/2014/main" val="1096151197"/>
                    </a:ext>
                  </a:extLst>
                </a:gridCol>
                <a:gridCol w="1181100">
                  <a:extLst>
                    <a:ext uri="{9D8B030D-6E8A-4147-A177-3AD203B41FA5}">
                      <a16:colId xmlns:a16="http://schemas.microsoft.com/office/drawing/2014/main" val="333521245"/>
                    </a:ext>
                  </a:extLst>
                </a:gridCol>
                <a:gridCol w="1181100">
                  <a:extLst>
                    <a:ext uri="{9D8B030D-6E8A-4147-A177-3AD203B41FA5}">
                      <a16:colId xmlns:a16="http://schemas.microsoft.com/office/drawing/2014/main" val="2518672826"/>
                    </a:ext>
                  </a:extLst>
                </a:gridCol>
                <a:gridCol w="1181100">
                  <a:extLst>
                    <a:ext uri="{9D8B030D-6E8A-4147-A177-3AD203B41FA5}">
                      <a16:colId xmlns:a16="http://schemas.microsoft.com/office/drawing/2014/main" val="1977775458"/>
                    </a:ext>
                  </a:extLst>
                </a:gridCol>
              </a:tblGrid>
              <a:tr h="0">
                <a:tc>
                  <a:txBody>
                    <a:bodyPr/>
                    <a:lstStyle/>
                    <a:p>
                      <a:pPr>
                        <a:lnSpc>
                          <a:spcPct val="135000"/>
                        </a:lnSpc>
                        <a:spcAft>
                          <a:spcPts val="600"/>
                        </a:spcAft>
                        <a:buNone/>
                      </a:pPr>
                      <a:r>
                        <a:rPr lang="en-US" sz="1600" dirty="0" err="1">
                          <a:effectLst/>
                        </a:rPr>
                        <a:t>算法</a:t>
                      </a:r>
                      <a:endParaRPr lang="en-US" sz="1100" dirty="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dirty="0">
                          <a:effectLst/>
                        </a:rPr>
                        <a:t>basket OFR</a:t>
                      </a:r>
                      <a:endParaRPr lang="en-US" sz="1100" dirty="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basket LFR</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basket QFR</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平均时间(s)</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954516231"/>
                  </a:ext>
                </a:extLst>
              </a:tr>
              <a:tr h="0">
                <a:tc>
                  <a:txBody>
                    <a:bodyPr/>
                    <a:lstStyle/>
                    <a:p>
                      <a:pPr>
                        <a:lnSpc>
                          <a:spcPct val="135000"/>
                        </a:lnSpc>
                        <a:spcAft>
                          <a:spcPts val="600"/>
                        </a:spcAft>
                        <a:buNone/>
                      </a:pPr>
                      <a:r>
                        <a:rPr lang="en-US" sz="1600" dirty="0">
                          <a:effectLst/>
                        </a:rPr>
                        <a:t>hybrid_v2</a:t>
                      </a:r>
                      <a:endParaRPr lang="en-US" sz="1100" dirty="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0.0584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0.1244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0.1072</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13.00</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95819531"/>
                  </a:ext>
                </a:extLst>
              </a:tr>
              <a:tr h="0">
                <a:tc>
                  <a:txBody>
                    <a:bodyPr/>
                    <a:lstStyle/>
                    <a:p>
                      <a:pPr>
                        <a:lnSpc>
                          <a:spcPct val="135000"/>
                        </a:lnSpc>
                        <a:spcAft>
                          <a:spcPts val="600"/>
                        </a:spcAft>
                        <a:buNone/>
                      </a:pPr>
                      <a:r>
                        <a:rPr lang="en-US" sz="1600">
                          <a:effectLst/>
                        </a:rPr>
                        <a:t>dp_nominal</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0.0648</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0.1211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0.0914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17.13</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524007840"/>
                  </a:ext>
                </a:extLst>
              </a:tr>
              <a:tr h="0">
                <a:tc>
                  <a:txBody>
                    <a:bodyPr/>
                    <a:lstStyle/>
                    <a:p>
                      <a:pPr>
                        <a:lnSpc>
                          <a:spcPct val="135000"/>
                        </a:lnSpc>
                        <a:spcAft>
                          <a:spcPts val="600"/>
                        </a:spcAft>
                        <a:buNone/>
                      </a:pPr>
                      <a:r>
                        <a:rPr lang="en-US" sz="1600">
                          <a:effectLst/>
                        </a:rPr>
                        <a:t>cpsat_nominal</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0.0609</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0.1156</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0.0873</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0.20</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4107685492"/>
                  </a:ext>
                </a:extLst>
              </a:tr>
              <a:tr h="0">
                <a:tc>
                  <a:txBody>
                    <a:bodyPr/>
                    <a:lstStyle/>
                    <a:p>
                      <a:pPr>
                        <a:lnSpc>
                          <a:spcPct val="135000"/>
                        </a:lnSpc>
                        <a:spcAft>
                          <a:spcPts val="600"/>
                        </a:spcAft>
                        <a:buNone/>
                      </a:pPr>
                      <a:r>
                        <a:rPr lang="en-US" sz="1600">
                          <a:effectLst/>
                        </a:rPr>
                        <a:t>dp_robust</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0.0596</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0.1113</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0.0827</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16.81</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040361631"/>
                  </a:ext>
                </a:extLst>
              </a:tr>
              <a:tr h="0">
                <a:tc>
                  <a:txBody>
                    <a:bodyPr/>
                    <a:lstStyle/>
                    <a:p>
                      <a:pPr>
                        <a:lnSpc>
                          <a:spcPct val="135000"/>
                        </a:lnSpc>
                        <a:spcAft>
                          <a:spcPts val="600"/>
                        </a:spcAft>
                        <a:buNone/>
                      </a:pPr>
                      <a:r>
                        <a:rPr lang="en-US" sz="1600">
                          <a:effectLst/>
                        </a:rPr>
                        <a:t>greedy_nominal</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0.0561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0.1074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0.0808</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0.00</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3996276275"/>
                  </a:ext>
                </a:extLst>
              </a:tr>
              <a:tr h="0">
                <a:tc>
                  <a:txBody>
                    <a:bodyPr/>
                    <a:lstStyle/>
                    <a:p>
                      <a:pPr>
                        <a:lnSpc>
                          <a:spcPct val="135000"/>
                        </a:lnSpc>
                        <a:spcAft>
                          <a:spcPts val="600"/>
                        </a:spcAft>
                        <a:buNone/>
                      </a:pPr>
                      <a:r>
                        <a:rPr lang="en-US" sz="1600">
                          <a:effectLst/>
                        </a:rPr>
                        <a:t>cpsat_robust</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0.0559</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0.1063</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0.0791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0.24</a:t>
                      </a:r>
                      <a:endParaRPr lang="en-US" sz="110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1364693951"/>
                  </a:ext>
                </a:extLst>
              </a:tr>
              <a:tr h="0">
                <a:tc>
                  <a:txBody>
                    <a:bodyPr/>
                    <a:lstStyle/>
                    <a:p>
                      <a:pPr>
                        <a:lnSpc>
                          <a:spcPct val="135000"/>
                        </a:lnSpc>
                        <a:spcAft>
                          <a:spcPts val="600"/>
                        </a:spcAft>
                        <a:buNone/>
                      </a:pPr>
                      <a:r>
                        <a:rPr lang="en-US" sz="1600">
                          <a:effectLst/>
                        </a:rPr>
                        <a:t>greedy_robust</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0.0514</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0.0971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a:effectLst/>
                        </a:rPr>
                        <a:t>0.0721</a:t>
                      </a:r>
                      <a:endParaRPr lang="en-US" sz="1100">
                        <a:effectLst/>
                        <a:latin typeface="Noto Serif CJK SC"/>
                        <a:ea typeface="Noto Serif CJK SC"/>
                        <a:cs typeface="Times New Roman" panose="02020603050405020304" pitchFamily="18" charset="0"/>
                      </a:endParaRPr>
                    </a:p>
                  </a:txBody>
                  <a:tcPr marL="68580" marR="68580" marT="0" marB="0"/>
                </a:tc>
                <a:tc>
                  <a:txBody>
                    <a:bodyPr/>
                    <a:lstStyle/>
                    <a:p>
                      <a:pPr>
                        <a:lnSpc>
                          <a:spcPct val="135000"/>
                        </a:lnSpc>
                        <a:spcAft>
                          <a:spcPts val="600"/>
                        </a:spcAft>
                        <a:buNone/>
                      </a:pPr>
                      <a:r>
                        <a:rPr lang="en-US" sz="1600" dirty="0">
                          <a:effectLst/>
                        </a:rPr>
                        <a:t>0.00</a:t>
                      </a:r>
                      <a:endParaRPr lang="en-US" sz="1100" dirty="0">
                        <a:effectLst/>
                        <a:latin typeface="Noto Serif CJK SC"/>
                        <a:ea typeface="Noto Serif CJK SC"/>
                        <a:cs typeface="Times New Roman" panose="02020603050405020304" pitchFamily="18" charset="0"/>
                      </a:endParaRPr>
                    </a:p>
                  </a:txBody>
                  <a:tcPr marL="68580" marR="68580" marT="0" marB="0"/>
                </a:tc>
                <a:extLst>
                  <a:ext uri="{0D108BD9-81ED-4DB2-BD59-A6C34878D82A}">
                    <a16:rowId xmlns:a16="http://schemas.microsoft.com/office/drawing/2014/main" val="2540781522"/>
                  </a:ext>
                </a:extLst>
              </a:tr>
            </a:tbl>
          </a:graphicData>
        </a:graphic>
      </p:graphicFrame>
      <p:sp>
        <p:nvSpPr>
          <p:cNvPr id="6" name="TextBox 5">
            <a:extLst>
              <a:ext uri="{FF2B5EF4-FFF2-40B4-BE49-F238E27FC236}">
                <a16:creationId xmlns:a16="http://schemas.microsoft.com/office/drawing/2014/main" id="{FCF71B43-C29F-F11E-F138-E4994A847268}"/>
              </a:ext>
            </a:extLst>
          </p:cNvPr>
          <p:cNvSpPr txBox="1"/>
          <p:nvPr/>
        </p:nvSpPr>
        <p:spPr>
          <a:xfrm>
            <a:off x="190500" y="5321683"/>
            <a:ext cx="10150077" cy="1384995"/>
          </a:xfrm>
          <a:prstGeom prst="rect">
            <a:avLst/>
          </a:prstGeom>
          <a:noFill/>
        </p:spPr>
        <p:txBody>
          <a:bodyPr wrap="square">
            <a:spAutoFit/>
          </a:bodyPr>
          <a:lstStyle/>
          <a:p>
            <a:pPr marL="0" indent="0">
              <a:buNone/>
            </a:pPr>
            <a:r>
              <a:rPr lang="zh-CN" altLang="en-US" sz="2800" b="1" dirty="0"/>
              <a:t>结论</a:t>
            </a:r>
            <a:endParaRPr lang="zh-CN" altLang="en-US" sz="2800" dirty="0"/>
          </a:p>
          <a:p>
            <a:pPr marL="0" indent="0">
              <a:buNone/>
            </a:pPr>
            <a:r>
              <a:rPr lang="en-US" sz="2800" dirty="0"/>
              <a:t>hybrid_v2 </a:t>
            </a:r>
            <a:r>
              <a:rPr lang="zh-CN" altLang="en-US" sz="2800" dirty="0"/>
              <a:t>在整单履约口径下优势更明显</a:t>
            </a:r>
          </a:p>
          <a:p>
            <a:pPr marL="0" indent="0">
              <a:buNone/>
            </a:pPr>
            <a:r>
              <a:rPr lang="zh-CN" altLang="en-US" sz="2800" dirty="0"/>
              <a:t>在部分履约口径下，主方法与 </a:t>
            </a:r>
            <a:r>
              <a:rPr lang="en-US" sz="2800" dirty="0"/>
              <a:t>benchmark </a:t>
            </a:r>
            <a:r>
              <a:rPr lang="zh-CN" altLang="en-US" sz="2800" dirty="0"/>
              <a:t>的差距显著收窄</a:t>
            </a:r>
          </a:p>
        </p:txBody>
      </p:sp>
    </p:spTree>
    <p:extLst>
      <p:ext uri="{BB962C8B-B14F-4D97-AF65-F5344CB8AC3E}">
        <p14:creationId xmlns:p14="http://schemas.microsoft.com/office/powerpoint/2010/main" val="3955666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5F81C-F3C3-A5A3-2807-8D2D2911C9D4}"/>
              </a:ext>
            </a:extLst>
          </p:cNvPr>
          <p:cNvSpPr>
            <a:spLocks noGrp="1"/>
          </p:cNvSpPr>
          <p:nvPr>
            <p:ph type="title"/>
          </p:nvPr>
        </p:nvSpPr>
        <p:spPr>
          <a:xfrm>
            <a:off x="0" y="18255"/>
            <a:ext cx="2528888" cy="681833"/>
          </a:xfrm>
        </p:spPr>
        <p:txBody>
          <a:bodyPr>
            <a:normAutofit fontScale="90000"/>
          </a:bodyPr>
          <a:lstStyle/>
          <a:p>
            <a:r>
              <a:rPr lang="en-US" dirty="0" err="1"/>
              <a:t>管理启示</a:t>
            </a:r>
            <a:endParaRPr lang="en-US" dirty="0"/>
          </a:p>
        </p:txBody>
      </p:sp>
      <p:graphicFrame>
        <p:nvGraphicFramePr>
          <p:cNvPr id="9" name="Content Placeholder 2">
            <a:extLst>
              <a:ext uri="{FF2B5EF4-FFF2-40B4-BE49-F238E27FC236}">
                <a16:creationId xmlns:a16="http://schemas.microsoft.com/office/drawing/2014/main" id="{DCD48937-382F-CFBF-513C-E9A0EA1AC6BE}"/>
              </a:ext>
            </a:extLst>
          </p:cNvPr>
          <p:cNvGraphicFramePr>
            <a:graphicFrameLocks noGrp="1"/>
          </p:cNvGraphicFramePr>
          <p:nvPr>
            <p:ph idx="1"/>
            <p:extLst>
              <p:ext uri="{D42A27DB-BD31-4B8C-83A1-F6EECF244321}">
                <p14:modId xmlns:p14="http://schemas.microsoft.com/office/powerpoint/2010/main" val="277302622"/>
              </p:ext>
            </p:extLst>
          </p:nvPr>
        </p:nvGraphicFramePr>
        <p:xfrm>
          <a:off x="-586977" y="125730"/>
          <a:ext cx="12318205" cy="43519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81240681-BF71-2A99-BA93-1201FC91010A}"/>
              </a:ext>
            </a:extLst>
          </p:cNvPr>
          <p:cNvSpPr txBox="1"/>
          <p:nvPr/>
        </p:nvSpPr>
        <p:spPr>
          <a:xfrm>
            <a:off x="-76199" y="3873460"/>
            <a:ext cx="5567363" cy="2893100"/>
          </a:xfrm>
          <a:prstGeom prst="rect">
            <a:avLst/>
          </a:prstGeom>
          <a:noFill/>
        </p:spPr>
        <p:txBody>
          <a:bodyPr wrap="square">
            <a:spAutoFit/>
          </a:bodyPr>
          <a:lstStyle/>
          <a:p>
            <a:pPr marL="0" indent="0">
              <a:buNone/>
            </a:pPr>
            <a:r>
              <a:rPr lang="zh-CN" altLang="en-US" sz="2800" b="1" dirty="0"/>
              <a:t>管理启示</a:t>
            </a:r>
            <a:endParaRPr lang="zh-CN" altLang="en-US" sz="2800" dirty="0"/>
          </a:p>
          <a:p>
            <a:pPr marL="0" indent="0">
              <a:buNone/>
            </a:pPr>
            <a:r>
              <a:rPr lang="zh-CN" altLang="en-US" sz="2200" dirty="0"/>
              <a:t>前置仓算法选型必须以业务 </a:t>
            </a:r>
            <a:r>
              <a:rPr lang="en-US" sz="2200" dirty="0"/>
              <a:t>KPI </a:t>
            </a:r>
            <a:r>
              <a:rPr lang="zh-CN" altLang="en-US" sz="2200" dirty="0"/>
              <a:t>为前提</a:t>
            </a:r>
          </a:p>
          <a:p>
            <a:pPr marL="0" indent="0">
              <a:buNone/>
            </a:pPr>
            <a:r>
              <a:rPr lang="zh-CN" altLang="en-US" sz="2200" dirty="0"/>
              <a:t>不能只看 </a:t>
            </a:r>
            <a:r>
              <a:rPr lang="en-US" sz="2200" dirty="0"/>
              <a:t>SKU </a:t>
            </a:r>
            <a:r>
              <a:rPr lang="zh-CN" altLang="en-US" sz="2200" dirty="0"/>
              <a:t>级 </a:t>
            </a:r>
            <a:r>
              <a:rPr lang="en-US" sz="2200" dirty="0"/>
              <a:t>fill rate，</a:t>
            </a:r>
            <a:r>
              <a:rPr lang="zh-CN" altLang="en-US" sz="2200" dirty="0"/>
              <a:t>还要看整单</a:t>
            </a:r>
            <a:r>
              <a:rPr lang="en-US" altLang="zh-CN" sz="2200" dirty="0"/>
              <a:t>/</a:t>
            </a:r>
            <a:r>
              <a:rPr lang="zh-CN" altLang="en-US" sz="2200" dirty="0"/>
              <a:t>部分履约</a:t>
            </a:r>
          </a:p>
          <a:p>
            <a:pPr marL="0" indent="0">
              <a:buNone/>
            </a:pPr>
            <a:r>
              <a:rPr lang="zh-CN" altLang="en-US" sz="2200" dirty="0"/>
              <a:t>联合优化适合提升聚合覆盖效率与方案稳定性</a:t>
            </a:r>
          </a:p>
          <a:p>
            <a:pPr marL="0" indent="0">
              <a:buNone/>
            </a:pPr>
            <a:r>
              <a:rPr lang="zh-CN" altLang="en-US" sz="2200" dirty="0"/>
              <a:t>强 </a:t>
            </a:r>
            <a:r>
              <a:rPr lang="en-US" sz="2200" dirty="0"/>
              <a:t>benchmark </a:t>
            </a:r>
            <a:r>
              <a:rPr lang="zh-CN" altLang="en-US" sz="2200" dirty="0"/>
              <a:t>在真实订单体验维度仍有重要参考价值</a:t>
            </a:r>
          </a:p>
        </p:txBody>
      </p:sp>
      <p:sp>
        <p:nvSpPr>
          <p:cNvPr id="7" name="TextBox 6">
            <a:extLst>
              <a:ext uri="{FF2B5EF4-FFF2-40B4-BE49-F238E27FC236}">
                <a16:creationId xmlns:a16="http://schemas.microsoft.com/office/drawing/2014/main" id="{E37FAB76-6004-46E9-FF6C-C6D9373A1C6A}"/>
              </a:ext>
            </a:extLst>
          </p:cNvPr>
          <p:cNvSpPr txBox="1"/>
          <p:nvPr/>
        </p:nvSpPr>
        <p:spPr>
          <a:xfrm>
            <a:off x="6360318" y="3873460"/>
            <a:ext cx="5831682" cy="2215991"/>
          </a:xfrm>
          <a:prstGeom prst="rect">
            <a:avLst/>
          </a:prstGeom>
          <a:noFill/>
        </p:spPr>
        <p:txBody>
          <a:bodyPr wrap="square">
            <a:spAutoFit/>
          </a:bodyPr>
          <a:lstStyle/>
          <a:p>
            <a:pPr marL="0" indent="0">
              <a:buNone/>
            </a:pPr>
            <a:r>
              <a:rPr lang="zh-CN" altLang="en-US" sz="2800" b="1" dirty="0"/>
              <a:t>局限与展望</a:t>
            </a:r>
            <a:endParaRPr lang="zh-CN" altLang="en-US" sz="2800" dirty="0"/>
          </a:p>
          <a:p>
            <a:pPr marL="0" indent="0">
              <a:buNone/>
            </a:pPr>
            <a:r>
              <a:rPr lang="zh-CN" altLang="en-US" sz="2200" dirty="0"/>
              <a:t>参数中存在代理构造</a:t>
            </a:r>
          </a:p>
          <a:p>
            <a:pPr marL="0" indent="0">
              <a:buNone/>
            </a:pPr>
            <a:r>
              <a:rPr lang="en-US" sz="2200" dirty="0"/>
              <a:t>high volatility </a:t>
            </a:r>
            <a:r>
              <a:rPr lang="zh-CN" altLang="en-US" sz="2200" dirty="0"/>
              <a:t>与 </a:t>
            </a:r>
            <a:r>
              <a:rPr lang="en-US" sz="2200" dirty="0"/>
              <a:t>large scale </a:t>
            </a:r>
            <a:r>
              <a:rPr lang="zh-CN" altLang="en-US" sz="2200" dirty="0"/>
              <a:t>尚未扩展到同样严格的订单级 </a:t>
            </a:r>
            <a:r>
              <a:rPr lang="en-US" sz="2200" dirty="0"/>
              <a:t>benchmark</a:t>
            </a:r>
          </a:p>
          <a:p>
            <a:pPr marL="0" indent="0">
              <a:buNone/>
            </a:pPr>
            <a:r>
              <a:rPr lang="zh-CN" altLang="en-US" sz="2200" dirty="0"/>
              <a:t>后续可扩展到更细粒度替代建模、多仓协同和动态补货</a:t>
            </a:r>
          </a:p>
        </p:txBody>
      </p:sp>
    </p:spTree>
    <p:extLst>
      <p:ext uri="{BB962C8B-B14F-4D97-AF65-F5344CB8AC3E}">
        <p14:creationId xmlns:p14="http://schemas.microsoft.com/office/powerpoint/2010/main" val="27072948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1653</TotalTime>
  <Words>1325</Words>
  <Application>Microsoft Macintosh PowerPoint</Application>
  <PresentationFormat>Widescreen</PresentationFormat>
  <Paragraphs>225</Paragraphs>
  <Slides>17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-apple-system</vt:lpstr>
      <vt:lpstr>Noto Serif CJK SC</vt:lpstr>
      <vt:lpstr>Aptos</vt:lpstr>
      <vt:lpstr>Aptos Display</vt:lpstr>
      <vt:lpstr>Arial</vt:lpstr>
      <vt:lpstr>Cambria Math</vt:lpstr>
      <vt:lpstr>Office Theme</vt:lpstr>
      <vt:lpstr>即时零售前置仓 SKU 选品与库存配置联合优化研究</vt:lpstr>
      <vt:lpstr>研究背景：前置仓运营中的核心矛盾</vt:lpstr>
      <vt:lpstr>目标</vt:lpstr>
      <vt:lpstr>PowerPoint Presentation</vt:lpstr>
      <vt:lpstr>研究框架</vt:lpstr>
      <vt:lpstr>PowerPoint Presentation</vt:lpstr>
      <vt:lpstr>PowerPoint Presentation</vt:lpstr>
      <vt:lpstr>PowerPoint Presentation</vt:lpstr>
      <vt:lpstr>求解方法设计：Greedy、DP-Lagrangian 与 CP-SAT</vt:lpstr>
      <vt:lpstr>文献启发(hybrid_v2)</vt:lpstr>
      <vt:lpstr>实验设计</vt:lpstr>
      <vt:lpstr>PowerPoint Presentation</vt:lpstr>
      <vt:lpstr>聚合需求层结果：DP-Lagrangian 在三类场景中表现最强</vt:lpstr>
      <vt:lpstr>PowerPoint Presentation</vt:lpstr>
      <vt:lpstr>PowerPoint Presentation</vt:lpstr>
      <vt:lpstr>PowerPoint Presentation</vt:lpstr>
      <vt:lpstr>管理启示</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牧天 王</dc:creator>
  <cp:lastModifiedBy>牧天 王</cp:lastModifiedBy>
  <cp:revision>7</cp:revision>
  <dcterms:created xsi:type="dcterms:W3CDTF">2026-04-20T05:08:06Z</dcterms:created>
  <dcterms:modified xsi:type="dcterms:W3CDTF">2026-04-23T05:11:21Z</dcterms:modified>
</cp:coreProperties>
</file>