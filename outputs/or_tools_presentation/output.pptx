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e535d3de7643ec" /><Relationship Type="http://schemas.openxmlformats.org/officeDocument/2006/relationships/extended-properties" Target="/docProps/app.xml" Id="Red8eff596f954de5" /><Relationship Type="http://schemas.openxmlformats.org/officeDocument/2006/relationships/officeDocument" Target="/ppt/presentation.xml" Id="R03d6bfe65be04a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ca3aa40ed24c74"/>
  </p:sldMasterIdLst>
  <p:notesMasterIdLst>
    <p:notesMasterId xmlns:r="http://schemas.openxmlformats.org/officeDocument/2006/relationships" r:id="Ra38641271c36476a"/>
  </p:notesMasterIdLst>
  <p:sldIdLst>
    <p:sldId xmlns:r="http://schemas.openxmlformats.org/officeDocument/2006/relationships" id="256" r:id="R920b1b816f774b60"/>
    <p:sldId xmlns:r="http://schemas.openxmlformats.org/officeDocument/2006/relationships" id="257" r:id="R96f1588da2044d32"/>
    <p:sldId xmlns:r="http://schemas.openxmlformats.org/officeDocument/2006/relationships" id="258" r:id="R94621d9a3cc0477d"/>
    <p:sldId xmlns:r="http://schemas.openxmlformats.org/officeDocument/2006/relationships" id="259" r:id="Ra37dd948c7bf4430"/>
    <p:sldId xmlns:r="http://schemas.openxmlformats.org/officeDocument/2006/relationships" id="260" r:id="Rd693eda3b6bd47a9"/>
    <p:sldId xmlns:r="http://schemas.openxmlformats.org/officeDocument/2006/relationships" id="261" r:id="R07d9733e32304477"/>
    <p:sldId xmlns:r="http://schemas.openxmlformats.org/officeDocument/2006/relationships" id="262" r:id="Rec51a827812f4102"/>
    <p:sldId xmlns:r="http://schemas.openxmlformats.org/officeDocument/2006/relationships" id="263" r:id="Rb2c1bab74e9b4730"/>
    <p:sldId xmlns:r="http://schemas.openxmlformats.org/officeDocument/2006/relationships" id="264" r:id="Rd568f1b7d2e54bd5"/>
    <p:sldId xmlns:r="http://schemas.openxmlformats.org/officeDocument/2006/relationships" id="265" r:id="R7607b82c083c4338"/>
    <p:sldId xmlns:r="http://schemas.openxmlformats.org/officeDocument/2006/relationships" id="266" r:id="Rc0b65419a69c462a"/>
    <p:sldId xmlns:r="http://schemas.openxmlformats.org/officeDocument/2006/relationships" id="267" r:id="Re5a84eed786246bd"/>
    <p:sldId xmlns:r="http://schemas.openxmlformats.org/officeDocument/2006/relationships" id="268" r:id="Re36a15c5f5bb4851"/>
    <p:sldId xmlns:r="http://schemas.openxmlformats.org/officeDocument/2006/relationships" id="269" r:id="R7885d920e6cc41f7"/>
    <p:sldId xmlns:r="http://schemas.openxmlformats.org/officeDocument/2006/relationships" id="270" r:id="R97fbdeb1a42c48f5"/>
    <p:sldId xmlns:r="http://schemas.openxmlformats.org/officeDocument/2006/relationships" id="271" r:id="Rc2d3f4bf9fde4005"/>
    <p:sldId xmlns:r="http://schemas.openxmlformats.org/officeDocument/2006/relationships" id="272" r:id="R4925715b28a14fae"/>
    <p:sldId xmlns:r="http://schemas.openxmlformats.org/officeDocument/2006/relationships" id="273" r:id="R57c25afb4de04f0c"/>
    <p:sldId xmlns:r="http://schemas.openxmlformats.org/officeDocument/2006/relationships" id="274" r:id="Rd938c831efad4066"/>
    <p:sldId xmlns:r="http://schemas.openxmlformats.org/officeDocument/2006/relationships" id="275" r:id="R496c9563add349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a3aa40ed24c74" /><Relationship Type="http://schemas.openxmlformats.org/officeDocument/2006/relationships/theme" Target="/ppt/theme/theme1.xml" Id="Rb6548c43100f40b1" /><Relationship Type="http://schemas.openxmlformats.org/officeDocument/2006/relationships/notesMaster" Target="/ppt/notesMasters/notesMaster1.xml" Id="Ra38641271c36476a" /><Relationship Type="http://schemas.openxmlformats.org/officeDocument/2006/relationships/presProps" Target="/ppt/presProps.xml" Id="R2522bddc536749df" /><Relationship Type="http://schemas.openxmlformats.org/officeDocument/2006/relationships/viewProps" Target="/ppt/viewProps.xml" Id="R8461f278469249cd" /><Relationship Type="http://schemas.openxmlformats.org/officeDocument/2006/relationships/tableStyles" Target="/ppt/tableStyles.xml" Id="R06bbbecd4fa74ac5" /><Relationship Type="http://schemas.openxmlformats.org/officeDocument/2006/relationships/slide" Target="/ppt/slides/slide1.xml" Id="R920b1b816f774b60" /><Relationship Type="http://schemas.openxmlformats.org/officeDocument/2006/relationships/slide" Target="/ppt/slides/slide2.xml" Id="R96f1588da2044d32" /><Relationship Type="http://schemas.openxmlformats.org/officeDocument/2006/relationships/slide" Target="/ppt/slides/slide3.xml" Id="R94621d9a3cc0477d" /><Relationship Type="http://schemas.openxmlformats.org/officeDocument/2006/relationships/slide" Target="/ppt/slides/slide4.xml" Id="Ra37dd948c7bf4430" /><Relationship Type="http://schemas.openxmlformats.org/officeDocument/2006/relationships/slide" Target="/ppt/slides/slide5.xml" Id="Rd693eda3b6bd47a9" /><Relationship Type="http://schemas.openxmlformats.org/officeDocument/2006/relationships/slide" Target="/ppt/slides/slide6.xml" Id="R07d9733e32304477" /><Relationship Type="http://schemas.openxmlformats.org/officeDocument/2006/relationships/slide" Target="/ppt/slides/slide7.xml" Id="Rec51a827812f4102" /><Relationship Type="http://schemas.openxmlformats.org/officeDocument/2006/relationships/slide" Target="/ppt/slides/slide8.xml" Id="Rb2c1bab74e9b4730" /><Relationship Type="http://schemas.openxmlformats.org/officeDocument/2006/relationships/slide" Target="/ppt/slides/slide9.xml" Id="Rd568f1b7d2e54bd5" /><Relationship Type="http://schemas.openxmlformats.org/officeDocument/2006/relationships/slide" Target="/ppt/slides/slide10.xml" Id="R7607b82c083c4338" /><Relationship Type="http://schemas.openxmlformats.org/officeDocument/2006/relationships/slide" Target="/ppt/slides/slide11.xml" Id="Rc0b65419a69c462a" /><Relationship Type="http://schemas.openxmlformats.org/officeDocument/2006/relationships/slide" Target="/ppt/slides/slide12.xml" Id="Re5a84eed786246bd" /><Relationship Type="http://schemas.openxmlformats.org/officeDocument/2006/relationships/slide" Target="/ppt/slides/slide13.xml" Id="Re36a15c5f5bb4851" /><Relationship Type="http://schemas.openxmlformats.org/officeDocument/2006/relationships/slide" Target="/ppt/slides/slide14.xml" Id="R7885d920e6cc41f7" /><Relationship Type="http://schemas.openxmlformats.org/officeDocument/2006/relationships/slide" Target="/ppt/slides/slide15.xml" Id="R97fbdeb1a42c48f5" /><Relationship Type="http://schemas.openxmlformats.org/officeDocument/2006/relationships/slide" Target="/ppt/slides/slide16.xml" Id="Rc2d3f4bf9fde4005" /><Relationship Type="http://schemas.openxmlformats.org/officeDocument/2006/relationships/slide" Target="/ppt/slides/slide17.xml" Id="R4925715b28a14fae" /><Relationship Type="http://schemas.openxmlformats.org/officeDocument/2006/relationships/slide" Target="/ppt/slides/slide18.xml" Id="R57c25afb4de04f0c" /><Relationship Type="http://schemas.openxmlformats.org/officeDocument/2006/relationships/slide" Target="/ppt/slides/slide19.xml" Id="Rd938c831efad4066" /><Relationship Type="http://schemas.openxmlformats.org/officeDocument/2006/relationships/slide" Target="/ppt/slides/slide20.xml" Id="R496c9563add349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27e697dd4184e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4fc85ff36b4fdb" /><Relationship Type="http://schemas.openxmlformats.org/officeDocument/2006/relationships/notesMaster" Target="/ppt/notesMasters/notesMaster1.xml" Id="Rfe469c068bfb40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35399d01a3429f" /><Relationship Type="http://schemas.openxmlformats.org/officeDocument/2006/relationships/notesMaster" Target="/ppt/notesMasters/notesMaster1.xml" Id="R2d3fa27e979c4d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fb8e29ff9f4136" /><Relationship Type="http://schemas.openxmlformats.org/officeDocument/2006/relationships/notesMaster" Target="/ppt/notesMasters/notesMaster1.xml" Id="R80a84f258d344f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62e48602104a9e" /><Relationship Type="http://schemas.openxmlformats.org/officeDocument/2006/relationships/notesMaster" Target="/ppt/notesMasters/notesMaster1.xml" Id="Re9794e89f64242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bd8fc1f4e94ffb" /><Relationship Type="http://schemas.openxmlformats.org/officeDocument/2006/relationships/notesMaster" Target="/ppt/notesMasters/notesMaster1.xml" Id="Rf550393260e547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a692b646a84071" /><Relationship Type="http://schemas.openxmlformats.org/officeDocument/2006/relationships/notesMaster" Target="/ppt/notesMasters/notesMaster1.xml" Id="R7f99a7058fad4d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373219b03348d9" /><Relationship Type="http://schemas.openxmlformats.org/officeDocument/2006/relationships/notesMaster" Target="/ppt/notesMasters/notesMaster1.xml" Id="R0d6bbefc87b640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f8d1008ad94028" /><Relationship Type="http://schemas.openxmlformats.org/officeDocument/2006/relationships/notesMaster" Target="/ppt/notesMasters/notesMaster1.xml" Id="Rcff92dc0135e47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577b3106a24647" /><Relationship Type="http://schemas.openxmlformats.org/officeDocument/2006/relationships/notesMaster" Target="/ppt/notesMasters/notesMaster1.xml" Id="Rcaaf40283cc84c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cfc6278d97451a" /><Relationship Type="http://schemas.openxmlformats.org/officeDocument/2006/relationships/notesMaster" Target="/ppt/notesMasters/notesMaster1.xml" Id="R99148158085141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9faf7c2c244c81" /><Relationship Type="http://schemas.openxmlformats.org/officeDocument/2006/relationships/notesMaster" Target="/ppt/notesMasters/notesMaster1.xml" Id="R0a9f12b9ed9941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e971c2a2cd4a2f" /><Relationship Type="http://schemas.openxmlformats.org/officeDocument/2006/relationships/notesMaster" Target="/ppt/notesMasters/notesMaster1.xml" Id="R7fac0886dd824f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94939301f44ec4" /><Relationship Type="http://schemas.openxmlformats.org/officeDocument/2006/relationships/notesMaster" Target="/ppt/notesMasters/notesMaster1.xml" Id="Re3e39bdea6e940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a53c96674e487b" /><Relationship Type="http://schemas.openxmlformats.org/officeDocument/2006/relationships/notesMaster" Target="/ppt/notesMasters/notesMaster1.xml" Id="R2957682d2ed444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074ee26b3b45ed" /><Relationship Type="http://schemas.openxmlformats.org/officeDocument/2006/relationships/notesMaster" Target="/ppt/notesMasters/notesMaster1.xml" Id="R208778435c6e4f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edf8bd46454d71" /><Relationship Type="http://schemas.openxmlformats.org/officeDocument/2006/relationships/notesMaster" Target="/ppt/notesMasters/notesMaster1.xml" Id="Rcd2f0f9f372741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d54c1e11e54864" /><Relationship Type="http://schemas.openxmlformats.org/officeDocument/2006/relationships/notesMaster" Target="/ppt/notesMasters/notesMaster1.xml" Id="R59efdff3a1bb4a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055cf855c34ebf" /><Relationship Type="http://schemas.openxmlformats.org/officeDocument/2006/relationships/notesMaster" Target="/ppt/notesMasters/notesMaster1.xml" Id="Rc24434d131784e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b8934ee5de45d2" /><Relationship Type="http://schemas.openxmlformats.org/officeDocument/2006/relationships/notesMaster" Target="/ppt/notesMasters/notesMaster1.xml" Id="Rf54ef22de59f4a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11393a5bfc54419" /><Relationship Type="http://schemas.openxmlformats.org/officeDocument/2006/relationships/notesMaster" Target="/ppt/notesMasters/notesMaster1.xml" Id="Rcf712e1fef1044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封面页先说明问题不是单独的补货，也不是单独的选品，而是在容量受限的前置仓中同时决定卖什么和备多少。接下来会沿着背景、文献、模型、实验、结果和管理启示这条主线展开。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structure and workflow summary from README.md in /Users/sandmwong/Desktop/OR_tools.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这页要把业务矛盾讲清楚。建议用一句话概括：前置仓不是追求商品越多越好，而是在有限资源下权衡选品广度与备货深度。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structure and workflow summary from README.md in /Users/sandmwong/Desktop/OR_tools.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强调这是一个联合优化问题。可以点出两层验证：一层是模型内部的聚合指标，一层是真实订单 replay 的业务指标。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  <a:p xmlns:a="http://schemas.openxmlformats.org/drawingml/2006/main">
            <a:r>
              <a:t>- Whole-order replay results from results/evaluation/whole_order/basket_summary.csv.</a:t>
            </a:r>
          </a:p>
          <a:p xmlns:a="http://schemas.openxmlformats.org/drawingml/2006/main">
            <a:r>
              <a:t>- Partial-order replay results from results/evaluation/partial_order/basket_summary.csv.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这页从理论和实践两个角度讲意义。理论上是联合框架和真实回放；实践上是能给前置仓选品与补货提供量化依据。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structure and workflow summary from README.md in /Users/sandmwong/Desktop/OR_tools.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  <a:p xmlns:a="http://schemas.openxmlformats.org/drawingml/2006/main">
            <a:r>
              <a:t>- Whole-order replay results from results/evaluation/whole_order/basket_summary.csv.</a:t>
            </a:r>
          </a:p>
          <a:p xmlns:a="http://schemas.openxmlformats.org/drawingml/2006/main">
            <a:r>
              <a:t>- Partial-order replay results from results/evaluation/partial_order/basket_summary.csv.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不要把这一页讲成论文堆砌。重点是分类并指出各自最相关的切入点，以及与前置仓情境的距离。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structure and workflow summary from README.md in /Users/sandmwong/Desktop/OR_tools.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  <a:p xmlns:a="http://schemas.openxmlformats.org/drawingml/2006/main">
            <a:r>
              <a:t>- Benchmark comparison against hybrid_v2 from results/literature/benchmark_vs_hybrid_v2/benchmark_whole_summary.csv and benchmark_partial_summary.csv.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这一页是承上启下的关键。把贡献说得具体，不要泛泛地说‘做了模型’。要让听众明确本文增量在哪里。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  <a:p xmlns:a="http://schemas.openxmlformats.org/drawingml/2006/main">
            <a:r>
              <a:t>- Whole-order replay results from results/evaluation/whole_order/basket_summary.csv.</a:t>
            </a:r>
          </a:p>
          <a:p xmlns:a="http://schemas.openxmlformats.org/drawingml/2006/main">
            <a:r>
              <a:t>- Partial-order replay results from results/evaluation/partial_order/basket_summary.csv.</a:t>
            </a:r>
          </a:p>
          <a:p xmlns:a="http://schemas.openxmlformats.org/drawingml/2006/main">
            <a:r>
              <a:t>- Benchmark comparison against hybrid_v2 from results/literature/benchmark_vs_hybrid_v2/benchmark_whole_summary.csv and benchmark_partial_summary.csv.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这页最好配合口头把代码仓库结构映射成研究流程，帮助听众建立全局认知。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structure and workflow summary from README.md in /Users/sandmwong/Desktop/OR_tools.</a:t>
            </a:r>
          </a:p>
          <a:p xmlns:a="http://schemas.openxmlformats.org/drawingml/2006/main">
            <a:r>
              <a:t>- Data cleaning and parameter construction from analysis/data_prep/dark_store_data_prep.py.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  <a:p xmlns:a="http://schemas.openxmlformats.org/drawingml/2006/main">
            <a:r>
              <a:t>- Benchmark comparison against hybrid_v2 from results/literature/benchmark_vs_hybrid_v2/benchmark_whole_summary.csv and benchmark_partial_summary.csv.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强调这里的变量设计很重要，因为它把 assortment 和 inventory sizing 统一到了同一个框架里。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这一页不用铺满公式，重点是把目标和约束的业务含义讲清楚。需要时可以在口头补充 E[min(D,q)] 的含义。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这里要说明参数不是主观设定，而是来自真实数据估计。若某些成本和体积重量缺少直接观测，则采用价格相关代理值。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 cleaning and parameter construction from analysis/data_prep/dark_store_data_prep.py.</a:t>
            </a:r>
          </a:p>
          <a:p xmlns:a="http://schemas.openxmlformats.org/drawingml/2006/main">
            <a:r>
              <a:t>- Sample counts derived from data/raw/scanner_data.csv and data/processed/sku_params.csv.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不要只说算法名称，要明确三类算法各自代表怎样的求解策略，以及为什么三者都值得比较。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这页建议配合口头强调 rolling-window 的稳健性，因为单一 train-test 切分容易受偶然时期影响。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  <a:p xmlns:a="http://schemas.openxmlformats.org/drawingml/2006/main">
            <a:r>
              <a:t>- Primary rolling-window optimization results from results/main_optimizer/summary.csv.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这里可以强调数据清洗不是附属工作，而是决定参数估计和后续结果可信度的关键环节。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 cleaning and parameter construction from analysis/data_prep/dark_store_data_prep.py.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讲这页时把样本规模和全年覆盖范围点出来，再说明 SKU 需求长尾和多 SKU 篮子的存在，支撑后续分布建模和 replay 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Sample counts derived from data/raw/scanner_data.csv and data/processed/sku_params.csv.</a:t>
            </a:r>
          </a:p>
          <a:p xmlns:a="http://schemas.openxmlformats.org/drawingml/2006/main">
            <a:r>
              <a:t>- Data cleaning and parameter construction from analysis/data_prep/dark_store_data_prep.py.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这里先讲结论再讲比较逻辑。DP 在 baseline 和 high volatility 场景下的 LFR 都更高，但 Greedy 的运行速度几乎是瞬时，这对部署很重要。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Primary rolling-window optimization results from results/main_optimizer/summary.csv.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这页是项目亮点之一。要把 aggregated LFR 与 basket replay 指标的差异解释成管理上更贴近顾客体验的评估要求。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Whole-order replay results from results/evaluation/whole_order/basket_summary.csv.</a:t>
            </a:r>
          </a:p>
          <a:p xmlns:a="http://schemas.openxmlformats.org/drawingml/2006/main">
            <a:r>
              <a:t>- Partial-order replay results from results/evaluation/partial_order/basket_summary.csv.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这一页不要把 benchmark 讲成输赢，而是把它作为理解模型边界和替代效应价值的参照系。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 comparison against hybrid_v2 from results/literature/benchmark_vs_hybrid_v2/benchmark_whole_summary.csv and benchmark_partial_summary.csv.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把前面几页结果收束成三四条规律。这里的重点是解释机制和权衡，而不是重复数值。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Primary rolling-window optimization results from results/main_optimizer/summary.csv.</a:t>
            </a:r>
          </a:p>
          <a:p xmlns:a="http://schemas.openxmlformats.org/drawingml/2006/main">
            <a:r>
              <a:t>- Whole-order replay results from results/evaluation/whole_order/basket_summary.csv.</a:t>
            </a:r>
          </a:p>
          <a:p xmlns:a="http://schemas.openxmlformats.org/drawingml/2006/main">
            <a:r>
              <a:t>- Partial-order replay results from results/evaluation/partial_order/basket_summary.csv.</a:t>
            </a:r>
          </a:p>
          <a:p xmlns:a="http://schemas.openxmlformats.org/drawingml/2006/main">
            <a:r>
              <a:t>- Benchmark comparison against hybrid_v2 from results/literature/benchmark_vs_hybrid_v2/benchmark_whole_summary.csv and benchmark_partial_summary.csv.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这一页要尽量用业务语言。可以把它讲成三条管理动作：优化结构、提高稳健性、升级评估指标。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Primary rolling-window optimization results from results/main_optimizer/summary.csv.</a:t>
            </a:r>
          </a:p>
          <a:p xmlns:a="http://schemas.openxmlformats.org/drawingml/2006/main">
            <a:r>
              <a:t>- Whole-order replay results from results/evaluation/whole_order/basket_summary.csv.</a:t>
            </a:r>
          </a:p>
          <a:p xmlns:a="http://schemas.openxmlformats.org/drawingml/2006/main">
            <a:r>
              <a:t>- Partial-order replay results from results/evaluation/partial_order/basket_summary.csv.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最后一页先稳稳总结你完成了什么，再主动承认局限，最后给出清晰的扩展方向，形成完整收束。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structure and workflow summary from README.md in /Users/sandmwong/Desktop/OR_tools.</a:t>
            </a:r>
          </a:p>
          <a:p xmlns:a="http://schemas.openxmlformats.org/drawingml/2006/main">
            <a:r>
              <a:t>- Optimization logic, scenarios, and algorithm setup from src/main_optimizer/dark_store_optimizer_with_plans.py.</a:t>
            </a:r>
          </a:p>
          <a:p xmlns:a="http://schemas.openxmlformats.org/drawingml/2006/main">
            <a:r>
              <a:t>- Benchmark comparison against hybrid_v2 from results/literature/benchmark_vs_hybrid_v2/benchmark_whole_summary.csv and benchmark_partial_summary.csv.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d81270a39491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3632115-CCB2-4F0A-9976-61AAB74A9FE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66CAE77-9015-43E4-83B6-42657E4811A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B40A71-3D3A-4A09-AEB9-0D3A337DD25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AF8CE9-5A34-46A2-BCE3-F53EDA083B5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5cb3318d66841cf" /><Relationship Type="http://schemas.openxmlformats.org/officeDocument/2006/relationships/slideLayout" Target="/ppt/slideLayouts/slideLayout2.xml" Id="Rb2cb8c3e27c24e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00C461-90CE-4B2F-8284-D9426FA7E11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cb8c3e27c24e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af991f5c054c6c" /><Relationship Type="http://schemas.openxmlformats.org/officeDocument/2006/relationships/image" Target="/ppt/media/image.png" Id="Rb741de5200c74da5" /><Relationship Type="http://schemas.openxmlformats.org/officeDocument/2006/relationships/notesSlide" Target="/ppt/notesSlides/notesSlide1.xml" Id="R94d4124f1a3b44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662085743e445a" /><Relationship Type="http://schemas.openxmlformats.org/officeDocument/2006/relationships/image" Target="/ppt/media/image2.png" Id="Rfc135df2e5e54643" /><Relationship Type="http://schemas.openxmlformats.org/officeDocument/2006/relationships/notesSlide" Target="/ppt/notesSlides/notesSlide2.xml" Id="R3c449c59ac9144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8845ff5f894aa6" /><Relationship Type="http://schemas.openxmlformats.org/officeDocument/2006/relationships/image" Target="/ppt/media/image3.png" Id="Re682dacf97b24586" /><Relationship Type="http://schemas.openxmlformats.org/officeDocument/2006/relationships/notesSlide" Target="/ppt/notesSlides/notesSlide3.xml" Id="Rae677bcffdaa42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37f1b537044a0f" /><Relationship Type="http://schemas.openxmlformats.org/officeDocument/2006/relationships/image" Target="/ppt/media/image4.png" Id="Rbc92023d27224b88" /><Relationship Type="http://schemas.openxmlformats.org/officeDocument/2006/relationships/notesSlide" Target="/ppt/notesSlides/notesSlide4.xml" Id="R67662f01dac642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107ca73c6f4ccd" /><Relationship Type="http://schemas.openxmlformats.org/officeDocument/2006/relationships/image" Target="/ppt/media/image5.png" Id="R17aa6b3216ba4dce" /><Relationship Type="http://schemas.openxmlformats.org/officeDocument/2006/relationships/notesSlide" Target="/ppt/notesSlides/notesSlide5.xml" Id="R5a38c2653f6b46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073229d06846b1" /><Relationship Type="http://schemas.openxmlformats.org/officeDocument/2006/relationships/image" Target="/ppt/media/image6.png" Id="R7b10bafa28344b78" /><Relationship Type="http://schemas.openxmlformats.org/officeDocument/2006/relationships/notesSlide" Target="/ppt/notesSlides/notesSlide6.xml" Id="R266a62b2d5af40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cbc18914e54da2" /><Relationship Type="http://schemas.openxmlformats.org/officeDocument/2006/relationships/image" Target="/ppt/media/image7.png" Id="Rb648f802f1424b45" /><Relationship Type="http://schemas.openxmlformats.org/officeDocument/2006/relationships/notesSlide" Target="/ppt/notesSlides/notesSlide7.xml" Id="R6d8d413dbea041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69093e33c34776" /><Relationship Type="http://schemas.openxmlformats.org/officeDocument/2006/relationships/image" Target="/ppt/media/image8.png" Id="Rfa41f557bddf4646" /><Relationship Type="http://schemas.openxmlformats.org/officeDocument/2006/relationships/notesSlide" Target="/ppt/notesSlides/notesSlide8.xml" Id="R729131e8ee3f4b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47254ea3934155" /><Relationship Type="http://schemas.openxmlformats.org/officeDocument/2006/relationships/image" Target="/ppt/media/image9.png" Id="Rcd826bf636914c3f" /><Relationship Type="http://schemas.openxmlformats.org/officeDocument/2006/relationships/notesSlide" Target="/ppt/notesSlides/notesSlide9.xml" Id="Rd7b29a4a14a046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1e38e9c82649cb" /><Relationship Type="http://schemas.openxmlformats.org/officeDocument/2006/relationships/image" Target="/ppt/media/image10.png" Id="Rec453a27408f4837" /><Relationship Type="http://schemas.openxmlformats.org/officeDocument/2006/relationships/notesSlide" Target="/ppt/notesSlides/notesSlide10.xml" Id="Rb814cd8f972444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23196f284d4d31" /><Relationship Type="http://schemas.openxmlformats.org/officeDocument/2006/relationships/image" Target="/ppt/media/image11.png" Id="R9df9d05fc8bc4128" /><Relationship Type="http://schemas.openxmlformats.org/officeDocument/2006/relationships/notesSlide" Target="/ppt/notesSlides/notesSlide11.xml" Id="R3e6f4df526624e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31269350c24216" /><Relationship Type="http://schemas.openxmlformats.org/officeDocument/2006/relationships/image" Target="/ppt/media/image12.png" Id="R6555b129cca54463" /><Relationship Type="http://schemas.openxmlformats.org/officeDocument/2006/relationships/notesSlide" Target="/ppt/notesSlides/notesSlide12.xml" Id="Rea40ae00651a4d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03e847a39d4f6f" /><Relationship Type="http://schemas.openxmlformats.org/officeDocument/2006/relationships/image" Target="/ppt/media/image13.png" Id="R686e813e90c04f31" /><Relationship Type="http://schemas.openxmlformats.org/officeDocument/2006/relationships/notesSlide" Target="/ppt/notesSlides/notesSlide13.xml" Id="R0eaf897bdd704e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a76e3cd28d414d" /><Relationship Type="http://schemas.openxmlformats.org/officeDocument/2006/relationships/image" Target="/ppt/media/image14.png" Id="R1ad17223a3a34c91" /><Relationship Type="http://schemas.openxmlformats.org/officeDocument/2006/relationships/notesSlide" Target="/ppt/notesSlides/notesSlide14.xml" Id="Re6d427ecfc7a40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3824623c8c4eeb" /><Relationship Type="http://schemas.openxmlformats.org/officeDocument/2006/relationships/image" Target="/ppt/media/image15.png" Id="R0ea432956c534a7c" /><Relationship Type="http://schemas.openxmlformats.org/officeDocument/2006/relationships/notesSlide" Target="/ppt/notesSlides/notesSlide15.xml" Id="R30c50783d77e42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75182beaa04a3b" /><Relationship Type="http://schemas.openxmlformats.org/officeDocument/2006/relationships/image" Target="/ppt/media/image16.png" Id="R04bb3164236540ed" /><Relationship Type="http://schemas.openxmlformats.org/officeDocument/2006/relationships/notesSlide" Target="/ppt/notesSlides/notesSlide16.xml" Id="R7df952ecdaf841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1879b1d24a4903" /><Relationship Type="http://schemas.openxmlformats.org/officeDocument/2006/relationships/image" Target="/ppt/media/image17.png" Id="R8357bab9202d4311" /><Relationship Type="http://schemas.openxmlformats.org/officeDocument/2006/relationships/notesSlide" Target="/ppt/notesSlides/notesSlide17.xml" Id="R026ff03c7d7045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d6199a77af4909" /><Relationship Type="http://schemas.openxmlformats.org/officeDocument/2006/relationships/image" Target="/ppt/media/image18.png" Id="R034d986301774fd8" /><Relationship Type="http://schemas.openxmlformats.org/officeDocument/2006/relationships/notesSlide" Target="/ppt/notesSlides/notesSlide18.xml" Id="R95f1f23a16534f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8a6cbbaabb4a20" /><Relationship Type="http://schemas.openxmlformats.org/officeDocument/2006/relationships/image" Target="/ppt/media/image19.png" Id="R6401307947cf4a32" /><Relationship Type="http://schemas.openxmlformats.org/officeDocument/2006/relationships/notesSlide" Target="/ppt/notesSlides/notesSlide19.xml" Id="Re9a4ca5ef42f417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6366bd581649ba" /><Relationship Type="http://schemas.openxmlformats.org/officeDocument/2006/relationships/image" Target="/ppt/media/image20.png" Id="Rbff35dc2bfc24c98" /><Relationship Type="http://schemas.openxmlformats.org/officeDocument/2006/relationships/notesSlide" Target="/ppt/notesSlides/notesSlide20.xml" Id="R94dbf4f878ff41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1de5200c74da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58BF5-6466-427C-988F-EECC55BF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5E2C4-1A99-4036-8ED2-3E6F06A0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984EC-B580-4B2B-8B72-E3FF18CF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5B60F-43D7-459F-A555-B6B40555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即时零售前置仓 SKU 选品与库存配置联合优化研究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01D9A-6227-46D0-83F1-6B46EC71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基于真实 scanner data 的建模、求解、订单回放评估与管理启示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15EF4-13BA-4ECE-A4BF-2D129372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813AA-66F3-4AB2-A944-98DBAC68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核心主线：业务痛点 → 文献定位 → 联合优化 → 订单回放 → 管理建议</a:t>
            </a:r>
          </a:p>
        </p:txBody>
      </p:sp>
    </p:spTree>
    <p:extLst>
      <p:ext uri="{BB962C8B-B14F-4D97-AF65-F5344CB8AC3E}">
        <p14:creationId xmlns:p14="http://schemas.microsoft.com/office/powerpoint/2010/main" val="1147566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35df2e5e5464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E9150-2C86-4062-A58B-CA813FD0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F452F-805C-4AE6-A0E4-B88CE8AD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BACKGROUND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186FC-6C92-4719-8390-47B9ED5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A4D74-AAB9-4857-8628-71A76AB2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3EDEC-2873-4819-8719-61C15516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B78DE-EE08-44D3-8D71-76AE70A0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研究背景：前置仓运营面临服务与容量的双重矛盾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6EF85-F385-40F0-BCDC-D3058A10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消费者希望更快送达和更完整供给，但前置仓不可能覆盖全部 SKU 与库存深度。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B84BD-61E4-4E22-9A3D-199BCE80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43F85-F363-4CC8-9AAC-08C411F2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92CB2-35E1-41BD-A9F3-5D337B0E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EBAE9-D2A9-41DC-9399-03CE4EDE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261BC-08F6-4136-BECF-8A92BD44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01F64-01A3-4905-AEA2-2E4B7DAB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C18BF-ECF7-4F71-9FA7-E6ED1E9B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业务压力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910FD-A404-4CC3-97D1-FF8BCC97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即时零售强调分钟级配送、低缺货和足够丰富的商品覆盖，前置仓直接承接用户体验。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31ACF-EDFE-4A40-9F86-CAE8EEFB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DF6BE-D273-459F-A8F8-B3D94EDC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44348-E292-4609-8F93-631C1FE5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7BD79-500B-467B-AF93-F20A7A4D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ACC06-A79A-4D60-A2F0-280860E5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4411C-BD5E-4EE7-A274-0664A8E8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4FB9A-ADD5-40DD-987A-881ED921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资源约束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C6EA4-25EF-4B9A-B607-B70187F3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仓容、重量、陈列位和运营能力都有限，SKU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过多会挤占空间并提高复杂度。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F0DB3F-878A-42C0-AE56-2510E324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D6BFB-8BB6-4D08-9989-F6A08449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3E6A3-C603-4DF3-A9FA-3B4C36B8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61D485-17DD-4669-8E29-63C55EE2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4BBE5-731E-4715-9928-F05FCB8D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1925EC-E365-4BBD-815B-15C26FCC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14B1A7-7891-4A3C-873E-BFAF1F6A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决策挑战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DE188A-53AF-40FE-83BD-B483401B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SKU 太少会丢失需求，SKU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太多又会带来滞销和管理成本，因此必须做结构化取舍。</a:t>
            </a:r>
          </a:p>
        </p:txBody>
      </p:sp>
    </p:spTree>
    <p:extLst>
      <p:ext uri="{BB962C8B-B14F-4D97-AF65-F5344CB8AC3E}">
        <p14:creationId xmlns:p14="http://schemas.microsoft.com/office/powerpoint/2010/main" val="1269506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2dacf97b2458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9C48E-00CF-479F-9671-65262ADB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35FF3-5314-4CBF-8344-7018A6CF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87244-4A86-46E2-A93B-4CEA97A7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BB14E-DF2A-482C-8A30-710F2255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53E8C-4136-4F29-AC67-BF3AC285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21A01-C1C1-4116-80E9-DA71A97C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研究问题：前置仓到底该卖什么，以及每个 SKU 备多少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6DF6A-A523-4B78-B020-151C8F45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本文关注在不确定需求与容量约束下，如何联合决定 SKU 上架与库存配置。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7B00C-E2D2-413A-A9F3-4949A713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E196C-23D8-4DD9-AA32-63EF1E41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EE721-BAF9-4D05-9DCA-61219673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FC1BF2-2FC2-45D7-9A74-E995748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582E7-970B-4043-931B-01D6B79F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E0A20-25C4-419E-BBE0-2BDD19A8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B3A39-3476-4523-A70F-7FE0B2FE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核心决策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B954B-636B-4B72-8BE6-A7857A8F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决定 SKU 是否进入前置仓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assortment，同时决定进入后的备货数量。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154F5-FB41-4E5A-8C52-A181F633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C7B31-D30F-411F-9C28-F5DBF21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2D8EB-13EB-49A4-9D04-460E6055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D4A86-FC7B-485A-AD3D-120E5333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FD1A00-8A35-4738-8DA8-B13A8BED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49B01-D9CE-44BB-95E6-395E21C6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D994B0-2C3F-40A2-8DC6-0FF11842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评价目标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B5C77-3C40-475C-A4CD-1E3C4E6D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在满足体积和重量约束的前提下，提高服务水平并兼顾经济性与求解效率。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45EA8C-F317-43F2-BF81-E45C812A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FA50C3-BC1B-43EB-B4D4-E00EF17D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5D9623-4ECF-4FB1-B06E-C56AFB68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181D81-8176-4D5F-B478-296CDA16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B2B03-1BDF-4873-BCD8-9829B897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92C7F-78D7-4B85-976E-7E0F87EB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76E50F-AAFF-4A85-ABF9-504EB299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验证方式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08C95-17EE-41C7-9266-86473448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不仅看聚合 line fill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rate，还回到真实订单层面做整单与部分履约回放。</a:t>
            </a:r>
          </a:p>
        </p:txBody>
      </p:sp>
    </p:spTree>
    <p:extLst>
      <p:ext uri="{BB962C8B-B14F-4D97-AF65-F5344CB8AC3E}">
        <p14:creationId xmlns:p14="http://schemas.microsoft.com/office/powerpoint/2010/main" val="11404184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2023d27224b8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CAD55-4E0F-4E22-9274-CCEA078F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BF862-5E43-4B0B-82A3-5A70D528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43D9D-3F3E-482E-A98E-F5CACFCA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F2161-1611-4128-8FDA-002FFF4F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654F3-A2C3-4D9C-AA12-841AAF14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6EA73-2DE6-4736-BA8A-61DE9343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研究意义：把学术问题和业务落地连接起来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5D076-D9B3-446D-9F72-BADB9176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本文希望建立一个既可建模求解、又能回到履约现实的研究框架。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5DF0C-9397-4EEF-A4F4-759F7B4E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DC0F1-3114-4852-8B4D-1B8A12F7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490F5-866C-480F-9A82-5D0D5DDA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联合优化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13410-FE16-4FEB-9AFC-B55786E4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选品与库存同框考虑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5DC16-617A-48D7-BC1F-BB5E606F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避免将 assortment 和 stocking depth 割裂处理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2DE54-41F3-4685-865C-65A7D2CB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CB7EC-703E-4E0B-9D04-209CA8D8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51F50-7DF3-4212-A64D-5CAD615B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真实数据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FA134-57C2-4F85-81A0-9F9E8BF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scanner transaction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47B71-89CB-464F-8CCE-B1183B08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参数估计与实验验证都基于真实订单数据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F6EDB-78BD-444C-91D3-AFFFA87C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74064-E87E-470D-AA4E-207753DB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E4E69A-246F-45C9-8416-9D78CE1F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回放检验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544CF-8B20-4FF6-87A2-C0E0E46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订单级 replay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6C024-3707-4DF7-BF74-8287296B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检验聚合 fill rate 与真实履约表现之间的偏差</a:t>
            </a:r>
          </a:p>
        </p:txBody>
      </p:sp>
    </p:spTree>
    <p:extLst>
      <p:ext uri="{BB962C8B-B14F-4D97-AF65-F5344CB8AC3E}">
        <p14:creationId xmlns:p14="http://schemas.microsoft.com/office/powerpoint/2010/main" val="1285255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a6b3216ba4dc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FEF39-EB69-4480-903D-3255AE5E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6C756-D121-4BE5-AC2F-C4F09911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LITERATURE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929C1-24E0-4BBD-A57C-6C61867A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201CF-BB2C-4FFB-ADB9-9995E73C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8E19A-B891-4536-80BF-18A1EA4B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9F3BF-9330-4867-B513-47E8208C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文献综述：现有研究主要沿三条主线展开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A4B7A-C8D0-46A0-BD5D-A52B881C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选品优化、库存优化和联合优化与替代需求建模构成了本文的文献背景。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D14D4-AEF3-4824-9963-F85D32F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01352-7C60-4191-A30B-229035A5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56866-60F7-4686-9E6C-F642087C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78D59-DFC8-42F2-8AF4-C636DC5F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E5BB8-8334-4ABC-A6AF-15601767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C20906-659F-4B1B-9C90-93E23C02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6D035-9349-4C52-A0D5-4CD20805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选品研究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3800E-7021-4356-AB82-FD1463BD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assortment planning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关注利润、覆盖和吸引力，但通常弱化库存深度与履约过程。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FB739-FB67-4EAB-95CE-38B1522B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71BAD-4B1E-49D3-89B2-6F60A744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15D27-C384-411D-BF5A-B17ACD4F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88D4A-25CB-47BF-B3C1-D29BE026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00E8D-11AA-4F26-8554-03A72389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BA32C-79CA-4371-B653-11269122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9BAE55-F4DD-49B1-B426-1E13A63E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库存研究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DA638-7AED-4411-9492-F23C74DC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库存与补货研究强调缺货和持有成本，但常在既定 SKU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集合上展开，较少处理 assortment 决策。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1E5123-C00F-4500-B838-37DF108C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3EE9F1-BFB1-4C2C-B716-D2AA0612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D9BCDC-005C-416D-80E9-2E15E406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31D9E-10B6-4EE5-94B8-4442A877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49E245-3965-4D1B-8A97-0BF9B110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280FDE-7E17-4883-8DBD-4FAE259D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1A490C-F37C-4BC9-9AD4-B6BA0F27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联合与替代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021B15-2546-494F-8F83-DE01A789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更接近前置仓实践，但往往需要篮子级数据、效用模型或完整替代矩阵，落地门槛较高。</a:t>
            </a:r>
          </a:p>
        </p:txBody>
      </p:sp>
    </p:spTree>
    <p:extLst>
      <p:ext uri="{BB962C8B-B14F-4D97-AF65-F5344CB8AC3E}">
        <p14:creationId xmlns:p14="http://schemas.microsoft.com/office/powerpoint/2010/main" val="16944562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0bafa28344b7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B8CAB-725F-4D23-BAF0-7577DD35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CF758-BC05-4236-AE84-CE85C78F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CONTRIBUTION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9238-C5DC-4874-9DFE-A81B0941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26B38-7152-48DE-B69D-53E19C7C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CBE0A-45BD-4A46-B182-258F575F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D6DBF-76F8-4289-9A73-3A9169FD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文献不足与本文贡献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F5BB6-4F0D-4BC0-B306-18050B33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本文把研究空白具体落在联合决策、真实数据实验和订单级评估三个方面。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6E022-1527-469C-8C75-9889D4A7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2D503-B6DF-416E-A592-37AFA19C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B19D2-2DB3-45E1-ACAA-725EF8C2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Gap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D5728-EBEE-4298-B10D-D6761494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选品和库存常被拆开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3E659-15A2-4382-8AAC-A9E8530B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本文用统一变量体系表示是否上架与备货量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9D5C8-4C2D-4BF9-A97D-B4B00DBA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7C1DB-AEFD-4A9F-9702-FBEFB531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145B9-4C9F-4FEB-800C-45FD2800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Gap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CCE77-A12B-478D-8D36-D20DE450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替代与评估门槛较高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69634-90CF-4700-9F2E-FBA60BDE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本文加入文献 hybrid baseline 作为比较参考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9BA38-2EEE-4EA6-8A22-7E33871D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E1C11-76B6-4F7D-AE51-FF7274D8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2FFCE-FF1D-48C4-B4D8-81192040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Gap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589F0-8725-4516-8C4A-233C3CAC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缺少真实订单层验证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750D9-03FC-4D03-9ADE-AA0F0503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本文设计整单与部分履约两类订单回放评估</a:t>
            </a:r>
          </a:p>
        </p:txBody>
      </p:sp>
    </p:spTree>
    <p:extLst>
      <p:ext uri="{BB962C8B-B14F-4D97-AF65-F5344CB8AC3E}">
        <p14:creationId xmlns:p14="http://schemas.microsoft.com/office/powerpoint/2010/main" val="7170165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8f802f1424b4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C33CA-EF33-45AE-956B-A8030DFF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B7F6C-E746-4B7B-AE0C-3918A6F7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0F01B-4C6D-4271-B68A-BBC96FA7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6B0A2-F460-4B91-A7C8-8494F014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07498-DBE0-4317-8E84-0AB62177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299871-F996-4C92-B212-528D14FC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研究框架：从原始订单到管理启示形成完整闭环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4AEF9-CD65-47AE-B565-C7F74FDF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项目组织成一条清晰的实验流水线，而不是零散脚本集合。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4F688-B879-4941-BC39-6F9BEEB4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BDE26-B93D-4A0D-9270-29C31344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16A29-61B9-473E-81F1-A366EC9A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8286C-C61A-4B61-A55E-C2B68E79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0949E-D08C-4AA3-99C3-3116FC8C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29E8A-7EDA-4960-9643-7CFB53C3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B33FB-2FC2-4ECC-866D-921F1313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数据处理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AEBEF-3B40-43CC-8C23-9E3F11E7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原始 scanner data 经过清洗、候选 SKU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筛选和需求矩阵构造，生成建模输入。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89072-62B0-4EC5-9BFA-B5843482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1E3EA-88F8-45D9-AC64-F1AD48A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02E81-F657-4392-9A33-F47B936A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C4471-C07F-466A-BD65-92220647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542C5-51B3-4B02-B6DD-4ACE7F6C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85D85-0A9D-4CAD-8A5E-A3F03209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0C34B6-7464-4EF5-82B6-C1167C46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优化与评估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7421A-118F-4AA2-A653-E99DADEF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主优化器生成 rolling-window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方案，再用真实订单 replay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检验整单与部分履约表现。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9AD4C8-E76D-44A4-8F91-6156101A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390C7-80B6-4F13-959B-7F11513F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429DF0-FDE9-4102-AC4A-2711BDC5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8AC6A8-B15D-47D9-B419-8253C9F9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D88382-9FF4-460E-BDDF-32F05362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FF4CE4-651F-4653-9EAB-E2535C1A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5D51F0-9506-47FA-AFBF-B53BE93A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对比与提炼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012AE7-B7C0-47D5-A9B0-41FD96FB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在文献 hybrid_v2 基线下做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benchmark，对结果进行解释并提炼管理启示。</a:t>
            </a:r>
          </a:p>
        </p:txBody>
      </p:sp>
    </p:spTree>
    <p:extLst>
      <p:ext uri="{BB962C8B-B14F-4D97-AF65-F5344CB8AC3E}">
        <p14:creationId xmlns:p14="http://schemas.microsoft.com/office/powerpoint/2010/main" val="17287693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1f557bddf464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32577-69C9-4F7E-8034-10D2D6A3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45607-A435-4D89-A1D9-27593C4C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SETTING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405B7-40D9-4D91-880E-EB19D2A9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FABBA-5512-4FBB-8E3E-B8A501AF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7F2AD-CA39-492D-8060-B8067437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00C74-9272-4366-B575-EBA68EED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业务场景与建模思路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B3AF1-AC42-4C6E-B05A-32F46B42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通过一个库存量变量同时编码‘是否入选 assortment’和‘备货深度’。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42B33-E0B4-4FFB-8729-17F03E36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405D1-234F-4B99-9A23-E83EBD65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D91D4-ACBE-4DB2-9C39-874F996A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347E4-EAF1-4833-8E8C-41097656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5B933-A534-403E-995E-DFA85BD8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B3D14-528D-4E6C-8F6E-408C3AD4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BD38D-46D5-4267-AA84-92759F41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决策对象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B1075-C6E4-45EE-A23B-E1D1238D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若 q_i = 0，则 SKU 不进入前置仓；若 q_i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&gt; 0，则该 SKU 入仓并占用容量资源。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C094D-68E2-42F0-B282-896085A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87300-C60B-4775-91F7-7B61B22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F10AB-4E17-493F-A926-BA0EB9F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72D4F-6987-44C4-BC24-DB149F61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AEC30-257E-472E-BD86-4C55E286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7AB57F-A920-4449-AA34-A36C7D5B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95472-062B-419C-B99D-8FB04F28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现实要素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8D3C84-B7E1-4D0C-9E31-ECEFC79D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模型同时考虑随机需求、体积与重量约束、持有成本、缺货损失和上架固定成本。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9BC760-FF5C-4F43-9B0C-A7AD1FD7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05263F-AB41-403B-9845-68EB9256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B9C010-6B9F-465B-BDFC-16D4FFE0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F742CB-2010-4563-B2D6-1C46884A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D96505-3E2F-4DB2-984B-7B6C86E6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CA102C-77D7-4B2F-B86F-BD506CC1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F9E7D2-2582-4F73-8643-681B1ADD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优化目标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FF788D-1EAB-41D1-8DE7-6B9B1EE7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在容量受限的前提下，平衡服务水平、库存风险和经营成本，而不是只追求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SKU 数量。</a:t>
            </a:r>
          </a:p>
        </p:txBody>
      </p:sp>
    </p:spTree>
    <p:extLst>
      <p:ext uri="{BB962C8B-B14F-4D97-AF65-F5344CB8AC3E}">
        <p14:creationId xmlns:p14="http://schemas.microsoft.com/office/powerpoint/2010/main" val="60837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26bf636914c3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9B341-0F71-4075-BB30-07DE0CAB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B08C4-9495-4671-A39F-48774052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2510F-A6E7-4445-A675-B655F7F4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371DE-9691-4A68-9C39-3C00E079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726EF-79C0-40EB-9308-A33137C9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8EE3E-295A-4C82-973E-F34E88FA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联合优化模型构建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34520-E266-43E1-843C-2D3EB29B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目标函数围绕期望净收益展开，约束则体现前置仓资源边界。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03920-E475-4145-A9D8-E3EB01E0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27AE9-59B3-4E14-B194-FB1B350F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6551FB-B800-4BA6-A543-D339EDFB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017CF-D15B-4E43-A46D-6358D548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577CB-58F3-4183-882C-209AC861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54801-A89A-414D-BC73-4E15316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4B736-79DC-46AE-A200-6E17EAF6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目标函数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21A424-C214-47D8-AD81-FA50C455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最大化销售收益减去库存持有成本、缺货损失和上架固定成本的期望净收益。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339AB-B081-4EA9-8C39-356341DB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50F79-F641-47F2-9523-EA8FCDDB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A713C-C72C-411C-B61E-C8FDFC5A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9EA64-393D-4028-88DF-75BDAD3E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85D58-11A0-48E0-9440-50628AD0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F2005-3984-4487-8F86-E3F4473E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ABCD2-659C-450B-A9AE-A6CBB7DC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核心约束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C3FAE7-5CE8-4521-901A-3460F9E3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总体积不超过 V，总重量不超过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W，同时备货量非负并受上界约束。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F620B-6015-4038-B13E-3E2C91D0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909AD-1904-4FE7-8778-9F783FAE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32F93C-EB6F-4740-AF35-A34F89F3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9DD8BE-F27B-41D1-91F4-4CE3CACB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358CBC-DBC3-4A74-9692-0F304327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F31A6-09FA-40C9-8D20-397C68DD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19B526-4784-4F94-8F39-A6DD0C8E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评价输出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0462FB-52D3-442E-94FA-81769A2E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模型内部输出 line fill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rate、平均缺货概率、备货方案和算法运行时间。</a:t>
            </a:r>
          </a:p>
        </p:txBody>
      </p:sp>
    </p:spTree>
    <p:extLst>
      <p:ext uri="{BB962C8B-B14F-4D97-AF65-F5344CB8AC3E}">
        <p14:creationId xmlns:p14="http://schemas.microsoft.com/office/powerpoint/2010/main" val="13805671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53a27408f483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F96B8-247C-4027-8761-8EAA7B4C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2EC86-2C61-4C26-9146-98EBD359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DEMAND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39832-7A3F-4FFC-A443-AD1A768A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D2D17-397A-4A5A-BF52-1ABF7726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60E13-E381-4D94-B747-A0C48146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68B30-9C01-4A9B-9073-F7960296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需求建模与参数估计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88C4C-F3C8-48B6-9CCE-EB0A60BE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先从日销售序列估计需求分布，再构造收益、成本和容量代理参数。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6F465-B65F-4C36-AC13-79A8A9BD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71B7C-8AA8-4CF9-AE0E-8AB645DD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050CE-4B0A-48C7-BCAF-F9EC567C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500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93E68-E537-4639-9AE5-284F4D1A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候选 SKU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8ABAA-75E4-4703-B206-CB15089A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经过活跃天数和总销量筛选后保留的高频 SKU 数量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7C3FA-AF96-467D-B456-ED484652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6C7D4-ADFC-464B-A237-481085B5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EEF02-3EFE-466C-9B0D-29A7F356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345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A72EA-BEA6-43F0-A665-875256A5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NegBin SKU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9C092-C238-4F83-98AC-FAF28154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use_negbin=1，说明过度离散较明显的 SKU 数量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0534C0-65A1-40CF-9ABE-1DD60859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36E31-FD11-4784-A371-FAE0CBCD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6D707-FA76-4B6A-AB90-722BE232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85CA1-3E35-4DCE-9AFA-4379364C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平均日需求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1787C-73D6-4647-8904-4D89CED9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sku_params.csv 中 mu_daily 的均值，反映长尾需求特征</a:t>
            </a:r>
          </a:p>
        </p:txBody>
      </p:sp>
    </p:spTree>
    <p:extLst>
      <p:ext uri="{BB962C8B-B14F-4D97-AF65-F5344CB8AC3E}">
        <p14:creationId xmlns:p14="http://schemas.microsoft.com/office/powerpoint/2010/main" val="3629638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9d05fc8bc412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59FF2-A829-4872-90BF-B64AC524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5A63E-9CC7-431C-87C7-C7DD1E25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METHODS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1F12D-C319-4F38-BF2B-33FF7F6A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11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BB89B-C8DD-4CF0-902A-1A84913E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2C932-3CDC-40CD-A201-7A723DFE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00208-9E23-42B6-B2F8-39A0FF3F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求解方法设计：从快速启发式到精确优化基准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33BE3-AA7D-4CEA-BB5B-153B3939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本文比较了三类算法，并为每类算法构造 nominal 与 robust 两个版本。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2AECF-8DF1-477A-95D4-AC1EE77A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224EA-76B8-4C45-81E3-3914FCEA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F44D9-48E3-40DE-A9F7-601453C9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45576-AD3C-43C6-B58D-C1B5157A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8B1BF-AB7F-4196-B9DE-2C03F7C8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7545F-C4C4-4E73-ABFA-AB34C605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547AD-260C-4A36-BDA8-A8B30BA6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Greedy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87674-6E47-43BE-9B9F-D8F3DD61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基于单位资源价值密度的启发式方法，优点是速度极快、实现简单、可解释性强。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06047-A3DE-4193-9A2C-EB284E93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0C354-FB6F-4D3F-8976-22887B92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43E6B-7CEF-435C-B4A3-DBFD0E97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7E4D7-4804-44FB-AAB7-6DE8E3EB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ACAF2-D023-4757-806C-874354C4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8121D-2C7C-4D9E-8C3D-C30C9CAC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50046-385B-447E-80F8-2787CF3A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DP-Lagrangian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B98C2-E611-46DF-8DCF-3AA076D7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通过拉格朗日松弛和动态规划取得效果与效率之间的折中。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D7B50-4FB3-418B-ACD4-5B52AB84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C2B0D5-5526-4D10-81F3-A89E73C0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4F812-8E2F-4A5F-B426-A2AD4F70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017F1A-1FDA-4408-9863-536EED5F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E11EF-40C1-41EE-89AA-F4D7FC9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25DF9B-B97D-4DC3-A535-6F1E1295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A73DA7-8958-4856-AAF9-4EC9E11C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CP-SAT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7FC46A-C472-4021-B2F5-5DB50786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利用 OR-Tools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的整数规划求解能力作为精确优化基准，并和 robust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版本一起比较。</a:t>
            </a:r>
          </a:p>
        </p:txBody>
      </p:sp>
    </p:spTree>
    <p:extLst>
      <p:ext uri="{BB962C8B-B14F-4D97-AF65-F5344CB8AC3E}">
        <p14:creationId xmlns:p14="http://schemas.microsoft.com/office/powerpoint/2010/main" val="21115180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5b129cca5446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85D96-919B-414A-A094-A28BB315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BE15A-5A79-4C3F-A32F-7460AC05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ABD11-4C0B-4EF9-B07B-13E59998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12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9355C-4A02-4FB2-B744-BFCFACA1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3D851-1D82-47AF-8ECB-33AED9BA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CDCB9-A6CA-48B2-AE43-8CBA038D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滚动窗口实验设计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85629-7D9F-432D-B864-CFAEF610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rolling-window 设计用于避免结果依赖某一段特定时间区间。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6ECF8-8097-47DE-9DE4-B5254CEA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19B23-EDBF-4463-9A33-DBA6B188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D576C-1EEC-4799-A47B-1A57FF90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E4D7F-0C81-4BFC-A517-8E413347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B7272-FFD2-4FF2-9FB5-FEF19E23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D8BC4-C382-4F3C-82D1-4AF6B4B3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77A4E-EDB5-446A-A9F4-A2BE32F6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时间结构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A6CC2-2938-4C72-A543-7FE9D9EA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每次用前 8 周作为训练窗口，再用后 1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周作为测试窗口，并按周向前滚动。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205EA-A056-4E45-A783-AC166552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D0D85-2F41-489B-B851-A779087D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584AF-64D3-42D5-BC8E-EB2D3633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77882-266A-4193-BE1E-A1AB46FC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08049-7DCA-4919-817B-56F785AE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10E4A-B9D0-4DBF-AACF-61F9A81F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6C237-F03E-40F7-89D4-4BBA9D83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场景设计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4A10A-B0ED-438E-AC8B-E48D05B6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baseline、high_volatility 与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large_scale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三类场景分别对应标准、高波动和大规模紧容量环境。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BDD44E-BC4F-44BD-831C-F5E0C540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47F04-2C9C-44AD-8B4C-F7A96BDA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CA04AE-77DC-408D-BA83-202A3B56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AAC675-9D8F-4B89-A850-519C8D81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1DAAB9-D99A-4577-8F4D-9F00411F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C7B62-F80D-4CBC-8895-56C39A3D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0DD8A4-3B34-4E06-8301-4B01786C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比较目标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B75896-C684-4DD0-8851-00F35227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对比不同算法在多个窗口上的服务水平、缺货风险和运行时间，而不是只看单次结果。</a:t>
            </a:r>
          </a:p>
        </p:txBody>
      </p:sp>
    </p:spTree>
    <p:extLst>
      <p:ext uri="{BB962C8B-B14F-4D97-AF65-F5344CB8AC3E}">
        <p14:creationId xmlns:p14="http://schemas.microsoft.com/office/powerpoint/2010/main" val="12560387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e813e90c04f3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8D9EA-334D-469E-B618-23A1341C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C6F38-D20E-41A5-B088-B41C60E0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30B42-FEE1-4068-B474-932ADAE1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13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EDFF2-6798-4E92-A1FC-2BA3B330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C4433-0AD9-45B1-8A5E-A06085DC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F13F8-2D28-498E-9471-4FC46169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数据来源与清洗规则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1136A-3D5D-4F1A-8107-783DCE4C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原始数据来自真实 scanner transaction records，并经过多步清洗后进入建模流程。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08018-CDFA-40F2-B835-157BB297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4431C-0AC4-4451-A253-8C5B0310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8F915-572E-41F0-BC34-1966C477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352AF-B5DC-4D83-B9BB-2862D286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65DB0-DBA0-4274-9702-7FFE6CA9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A98E9-DFD8-4D31-A674-1517740D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89EC1-9EDC-41F4-98EB-2818E446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原始字段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280DB-0749-4E9D-BCAC-8193480C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日期、订单号、SKU、销量、销售额和品类构成了研究的核心交易信息。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AE753-1080-474B-B22D-0EF9F97E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9C81B-F992-40C8-A8E1-6A8F62A4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5944F-2D23-4C68-AFE7-BB087DE0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17EDB0-A923-443E-88B1-C7C03E14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8FC095-F667-4E10-9CF3-C0F07F5A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52D6C-7A16-4716-B010-AABD6093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309B6-D424-4FCF-ABEA-F0E02EC8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清洗步骤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BCF1A9-8E46-4B7E-A6C7-E92BF959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去除非整数销量、异常大单和异常单价记录，尽量保证订单和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SKU 级统计的可靠性。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F1DB0-1B93-448D-B224-95715E94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D7D890-21F5-4206-BC20-68F073E4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5DF29A-6854-402F-9E5A-D49EDD6D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B200EA-7279-46C3-B502-B0F77864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FFA94A-5E67-4290-A3BA-EC43FCDD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F56852-44A6-483B-9C33-58F49524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317325-C01A-41FC-BC0B-FD3D8E23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样本筛选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E7DB76-565E-49C7-9B46-0BA53236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以活跃天数不少于 30 天、总销量不少于 50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件筛出稳定候选 SKU，再构造日需求矩阵。</a:t>
            </a:r>
          </a:p>
        </p:txBody>
      </p:sp>
    </p:spTree>
    <p:extLst>
      <p:ext uri="{BB962C8B-B14F-4D97-AF65-F5344CB8AC3E}">
        <p14:creationId xmlns:p14="http://schemas.microsoft.com/office/powerpoint/2010/main" val="3652027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17223a3a34c9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C3C06-966A-4FA2-804A-7BFF92D0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3805D-6DA0-4997-8424-6637011C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DATA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418A6-B46C-4D2B-8B8A-9BA84FB6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14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268CD-85A1-48B4-8C60-E404D8F9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1F3FC-061B-44AF-AE6B-3D9F3CEE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2FEB6-124D-42DE-83FC-DD1DCACA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描述性统计：需求异质性和订单结构特征都很明显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E197B-F135-4D77-8458-B9F521FB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数据本身已经说明，仅靠简单均值补货或单一 fill rate 指标并不足够。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FD845-2538-4221-8DF3-CF208BC1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B59EC-E3AC-4286-B26F-88FC20CA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78989-296F-43C4-9C90-B36434D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131,706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1E7D6-9FA7-4478-ACB1-31B52648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原始交易行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48F07-2B6E-42A4-A133-5AD4D1EF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scanner_data.csv 中的记录数量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BEECA-7391-4A57-BFC9-44AF7185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3AC66-EA87-433F-A8EE-3F885242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E5426-031F-4D4B-A68B-726B833B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64,682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788CA-C092-467A-A944-38FAC54C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订单数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4E81E-1270-4D81-AEDB-466D7893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原始订单号唯一值数量，覆盖完整年度交易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9AC38-D77A-4AB5-9BBF-E1D9FC6C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8D1EB-CCF4-43C5-85A0-D4624139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C5ABD-3E0F-4473-AA2A-5A9F82D7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2016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1873E-D853-404A-AD56-94A561BB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全年样本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BFC88C-81B1-4777-83B5-DE3895B7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2016-01-02 至 2016-12-31，共 365 天需求轨迹</a:t>
            </a:r>
          </a:p>
        </p:txBody>
      </p:sp>
    </p:spTree>
    <p:extLst>
      <p:ext uri="{BB962C8B-B14F-4D97-AF65-F5344CB8AC3E}">
        <p14:creationId xmlns:p14="http://schemas.microsoft.com/office/powerpoint/2010/main" val="14743677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432956c534a7c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9B451-2DAB-41BD-BD3F-4DB815DA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BFD73-C66F-4822-81B3-D42A8459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F7418-1B78-476A-A8E8-C6229A68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15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CFD56-E1CC-409D-932B-21205AD3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829C2-8E16-4C62-BA2B-FD53EE3D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6E077-F642-4C1B-BB33-B3A70E3D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主结果：多场景下算法表现存在明显差异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10F49-959F-494D-8CC1-72FF56C3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从 rolling-window 汇总结果看，DP-Lagrangian 通常带来更高 LFR，而 Greedy 速度最快。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8FF3C-19FE-4105-908A-E926B4E2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61DA3-9F2B-4A55-BE82-B0C9D9F6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45356-D3BE-4088-A095-C76C2CB6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0.204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FDA5C-EE27-434D-B2C6-2C501A55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最佳 baseline LFR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361F8-147E-49D0-97E2-E240BBBC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baseline 场景下 DP-Lagrangian 的平均 lfr_mean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D6C25-C805-4E3C-A4F9-0C535D3A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88454-53B0-47A2-96CD-B0207324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0F069-7FC6-4CAF-9B20-D0E01102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17.136s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3B5D7-8BDD-48FF-BEB3-7450C4A7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DP 平均耗时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90609-4B21-4A04-A57E-66270D4F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baseline 场景下 DP-Lagrangian 的 time_mean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C1E9C-51D0-4BF3-B1AE-FD0CB32C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08A4A-AE9D-4D0E-9834-747EA4C8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1A7CF-7F46-41D3-A92A-AF5E7A8C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0.0004s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C681A4-AC6A-4C08-80EB-D3EB05B3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Greedy 平均耗时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1B580-D141-4813-96F0-D125D4B8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baseline 场景下 Greedy 的 time_mean，体现极高速度优势</a:t>
            </a:r>
          </a:p>
        </p:txBody>
      </p:sp>
    </p:spTree>
    <p:extLst>
      <p:ext uri="{BB962C8B-B14F-4D97-AF65-F5344CB8AC3E}">
        <p14:creationId xmlns:p14="http://schemas.microsoft.com/office/powerpoint/2010/main" val="7719474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b3164236540e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C6730-B1DE-4A27-AC0F-F3051D53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4358D-5EE8-40F1-8271-042DB1D1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REPLAY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9592A-DCBB-443E-9E80-8A68DB68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16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BAD8A-DBCE-4253-BF29-77FF2D7E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43448-EC3B-4A27-AD8A-4072B618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6082F-3DF2-4927-99C4-D1BE94E3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订单回放评估：聚合指标与真实履约体验并不相同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7416C-53DC-4DBC-BF6A-92884980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将优化方案放回真实订单序列后，可以看到整单逻辑比聚合 line fill rate 更严苛。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9E8F3-41CD-48AD-83E0-40DDDBCC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F6965-2B11-4048-A8D3-384B2885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6C47F-3A58-45E8-83C7-B32D48F1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59108-06D5-43CB-8249-B7DD534E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681EE-1A13-4D04-B6DD-957C0145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D01C4-307D-48D7-B828-98500262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5C612-EC74-4FAE-99BC-885661F4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整单回放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A8666-1E58-4438-9DD1-CBF93BE4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baseline 下表现最好的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dp_nominal，basket_lfr_mean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仅为 0.0416，basket_ofr_mean 为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0.0754。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F84E4-164B-42F1-8216-3CEBF858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4AC21-02EA-495F-9B8C-41E73309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D20D2-90CA-4406-B959-DDAB0797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4D9A7-D367-4F4E-8C8F-0AE43E80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32A1F5-3266-4F2A-A51C-739684C8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44FBB9-6AB4-4FC5-BD8D-931B33C7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1C89F-CBF9-46BC-9E42-B3372A55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部分履约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AE26D-7FA7-4647-994E-3F2044E9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同一方案在 partial replay 下的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basket_lfr_mean 上升到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0.1211，说明履约规则对指标有显著影响。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D8506-CECE-4233-9A4C-8B87A406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B96EE-4102-4F2D-8410-779874C3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D5657C-0917-45F9-B401-078AC67E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3D7A17-3AF9-4811-A5DA-9C0A3C7D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955ADC-DFBA-4DFA-8028-E8945E71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47A551-B615-4599-AD3B-084BF06F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026411-436A-4DF6-AB1D-9F4DBDCE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核心含义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C86C64-34F0-4FAA-BB57-8FECB1F3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若只看聚合 line fill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rate，可能高估真实订单层面的履约能力，尤其在多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SKU 订单环境下更明显。</a:t>
            </a:r>
          </a:p>
        </p:txBody>
      </p:sp>
    </p:spTree>
    <p:extLst>
      <p:ext uri="{BB962C8B-B14F-4D97-AF65-F5344CB8AC3E}">
        <p14:creationId xmlns:p14="http://schemas.microsoft.com/office/powerpoint/2010/main" val="3171135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7bab9202d431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400DD-DCB4-4D4B-B1E5-F72D36B5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B782D-08C6-469D-A34E-65DC1DD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BENCHMARK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94C9D-F0DC-4C58-B15D-80D9215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17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D4349-2249-4C29-BB39-5B86B461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8B38D-14C3-451D-9936-F63740C5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06AC6-A09B-4E38-AA81-A4B22D89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文献基线比较：hybrid_v2 在共同窗口上提供了重要参照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7B989-55D1-4707-9C83-E16930F4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benchmark 比较说明联合优化框架与替代感知基线在不同评估口径下各有侧重。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6501B-9766-458C-A48F-7E8F5517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0FD0E-1BA4-40EE-A0F7-1BEADA9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E188C-B75B-4A65-A1E3-00C3C3F7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3E90A-2AC8-4148-BE57-DFA9E63C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276C1-D783-4BB5-8F65-E259C991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C0D91A-AC27-42C4-8186-DDDC79BC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09FCA-7EF8-4046-ABB7-DF5AD0E7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whole-order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230DA-F71D-46D3-AE37-BE445C89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baseline benchmark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中，hybrid_v2 的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basket_lfr_mean 为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0.0632，basket_ofr_mean 为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0.1071，高于主模型方案。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F640F-7046-433D-A880-1E71E514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59417-53BC-459A-9E49-038BE0EC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AE7D9E-B913-4636-97DB-6FA5A873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D25A3-29C2-4E9E-8CD8-7E1962B4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2BD43-9479-4248-964B-C43F1DEB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A9EC3-B189-451F-8C48-E8C696D9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99232-8D74-401B-8FE6-14ABE4CF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partial-order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75D27-246E-456C-9C9C-74E78685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在 partial benchmark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中，hybrid_v2 的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basket_lfr_mean 为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0.1244，仍略高于 baseline 下的主模型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replay 表现。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F00CCD-60A9-4ADB-AA8A-D5466061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DD11F-0960-4D33-8461-91B818AE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6DF13-8BA0-4D6C-8C08-1593E7A8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16F5D-05E8-465F-AE90-145E8B45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563D00-023D-44F0-9027-D03BA718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08B64E-A41A-48DE-8D60-2857E9A8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BD85D5-CAD7-4FA8-9440-7EC7DD73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解释角度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197415-06D9-4496-ABE7-5BFA3D41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hybrid_v2 显式引入替代感知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sizing，提示前置仓问题中需求替代结构值得进一步深入建模。</a:t>
            </a:r>
          </a:p>
        </p:txBody>
      </p:sp>
    </p:spTree>
    <p:extLst>
      <p:ext uri="{BB962C8B-B14F-4D97-AF65-F5344CB8AC3E}">
        <p14:creationId xmlns:p14="http://schemas.microsoft.com/office/powerpoint/2010/main" val="945734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d986301774fd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672C9-B83F-4E85-9AC0-4D6E4496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0BED3-EB98-4775-9897-A4CC5282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FA5C9-B384-4C48-9BC1-F7266A46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18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93D38-595B-4E23-A315-92E5C2CF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B7B92-B1F8-4A6A-85A9-38619FFA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3602D-7817-4D3A-8D66-723C0D3E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结果讨论：几项关键发现如何理解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F3578-0877-41DA-8F17-3D7C674F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结果不是简单地说明某个算法最好，而是揭示了不同指标和场景下的权衡关系。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54D00-7DD2-438E-B453-A06BE86E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F9D12-D387-4324-819C-0181B7B6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3E9A3-33DA-490D-BA86-37DFF990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发现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2E2FF-8EF8-4CA9-935A-F5E2F4EA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联合优化有效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1E0D5F-BDFC-4446-A844-CDB8BBF1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相比直觉式分开决策，统一建模能系统处理容量与成本约束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688A0-575A-4D5A-A5A6-C93A41C8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2DAE1-5E9F-4EBC-9F08-34D3B245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ABB01-6E24-4B8C-A377-2D368193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发现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07516-89E1-4D64-9103-5E66424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鲁棒性有场景价值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B95F7-B3A3-4D45-9C26-78E6D50B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高波动环境下 robust 思路更强调防错，而不是盲目追求均值最优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479C1-B515-45FC-9637-BCB7F9CE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CDC53-878F-45CD-B9CB-DA640147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20170-4CE5-44F4-AEEF-3EE9368F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发现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D7DAFC-6AF4-4DC3-B0C6-1A37CC5C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回放不可省略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B1C2E-89FA-4E22-BE37-0C1E4E53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真实订单级 replay 揭示了聚合指标无法直接替代的履约差异</a:t>
            </a:r>
          </a:p>
        </p:txBody>
      </p:sp>
    </p:spTree>
    <p:extLst>
      <p:ext uri="{BB962C8B-B14F-4D97-AF65-F5344CB8AC3E}">
        <p14:creationId xmlns:p14="http://schemas.microsoft.com/office/powerpoint/2010/main" val="19371286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1307947cf4a32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EAB3A-603E-45D2-A76E-04339D3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7A620-ACAE-4812-90AF-01DF4DF6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IMPLICATIONS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5CDB5-E97B-4964-8496-2400213C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19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9913C-C05A-4CA1-89D1-A19DB1C0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23B55-6012-4F3E-A924-9670F575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E42C0-2CE4-4699-A897-DFC65E80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管理启示：前置仓优化不能只看 SKU 数量或平均需求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60E10-2B9A-4B42-B156-C9ABB3E0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研究结果可以转化为选品、备货和评估机制上的操作建议。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3BBEE-E3DA-40BD-A577-ACB7BD5C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8D0A22-6D1E-4977-A270-83FA51A1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8000D-C725-45EA-A120-67AF123C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2AA02-7D35-484A-AB33-B7B25B42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16FF44-EBCB-4174-941C-00D065D1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98BC1-3F64-4B99-860E-B2C6717F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701FF-40AB-4B07-AB0A-105B7224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结构优化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B41B24-B033-47D9-A7BC-24A0191B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前置仓不应追求 SKU 越多越好，而应重视容量约束下的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assortment 结构与库存深度配置。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02F56-681D-4C85-8C17-AF653693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772B5-462C-4B00-A898-924F06F7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0F677-8B71-410C-BA96-ED41969F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C5858-4FF6-42C6-AF8A-904DB36A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D2004-F100-4F1A-838D-6CA9E972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BEEB3-17CF-482D-A5A8-D509F650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594B98-B5E9-4F82-9973-CF132D6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稳健备货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B7AC33-229C-451C-8053-9666B27E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高波动 SKU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不宜仅按均值需求配置库存，应考虑更稳健的安全偏移或鲁棒策略。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E82660-24E4-4847-A918-5D5C1EFD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A2501-34D0-4ABB-AA52-C867E297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24F1D1-A394-4748-9132-9FDB2086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6730FE-6D8C-4C25-A4F0-FE4A1AE0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AAB769-DE35-4A36-AF2D-685EE57A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7736A0-F929-4C73-9350-1B6DE28F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F06EA-B29C-41D9-90E5-F2B366C4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评估升级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505F5E-C7A5-4F83-B0DB-5F733CD4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企业评估前置仓方案时不能只看 line fill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rate，还应纳入整单满足率和订单 replay。</a:t>
            </a:r>
          </a:p>
        </p:txBody>
      </p:sp>
    </p:spTree>
    <p:extLst>
      <p:ext uri="{BB962C8B-B14F-4D97-AF65-F5344CB8AC3E}">
        <p14:creationId xmlns:p14="http://schemas.microsoft.com/office/powerpoint/2010/main" val="12288415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E1FAA0-643C-4EE9-87A3-74A03961AC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35dc2bfc24c9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F307F-B182-4340-9B98-DF6316C4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BA8F9-183E-4E9D-9F9D-DCB84432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CLOSING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A13F1-60CF-4E51-AC96-7EC877CC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20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9E9ED-47C9-4687-8A64-C2CCE569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8BA87-B814-4CE0-A937-1CC97759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6DFCF-5E02-45C9-8349-F9D7512E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研究结论、局限与未来工作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0EDAF-1B56-4138-BF3E-A939783E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本文建立了一个可解释、可运行、可回到订单现实检验的前置仓联合优化框架。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DA9D7-EF7E-4C68-B496-4B1FD915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8E39C-BCF4-4068-A46D-16BD76FA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465E1-3B9C-4896-9D31-1F944A65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C9C9B-9444-49C8-8F56-717F7606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100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533E2-B65C-4869-9178-7A07F1A4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3338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1642C-B4BB-4154-9BAC-D3F6FA1D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7BF91-6B15-4B32-98F0-5AFDAC06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研究结论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5C521-EBCE-4B81-9DE7-270F5339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项目完成了从数据处理、联合建模、算法比较到订单回放和</a:t>
            </a:r>
          </a:p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benchmark 的完整闭环。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3D4C3-5335-4A8D-B018-7A09CE9D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68210-4670-419B-9D58-30D4BD92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DB585-5935-480E-8D20-EB9150B4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49605-0BC4-4500-8AC8-76CAC537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2E4D8D-DF92-4B35-A45E-2335312A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C13C12-6380-46CE-9F40-621981CE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3719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204CE-0C4E-4246-833D-DCF373E5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研究局限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F74E8E-EC26-417C-9C38-52DE052D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替代效应仍采用近似构造，部分成本和容量参数依赖代理值，外生变量尚未纳入。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0EB589-6F32-4514-BAE6-EB7D9687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3384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0459C2-652E-44F9-8158-56FB0C68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052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DD3510-B96C-472A-A1DF-4772F621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783F41-DFAC-4625-9827-CD683CE6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2767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884E4-7730-474E-9EB5-39FF4F34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3624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2DF3B1-DB50-4FF6-907B-D896E281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4481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5695EB-0C27-405E-B0D0-B4370F51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1148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未来工作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47352F-3D14-4F00-96CB-942A6408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724400"/>
            <a:ext cx="2927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214"/>
                </a:solidFill>
              </a:defRPr>
            </a:pPr>
            <a:r>
              <a:rPr sz="1050" b="0">
                <a:solidFill>
                  <a:srgbClr val="101214"/>
                </a:solidFill>
              </a:rPr>
              <a:t>可进一步扩展到动态补货、多仓协同、显式消费者替代模型和在线学习决策。</a:t>
            </a:r>
          </a:p>
        </p:txBody>
      </p:sp>
    </p:spTree>
    <p:extLst>
      <p:ext uri="{BB962C8B-B14F-4D97-AF65-F5344CB8AC3E}">
        <p14:creationId xmlns:p14="http://schemas.microsoft.com/office/powerpoint/2010/main" val="1741767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2026-04-18T05:29:01.8230000Z</dcterms:created>
  <dcterms:modified xsi:type="dcterms:W3CDTF">2026-04-18T05:29:01.8230000Z</dcterms:modified>
</coreProperties>
</file>